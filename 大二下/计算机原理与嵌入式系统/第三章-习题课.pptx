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9" r:id="rId5"/>
    <p:sldId id="260" r:id="rId6"/>
    <p:sldId id="261" r:id="rId7"/>
    <p:sldId id="263" r:id="rId8"/>
    <p:sldId id="264" r:id="rId9"/>
    <p:sldId id="280" r:id="rId10"/>
    <p:sldId id="266" r:id="rId11"/>
    <p:sldId id="279" r:id="rId12"/>
    <p:sldId id="278" r:id="rId13"/>
    <p:sldId id="267" r:id="rId14"/>
    <p:sldId id="282" r:id="rId15"/>
    <p:sldId id="268" r:id="rId16"/>
    <p:sldId id="270" r:id="rId17"/>
    <p:sldId id="271" r:id="rId18"/>
    <p:sldId id="275" r:id="rId19"/>
    <p:sldId id="272" r:id="rId20"/>
    <p:sldId id="273" r:id="rId21"/>
    <p:sldId id="274" r:id="rId22"/>
    <p:sldId id="283" r:id="rId23"/>
    <p:sldId id="276" r:id="rId24"/>
    <p:sldId id="284" r:id="rId25"/>
    <p:sldId id="277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1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82B640-7672-4111-8AFF-26B31EEE39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6F90269-DF67-43EC-94DF-D7DB8617A2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B3B9DE-2739-49D4-8785-C7921822F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F6F4F-6123-4EAA-AC1D-5D2684F612D0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CEA4AD-9AE0-4B23-B0F0-6AD1B9BCB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F37A9A-FC00-4527-AF09-AD2C24361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F81FA-09D7-4341-8493-DF32DEB642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9282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7AED21-994D-4540-894A-1B81CDEBB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ED51F9-98F3-49BC-BF13-8F4AD289C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E0C638-6919-467F-9BAA-328146074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F6F4F-6123-4EAA-AC1D-5D2684F612D0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E16CF7-B7A4-4D47-BB03-1F22B4E15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13FA33-2C4C-4154-97DB-738AA6600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F81FA-09D7-4341-8493-DF32DEB642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4469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28B0EA-C529-489B-8286-D4BCA97D0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257E12-0E0B-415C-8D18-BF58BC187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F0E607-2899-409C-9C02-A2A0B7A05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F6F4F-6123-4EAA-AC1D-5D2684F612D0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0407BA-2B8E-409B-89BE-EB977E85A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4C655E-40B8-41B5-877A-60258E7F5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F81FA-09D7-4341-8493-DF32DEB642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6298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4C48F4-2587-444F-9183-40A4798C2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FC61C4-4DB5-4928-B3C2-00612658FE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AE26AA9-0B16-453F-A555-E4EFD65DF9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43F22B3-D7C9-4152-85CE-C07AAAD80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F6F4F-6123-4EAA-AC1D-5D2684F612D0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4931D0-2818-4A4B-94E0-C0AC2F7CF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5847838-98C8-407A-9C37-18654C47A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F81FA-09D7-4341-8493-DF32DEB642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7580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808724-B8A1-426D-B5EA-CF6ADE2F0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0B5036-2935-4C83-B303-E55C634B5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5EB835F-0661-4905-A635-EB4F9A49E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484011B-19DD-4A4F-8D9C-2543C97A7E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35A3AB9-AB8E-43A8-B2AB-8EA2E89071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B6C74AB-02BF-405C-8722-843A9EDEA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F6F4F-6123-4EAA-AC1D-5D2684F612D0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7CC9CCD-9AA1-4200-8845-989F88037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C2BBF0A-1C0F-4047-B406-2F9E61281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F81FA-09D7-4341-8493-DF32DEB642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6849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B7B318-8AB1-4680-85D3-ED97F816F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2B6FFCB-8716-4F1A-8FAD-6DF833D9A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F6F4F-6123-4EAA-AC1D-5D2684F612D0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38B9249-0254-4074-9D44-2EAB9F5A0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B1A4728-139C-4AD6-A53A-69C1C58C8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F81FA-09D7-4341-8493-DF32DEB642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1205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CEFC8FF-F8B5-41E3-817B-B39C72AE4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F6F4F-6123-4EAA-AC1D-5D2684F612D0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AFF7519-D5CA-479B-B8F3-E9327D622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BADF98-040F-42E8-B69C-19690147B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F81FA-09D7-4341-8493-DF32DEB642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6651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F58657-2A6A-48C6-9CB0-DDD28E402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B8D182-B5E0-4713-8D3E-4710F5D3F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4CDCA1D-CF97-442D-80BF-151D6DB48E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C15374F-0A4E-4E44-977E-46E85ACEF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F6F4F-6123-4EAA-AC1D-5D2684F612D0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591423-D5D5-4B30-A69C-ECDF234E9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306468-210C-4A38-AF3C-F384BEE78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F81FA-09D7-4341-8493-DF32DEB642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873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2BCB06-10E9-412C-B25A-175A59F4B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B24A2B9-0018-4E4E-A5D0-4F78D8B33C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1E0646-7F2A-40C6-8C8A-E0FB63345A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AA8BD72-08F3-4BA1-B405-5147D7D0F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F6F4F-6123-4EAA-AC1D-5D2684F612D0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4548B04-A222-4D55-8CBB-3EEB095B6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95B94E-1D33-4EFC-93D0-489722774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F81FA-09D7-4341-8493-DF32DEB642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177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43260D-F93C-4EEA-B1A3-EFB8297EC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F88CB8B-3839-4B06-A4A9-727A772E66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61FB41-E3E5-4F40-9366-A6F29BC2A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F6F4F-6123-4EAA-AC1D-5D2684F612D0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B73719-595A-4CEE-809F-A22D134B7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06406F-D6B8-428D-A541-3C73EDE18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F81FA-09D7-4341-8493-DF32DEB642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081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64503C9-1E57-46B4-BB38-CE2EFDF15A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EE0DAD1-5DE8-4DFE-980D-8D27E99569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2313AF-0365-40C3-862E-DEA331D1D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F6F4F-6123-4EAA-AC1D-5D2684F612D0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BBBA88-C68D-44A8-8A9B-A1642D034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0B2B2F-3889-4053-A2B5-7DF1C3B1C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F81FA-09D7-4341-8493-DF32DEB642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3640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F4CFDCE-2EF4-442C-A3C6-21760C324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366D6F-BDA4-4BC7-A50D-74F592494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77C77D-C096-4F6E-84A0-5488FBC780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3F6F4F-6123-4EAA-AC1D-5D2684F612D0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EBA0A6-322E-4124-BD5A-BB54934F3B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576E79-A63E-42B5-8910-68662C00B9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DF81FA-09D7-4341-8493-DF32DEB642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0010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27E1879-35B0-4C63-A23B-1211D9254D0D}"/>
              </a:ext>
            </a:extLst>
          </p:cNvPr>
          <p:cNvSpPr txBox="1"/>
          <p:nvPr/>
        </p:nvSpPr>
        <p:spPr>
          <a:xfrm>
            <a:off x="3758500" y="2505670"/>
            <a:ext cx="38467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>
                <a:latin typeface="宋体" panose="02010600030101010101" pitchFamily="2" charset="-122"/>
                <a:ea typeface="宋体" panose="02010600030101010101" pitchFamily="2" charset="-122"/>
              </a:rPr>
              <a:t>第三章习题</a:t>
            </a:r>
          </a:p>
        </p:txBody>
      </p:sp>
    </p:spTree>
    <p:extLst>
      <p:ext uri="{BB962C8B-B14F-4D97-AF65-F5344CB8AC3E}">
        <p14:creationId xmlns:p14="http://schemas.microsoft.com/office/powerpoint/2010/main" val="2299619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5DE37FA-F3DC-46AB-A52A-7606411BAFA1}"/>
              </a:ext>
            </a:extLst>
          </p:cNvPr>
          <p:cNvSpPr txBox="1"/>
          <p:nvPr/>
        </p:nvSpPr>
        <p:spPr>
          <a:xfrm>
            <a:off x="863951" y="718908"/>
            <a:ext cx="8607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3.5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什么是主存储器？什么是外存储器？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D502EE3-4026-48C9-973D-78CF82BFC101}"/>
              </a:ext>
            </a:extLst>
          </p:cNvPr>
          <p:cNvSpPr txBox="1"/>
          <p:nvPr/>
        </p:nvSpPr>
        <p:spPr>
          <a:xfrm>
            <a:off x="914400" y="1778350"/>
            <a:ext cx="998903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主存储器：简称内存，是计算机运行过程中的存储主力。主要由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DRAM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ROM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组成。程序的运行都是在内存中进行。存储指令（编译好的代码段），运行中的各个静态，动态，临时变量，外部文件的指针等等。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外存储器：简称辅存，分为联机外存和脱机外存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联机外存：安装在计算机主机箱内，存储需要永久存储的文件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脱机外存：便携式存储器</a:t>
            </a:r>
          </a:p>
        </p:txBody>
      </p:sp>
    </p:spTree>
    <p:extLst>
      <p:ext uri="{BB962C8B-B14F-4D97-AF65-F5344CB8AC3E}">
        <p14:creationId xmlns:p14="http://schemas.microsoft.com/office/powerpoint/2010/main" val="7104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E15BC9A-E901-4DFF-BDE3-7715D6DE9552}"/>
              </a:ext>
            </a:extLst>
          </p:cNvPr>
          <p:cNvSpPr txBox="1"/>
          <p:nvPr/>
        </p:nvSpPr>
        <p:spPr>
          <a:xfrm>
            <a:off x="498191" y="466660"/>
            <a:ext cx="8607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3.6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辅助存储器有哪些常见的接口标准？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2431AB4-E6AC-460E-B736-0619BACEDFF4}"/>
              </a:ext>
            </a:extLst>
          </p:cNvPr>
          <p:cNvSpPr txBox="1"/>
          <p:nvPr/>
        </p:nvSpPr>
        <p:spPr>
          <a:xfrm>
            <a:off x="895482" y="1279128"/>
            <a:ext cx="74728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>
                <a:latin typeface="宋体" panose="02010600030101010101" pitchFamily="2" charset="-122"/>
                <a:ea typeface="宋体" panose="02010600030101010101" pitchFamily="2" charset="-122"/>
              </a:rPr>
              <a:t>IDE</a:t>
            </a:r>
            <a:r>
              <a:rPr lang="zh-CN" altLang="en-US" sz="2200">
                <a:latin typeface="宋体" panose="02010600030101010101" pitchFamily="2" charset="-122"/>
                <a:ea typeface="宋体" panose="02010600030101010101" pitchFamily="2" charset="-122"/>
              </a:rPr>
              <a:t>接口，</a:t>
            </a:r>
            <a:r>
              <a:rPr lang="en-US" altLang="zh-CN" sz="2200">
                <a:latin typeface="宋体" panose="02010600030101010101" pitchFamily="2" charset="-122"/>
                <a:ea typeface="宋体" panose="02010600030101010101" pitchFamily="2" charset="-122"/>
              </a:rPr>
              <a:t>SCSI</a:t>
            </a:r>
            <a:r>
              <a:rPr lang="zh-CN" altLang="en-US" sz="2200">
                <a:latin typeface="宋体" panose="02010600030101010101" pitchFamily="2" charset="-122"/>
                <a:ea typeface="宋体" panose="02010600030101010101" pitchFamily="2" charset="-122"/>
              </a:rPr>
              <a:t>接口，</a:t>
            </a:r>
            <a:r>
              <a:rPr lang="en-US" altLang="zh-CN" sz="2200">
                <a:latin typeface="宋体" panose="02010600030101010101" pitchFamily="2" charset="-122"/>
                <a:ea typeface="宋体" panose="02010600030101010101" pitchFamily="2" charset="-122"/>
              </a:rPr>
              <a:t>SATA</a:t>
            </a:r>
            <a:r>
              <a:rPr lang="zh-CN" altLang="en-US" sz="220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200">
                <a:latin typeface="宋体" panose="02010600030101010101" pitchFamily="2" charset="-122"/>
                <a:ea typeface="宋体" panose="02010600030101010101" pitchFamily="2" charset="-122"/>
              </a:rPr>
              <a:t>SAS</a:t>
            </a:r>
            <a:r>
              <a:rPr lang="zh-CN" altLang="en-US" sz="2200">
                <a:latin typeface="宋体" panose="02010600030101010101" pitchFamily="2" charset="-122"/>
                <a:ea typeface="宋体" panose="02010600030101010101" pitchFamily="2" charset="-122"/>
              </a:rPr>
              <a:t>接口，</a:t>
            </a:r>
            <a:r>
              <a:rPr lang="en-US" altLang="zh-CN" sz="2200">
                <a:latin typeface="宋体" panose="02010600030101010101" pitchFamily="2" charset="-122"/>
                <a:ea typeface="宋体" panose="02010600030101010101" pitchFamily="2" charset="-122"/>
              </a:rPr>
              <a:t>SD</a:t>
            </a:r>
            <a:r>
              <a:rPr lang="zh-CN" altLang="en-US" sz="2200">
                <a:latin typeface="宋体" panose="02010600030101010101" pitchFamily="2" charset="-122"/>
                <a:ea typeface="宋体" panose="02010600030101010101" pitchFamily="2" charset="-122"/>
              </a:rPr>
              <a:t>接口，</a:t>
            </a:r>
            <a:r>
              <a:rPr lang="en-US" altLang="zh-CN" sz="2200">
                <a:latin typeface="宋体" panose="02010600030101010101" pitchFamily="2" charset="-122"/>
                <a:ea typeface="宋体" panose="02010600030101010101" pitchFamily="2" charset="-122"/>
              </a:rPr>
              <a:t>eMMC</a:t>
            </a:r>
            <a:r>
              <a:rPr lang="zh-CN" altLang="en-US" sz="2200">
                <a:latin typeface="宋体" panose="02010600030101010101" pitchFamily="2" charset="-122"/>
                <a:ea typeface="宋体" panose="02010600030101010101" pitchFamily="2" charset="-122"/>
              </a:rPr>
              <a:t>接口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8618BDF-0F02-442C-91E8-3FD9AE7D0FF3}"/>
              </a:ext>
            </a:extLst>
          </p:cNvPr>
          <p:cNvSpPr txBox="1"/>
          <p:nvPr/>
        </p:nvSpPr>
        <p:spPr>
          <a:xfrm>
            <a:off x="498191" y="2692751"/>
            <a:ext cx="110358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3.8 EPROM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EEPROM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Flash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的共同特点是什么？这些存储器具有读写功能，为什么仍然是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ROM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7D21ADC-114A-4E13-8419-72A4196BA0FC}"/>
              </a:ext>
            </a:extLst>
          </p:cNvPr>
          <p:cNvSpPr txBox="1"/>
          <p:nvPr/>
        </p:nvSpPr>
        <p:spPr>
          <a:xfrm>
            <a:off x="895482" y="3953992"/>
            <a:ext cx="88476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共同特点：可重复擦写，非易失性。工作原理均基于对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MOS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管电荷的修改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ROM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仅表示掉电后信息不丢失，只读是相对于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CPU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的读写控制电平及其控制逻辑而言，仍称为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ROM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只是一种习惯</a:t>
            </a:r>
          </a:p>
        </p:txBody>
      </p:sp>
    </p:spTree>
    <p:extLst>
      <p:ext uri="{BB962C8B-B14F-4D97-AF65-F5344CB8AC3E}">
        <p14:creationId xmlns:p14="http://schemas.microsoft.com/office/powerpoint/2010/main" val="2945745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F2E7BCF-E1A7-47D4-A52C-51A1B4900A90}"/>
              </a:ext>
            </a:extLst>
          </p:cNvPr>
          <p:cNvSpPr txBox="1"/>
          <p:nvPr/>
        </p:nvSpPr>
        <p:spPr>
          <a:xfrm>
            <a:off x="750439" y="233005"/>
            <a:ext cx="109980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3.22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某按字节编址的计算机系统，使用了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40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位地址线，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位数据线，请问该计算机存储器空间的最大寻址范围是什么？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E46327F-C86F-4BCD-98A9-E9CC24022F00}"/>
              </a:ext>
            </a:extLst>
          </p:cNvPr>
          <p:cNvSpPr txBox="1"/>
          <p:nvPr/>
        </p:nvSpPr>
        <p:spPr>
          <a:xfrm>
            <a:off x="832420" y="1203359"/>
            <a:ext cx="106259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数据线数目（即数据总线宽度）决定了一次存储器操作可访问操作数（字）的位数，地址线数目（即地址总线宽度）决定了</a:t>
            </a:r>
            <a:r>
              <a:rPr lang="en-US" altLang="zh-CN" sz="200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CPU</a:t>
            </a:r>
            <a:r>
              <a:rPr lang="zh-CN" altLang="en-US" sz="200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的寻址空间大小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1702D14-3098-43A5-AC4F-1B96A03989E6}"/>
                  </a:ext>
                </a:extLst>
              </p:cNvPr>
              <p:cNvSpPr txBox="1"/>
              <p:nvPr/>
            </p:nvSpPr>
            <p:spPr>
              <a:xfrm>
                <a:off x="902782" y="2131719"/>
                <a:ext cx="785122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>
                    <a:latin typeface="宋体" panose="02010600030101010101" pitchFamily="2" charset="-122"/>
                    <a:ea typeface="宋体" panose="02010600030101010101" pitchFamily="2" charset="-122"/>
                  </a:rPr>
                  <a:t>40</a:t>
                </a:r>
                <a:r>
                  <a:rPr lang="zh-CN" altLang="en-US" sz="2400">
                    <a:latin typeface="宋体" panose="02010600030101010101" pitchFamily="2" charset="-122"/>
                    <a:ea typeface="宋体" panose="02010600030101010101" pitchFamily="2" charset="-122"/>
                  </a:rPr>
                  <a:t>位地址线即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40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𝑇𝑖𝐵</m:t>
                    </m:r>
                  </m:oMath>
                </a14:m>
                <a:endParaRPr lang="en-US" altLang="zh-CN" sz="2400" b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1702D14-3098-43A5-AC4F-1B96A03989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782" y="2131719"/>
                <a:ext cx="7851228" cy="461665"/>
              </a:xfrm>
              <a:prstGeom prst="rect">
                <a:avLst/>
              </a:prstGeom>
              <a:blipFill>
                <a:blip r:embed="rId2"/>
                <a:stretch>
                  <a:fillRect l="-1165" t="-14667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75303D0F-8D4B-474D-813C-C49C4C213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782" y="2690747"/>
            <a:ext cx="8096176" cy="288213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6C717B5-4652-4B35-98AD-8D170F22428D}"/>
              </a:ext>
            </a:extLst>
          </p:cNvPr>
          <p:cNvSpPr txBox="1"/>
          <p:nvPr/>
        </p:nvSpPr>
        <p:spPr>
          <a:xfrm>
            <a:off x="832420" y="5864773"/>
            <a:ext cx="96043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书</a:t>
            </a:r>
            <a:r>
              <a:rPr lang="en-US" altLang="zh-CN" sz="200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P98</a:t>
            </a:r>
            <a:r>
              <a:rPr lang="zh-CN" altLang="en-US" sz="200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：例如，</a:t>
            </a:r>
            <a:r>
              <a:rPr lang="en-US" altLang="zh-CN" sz="200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1KB=1000 </a:t>
            </a:r>
            <a:r>
              <a:rPr lang="zh-CN" altLang="en-US" sz="200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字节 </a:t>
            </a:r>
            <a:r>
              <a:rPr lang="en-US" altLang="zh-CN" sz="200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1KiB =1024 </a:t>
            </a:r>
            <a:r>
              <a:rPr lang="zh-CN" altLang="en-US" sz="200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字节。由于历史形成的习惯对</a:t>
            </a:r>
            <a:r>
              <a:rPr lang="en-US" altLang="zh-CN" sz="200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KB</a:t>
            </a:r>
            <a:r>
              <a:rPr lang="zh-CN" altLang="en-US" sz="200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KiB</a:t>
            </a:r>
            <a:r>
              <a:rPr lang="zh-CN" altLang="en-US" sz="200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未严格区分，因此书中使用</a:t>
            </a:r>
            <a:r>
              <a:rPr lang="en-US" altLang="zh-CN" sz="200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KB</a:t>
            </a:r>
            <a:r>
              <a:rPr lang="zh-CN" altLang="en-US" sz="200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替代</a:t>
            </a:r>
            <a:r>
              <a:rPr lang="en-US" altLang="zh-CN" sz="200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KiB</a:t>
            </a:r>
            <a:r>
              <a:rPr lang="zh-CN" altLang="en-US" sz="200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，写</a:t>
            </a:r>
            <a:r>
              <a:rPr lang="en-US" altLang="zh-CN" sz="200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KB</a:t>
            </a:r>
            <a:r>
              <a:rPr lang="zh-CN" altLang="en-US" sz="200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KiB</a:t>
            </a:r>
            <a:r>
              <a:rPr lang="zh-CN" altLang="en-US" sz="200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均对</a:t>
            </a:r>
          </a:p>
        </p:txBody>
      </p:sp>
    </p:spTree>
    <p:extLst>
      <p:ext uri="{BB962C8B-B14F-4D97-AF65-F5344CB8AC3E}">
        <p14:creationId xmlns:p14="http://schemas.microsoft.com/office/powerpoint/2010/main" val="4209569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CD2760D-5AC7-4D10-AE95-EE769EB9D6E7}"/>
              </a:ext>
            </a:extLst>
          </p:cNvPr>
          <p:cNvSpPr txBox="1"/>
          <p:nvPr/>
        </p:nvSpPr>
        <p:spPr>
          <a:xfrm>
            <a:off x="863951" y="718908"/>
            <a:ext cx="86079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>
                <a:latin typeface="宋体" panose="02010600030101010101" pitchFamily="2" charset="-122"/>
                <a:ea typeface="宋体" panose="02010600030101010101" pitchFamily="2" charset="-122"/>
              </a:rPr>
              <a:t>3.24 </a:t>
            </a:r>
            <a:r>
              <a:rPr lang="zh-CN" altLang="en-US" sz="2200">
                <a:latin typeface="宋体" panose="02010600030101010101" pitchFamily="2" charset="-122"/>
                <a:ea typeface="宋体" panose="02010600030101010101" pitchFamily="2" charset="-122"/>
              </a:rPr>
              <a:t>试用</a:t>
            </a:r>
            <a:r>
              <a:rPr lang="en-US" altLang="zh-CN" sz="2200">
                <a:latin typeface="宋体" panose="02010600030101010101" pitchFamily="2" charset="-122"/>
                <a:ea typeface="宋体" panose="02010600030101010101" pitchFamily="2" charset="-122"/>
              </a:rPr>
              <a:t>4K×8</a:t>
            </a:r>
            <a:r>
              <a:rPr lang="zh-CN" altLang="en-US" sz="2200">
                <a:latin typeface="宋体" panose="02010600030101010101" pitchFamily="2" charset="-122"/>
                <a:ea typeface="宋体" panose="02010600030101010101" pitchFamily="2" charset="-122"/>
              </a:rPr>
              <a:t>位的芯片构成</a:t>
            </a:r>
            <a:r>
              <a:rPr lang="en-US" altLang="zh-CN" sz="2200">
                <a:latin typeface="宋体" panose="02010600030101010101" pitchFamily="2" charset="-122"/>
                <a:ea typeface="宋体" panose="02010600030101010101" pitchFamily="2" charset="-122"/>
              </a:rPr>
              <a:t>4K×16</a:t>
            </a:r>
            <a:r>
              <a:rPr lang="zh-CN" altLang="en-US" sz="2200">
                <a:latin typeface="宋体" panose="02010600030101010101" pitchFamily="2" charset="-122"/>
                <a:ea typeface="宋体" panose="02010600030101010101" pitchFamily="2" charset="-122"/>
              </a:rPr>
              <a:t>位的存储器。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1CB2FF4-87DE-47B2-A68A-3ED531A03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248" y="1425204"/>
            <a:ext cx="6914118" cy="480720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C9EE3AF-76D3-477A-8AA1-B49EBB5D8C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9866" y="4324313"/>
            <a:ext cx="95263" cy="47632"/>
          </a:xfrm>
          <a:prstGeom prst="rect">
            <a:avLst/>
          </a:prstGeom>
        </p:spPr>
      </p:pic>
      <p:sp>
        <p:nvSpPr>
          <p:cNvPr id="9" name="流程图: 接点 8">
            <a:extLst>
              <a:ext uri="{FF2B5EF4-FFF2-40B4-BE49-F238E27FC236}">
                <a16:creationId xmlns:a16="http://schemas.microsoft.com/office/drawing/2014/main" id="{162C5DCA-14E1-44F1-975C-444634CFB9D0}"/>
              </a:ext>
            </a:extLst>
          </p:cNvPr>
          <p:cNvSpPr/>
          <p:nvPr/>
        </p:nvSpPr>
        <p:spPr>
          <a:xfrm>
            <a:off x="8177050" y="4307139"/>
            <a:ext cx="75674" cy="81981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0701BE12-5AEE-4E9E-B648-97519404F2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1060" y="4324313"/>
            <a:ext cx="171474" cy="76211"/>
          </a:xfrm>
          <a:prstGeom prst="rect">
            <a:avLst/>
          </a:prstGeom>
        </p:spPr>
      </p:pic>
      <p:sp>
        <p:nvSpPr>
          <p:cNvPr id="8" name="流程图: 接点 7">
            <a:extLst>
              <a:ext uri="{FF2B5EF4-FFF2-40B4-BE49-F238E27FC236}">
                <a16:creationId xmlns:a16="http://schemas.microsoft.com/office/drawing/2014/main" id="{A6E13ECB-674E-4DCF-98BF-7341D2844A23}"/>
              </a:ext>
            </a:extLst>
          </p:cNvPr>
          <p:cNvSpPr/>
          <p:nvPr/>
        </p:nvSpPr>
        <p:spPr>
          <a:xfrm>
            <a:off x="5218786" y="4307138"/>
            <a:ext cx="75674" cy="81981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471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D9E0F1C-26CF-42F7-A580-BBE8FBE5FC0A}"/>
              </a:ext>
            </a:extLst>
          </p:cNvPr>
          <p:cNvSpPr txBox="1"/>
          <p:nvPr/>
        </p:nvSpPr>
        <p:spPr>
          <a:xfrm>
            <a:off x="618010" y="151350"/>
            <a:ext cx="8570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3.27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设计一个用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片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4K×8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位的芯片构成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8K×16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位的存储器。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2C78F88-CB3F-4056-9CA6-7580E46DB0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010" y="733877"/>
            <a:ext cx="8570134" cy="4288417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DBFEAD3-E43F-4B79-BAEC-5DF7121221BE}"/>
              </a:ext>
            </a:extLst>
          </p:cNvPr>
          <p:cNvSpPr/>
          <p:nvPr/>
        </p:nvSpPr>
        <p:spPr>
          <a:xfrm>
            <a:off x="886023" y="582236"/>
            <a:ext cx="4132667" cy="415687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C888857-87B1-4926-BE4C-64A0D74A15A6}"/>
              </a:ext>
            </a:extLst>
          </p:cNvPr>
          <p:cNvSpPr txBox="1"/>
          <p:nvPr/>
        </p:nvSpPr>
        <p:spPr>
          <a:xfrm>
            <a:off x="1908680" y="582235"/>
            <a:ext cx="19738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4K × 16 </a:t>
            </a:r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9310D0F0-84CE-404E-82DF-C48557C54513}"/>
                  </a:ext>
                </a:extLst>
              </p:cNvPr>
              <p:cNvSpPr txBox="1"/>
              <p:nvPr/>
            </p:nvSpPr>
            <p:spPr>
              <a:xfrm>
                <a:off x="420415" y="5260101"/>
                <a:ext cx="9625373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复合扩展：先位扩展，再字扩展</a:t>
                </a:r>
                <a:endParaRPr lang="en-US" altLang="zh-CN" sz="2000">
                  <a:highlight>
                    <a:srgbClr val="FFFF00"/>
                  </a:highlight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r>
                  <a:rPr lang="zh-CN" altLang="en-US" sz="20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先使用两片</a:t>
                </a:r>
                <a:r>
                  <a:rPr lang="en-US" altLang="zh-CN" sz="20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4K×8</a:t>
                </a:r>
                <a:r>
                  <a:rPr lang="zh-CN" altLang="en-US" sz="20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位扩展成</a:t>
                </a:r>
                <a:r>
                  <a:rPr lang="en-US" altLang="zh-CN" sz="20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4K×16</a:t>
                </a:r>
                <a:r>
                  <a:rPr lang="zh-CN" altLang="en-US" sz="20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位，再使用两片</a:t>
                </a:r>
                <a:r>
                  <a:rPr lang="en-US" altLang="zh-CN" sz="20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4K×16</a:t>
                </a:r>
                <a:r>
                  <a:rPr lang="zh-CN" altLang="en-US" sz="20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位扩展成</a:t>
                </a:r>
                <a:r>
                  <a:rPr lang="en-US" altLang="zh-CN" sz="20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8K×16</a:t>
                </a:r>
                <a:r>
                  <a:rPr lang="zh-CN" altLang="en-US" sz="20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位</a:t>
                </a:r>
                <a:endParaRPr lang="en-US" altLang="zh-CN" sz="2000">
                  <a:highlight>
                    <a:srgbClr val="FFFF00"/>
                  </a:highlight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r>
                  <a:rPr lang="en-US" altLang="zh-CN" sz="20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8K=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e>
                      <m:sup>
                        <m:r>
                          <a:rPr lang="en-US" altLang="zh-CN" sz="20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13</m:t>
                        </m:r>
                      </m:sup>
                    </m:sSup>
                    <m:r>
                      <a:rPr lang="zh-CN" altLang="en-US" sz="2000" i="1"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，</m:t>
                    </m:r>
                  </m:oMath>
                </a14:m>
                <a:r>
                  <a:rPr lang="en-US" altLang="zh-CN" sz="20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 4K=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e>
                      <m:sup>
                        <m:r>
                          <a:rPr lang="en-US" altLang="zh-CN" sz="20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  <m:r>
                          <a:rPr lang="en-US" altLang="zh-CN" sz="20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0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，多了一条字线，这一条字线要产生两种控制信号，需要</a:t>
                </a:r>
                <a:r>
                  <a:rPr lang="en-US" altLang="zh-CN" sz="20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1-2</a:t>
                </a:r>
                <a:r>
                  <a:rPr lang="zh-CN" altLang="en-US" sz="20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译码器，即非门</a:t>
                </a:r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9310D0F0-84CE-404E-82DF-C48557C545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415" y="5260101"/>
                <a:ext cx="9625373" cy="1323439"/>
              </a:xfrm>
              <a:prstGeom prst="rect">
                <a:avLst/>
              </a:prstGeom>
              <a:blipFill>
                <a:blip r:embed="rId3"/>
                <a:stretch>
                  <a:fillRect l="-697" t="-2765" r="-3230" b="-73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FC5E099C-D79D-4962-AD9D-9C9AD0A0D8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6723" y="4844087"/>
            <a:ext cx="2615114" cy="87740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C04EC69B-8873-418B-BC36-925A25F61A4B}"/>
              </a:ext>
            </a:extLst>
          </p:cNvPr>
          <p:cNvSpPr txBox="1"/>
          <p:nvPr/>
        </p:nvSpPr>
        <p:spPr>
          <a:xfrm>
            <a:off x="9598571" y="4359597"/>
            <a:ext cx="1857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1-2</a:t>
            </a:r>
            <a:r>
              <a:rPr lang="zh-CN" altLang="en-US" sz="240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译码器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3C3506C-CAC2-4D23-A69C-1ECBFB1B76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2803" y="3100808"/>
            <a:ext cx="219106" cy="76211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41155F5-EFDB-4A23-998A-A245A735C0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2776" y="3100808"/>
            <a:ext cx="219106" cy="7621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9161945C-7606-4BAF-B7F1-31E120300B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7881" y="3138913"/>
            <a:ext cx="219106" cy="76211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1C74D1EC-09CB-4BA1-8D50-A39CC6204A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625" y="3138912"/>
            <a:ext cx="219106" cy="76211"/>
          </a:xfrm>
          <a:prstGeom prst="rect">
            <a:avLst/>
          </a:prstGeom>
        </p:spPr>
      </p:pic>
      <p:sp>
        <p:nvSpPr>
          <p:cNvPr id="19" name="流程图: 接点 18">
            <a:extLst>
              <a:ext uri="{FF2B5EF4-FFF2-40B4-BE49-F238E27FC236}">
                <a16:creationId xmlns:a16="http://schemas.microsoft.com/office/drawing/2014/main" id="{2B5404A0-5FB4-4082-9858-B171D195EF3F}"/>
              </a:ext>
            </a:extLst>
          </p:cNvPr>
          <p:cNvSpPr/>
          <p:nvPr/>
        </p:nvSpPr>
        <p:spPr>
          <a:xfrm>
            <a:off x="2842803" y="3100808"/>
            <a:ext cx="75674" cy="81981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流程图: 接点 19">
            <a:extLst>
              <a:ext uri="{FF2B5EF4-FFF2-40B4-BE49-F238E27FC236}">
                <a16:creationId xmlns:a16="http://schemas.microsoft.com/office/drawing/2014/main" id="{CFE6CB73-7C06-4370-B1D2-2E1FBB5C0E65}"/>
              </a:ext>
            </a:extLst>
          </p:cNvPr>
          <p:cNvSpPr/>
          <p:nvPr/>
        </p:nvSpPr>
        <p:spPr>
          <a:xfrm>
            <a:off x="4659831" y="3095036"/>
            <a:ext cx="75674" cy="81981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流程图: 接点 20">
            <a:extLst>
              <a:ext uri="{FF2B5EF4-FFF2-40B4-BE49-F238E27FC236}">
                <a16:creationId xmlns:a16="http://schemas.microsoft.com/office/drawing/2014/main" id="{38FB2644-22BF-49A5-A45A-E0F18FA64136}"/>
              </a:ext>
            </a:extLst>
          </p:cNvPr>
          <p:cNvSpPr/>
          <p:nvPr/>
        </p:nvSpPr>
        <p:spPr>
          <a:xfrm>
            <a:off x="6941313" y="3133142"/>
            <a:ext cx="75674" cy="81981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流程图: 接点 21">
            <a:extLst>
              <a:ext uri="{FF2B5EF4-FFF2-40B4-BE49-F238E27FC236}">
                <a16:creationId xmlns:a16="http://schemas.microsoft.com/office/drawing/2014/main" id="{29D0CAF3-1C65-4433-9F34-8DD2E58F265A}"/>
              </a:ext>
            </a:extLst>
          </p:cNvPr>
          <p:cNvSpPr/>
          <p:nvPr/>
        </p:nvSpPr>
        <p:spPr>
          <a:xfrm>
            <a:off x="8830057" y="3141798"/>
            <a:ext cx="75674" cy="81981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911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FA39E9F-CF9C-4FC7-88AE-6DAC45AD99E2}"/>
              </a:ext>
            </a:extLst>
          </p:cNvPr>
          <p:cNvSpPr txBox="1"/>
          <p:nvPr/>
        </p:nvSpPr>
        <p:spPr>
          <a:xfrm>
            <a:off x="863951" y="718908"/>
            <a:ext cx="8607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3.10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从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DDR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到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DDR5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有哪些改进？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DB67BF9-69F1-4DBD-BBCB-EAB3E087E9BA}"/>
              </a:ext>
            </a:extLst>
          </p:cNvPr>
          <p:cNvSpPr txBox="1"/>
          <p:nvPr/>
        </p:nvSpPr>
        <p:spPr>
          <a:xfrm>
            <a:off x="1198178" y="1305384"/>
            <a:ext cx="26612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书</a:t>
            </a:r>
            <a:r>
              <a:rPr lang="en-US" altLang="zh-CN" sz="200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P125-127 </a:t>
            </a:r>
            <a:r>
              <a:rPr lang="zh-CN" altLang="en-US" sz="200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合理即可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EDCD42A-B6A4-4801-8CC5-89B343F60498}"/>
              </a:ext>
            </a:extLst>
          </p:cNvPr>
          <p:cNvSpPr txBox="1"/>
          <p:nvPr/>
        </p:nvSpPr>
        <p:spPr>
          <a:xfrm>
            <a:off x="1135117" y="1861082"/>
            <a:ext cx="974939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采用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Bank Group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结构，使用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个或者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个可选择的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8bit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预取的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Bank Group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分组，每个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Bank Group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可独立读写数据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AutoNum type="arabicPeriod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点到点传输，每个通道只连接一根内存条，消除共享传输带来的性能瓶颈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AutoNum type="arabicPeriod"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3D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堆叠，在散热允许的条件下，采用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3D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堆叠封装技术提升容量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AutoNum type="arabicPeriod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功耗降低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AutoNum type="arabicPeriod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支持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ECC</a:t>
            </a:r>
          </a:p>
          <a:p>
            <a:pPr marL="342900" indent="-342900">
              <a:buAutoNum type="arabicPeriod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采用改进的命令总线，进一步提高传输效率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等等</a:t>
            </a:r>
          </a:p>
        </p:txBody>
      </p:sp>
    </p:spTree>
    <p:extLst>
      <p:ext uri="{BB962C8B-B14F-4D97-AF65-F5344CB8AC3E}">
        <p14:creationId xmlns:p14="http://schemas.microsoft.com/office/powerpoint/2010/main" val="3236434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68A0075-2240-4A4C-A892-4421D2167C0D}"/>
              </a:ext>
            </a:extLst>
          </p:cNvPr>
          <p:cNvSpPr txBox="1"/>
          <p:nvPr/>
        </p:nvSpPr>
        <p:spPr>
          <a:xfrm>
            <a:off x="863951" y="718908"/>
            <a:ext cx="8607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3.18 Cache line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应该含有那些</a:t>
            </a:r>
            <a:r>
              <a:rPr lang="zh-CN" altLang="en-US" sz="240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基本信息项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6088C04-64DF-4D95-A7F0-5D3C3EE53735}"/>
              </a:ext>
            </a:extLst>
          </p:cNvPr>
          <p:cNvSpPr txBox="1"/>
          <p:nvPr/>
        </p:nvSpPr>
        <p:spPr>
          <a:xfrm>
            <a:off x="1072055" y="1431508"/>
            <a:ext cx="878454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基本信息项：数据字段，标记字段，有效位字段</a:t>
            </a:r>
            <a:endParaRPr lang="en-US" altLang="zh-CN" sz="2000">
              <a:highlight>
                <a:srgbClr val="FFFF00"/>
              </a:highlight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此外，依据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更新与替换策略不同，还可包含一致性控制位字段，替换控制位字段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D5BA38C-590E-4B14-9999-720482A32097}"/>
              </a:ext>
            </a:extLst>
          </p:cNvPr>
          <p:cNvSpPr txBox="1"/>
          <p:nvPr/>
        </p:nvSpPr>
        <p:spPr>
          <a:xfrm>
            <a:off x="863951" y="3596493"/>
            <a:ext cx="8607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3.19 Cache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常用的替换策略有哪些？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AF9BA8C-6BB5-4C10-8123-C88A3E41FFFE}"/>
              </a:ext>
            </a:extLst>
          </p:cNvPr>
          <p:cNvSpPr txBox="1"/>
          <p:nvPr/>
        </p:nvSpPr>
        <p:spPr>
          <a:xfrm>
            <a:off x="1008992" y="4289271"/>
            <a:ext cx="87845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最不经常使用（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LFU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）替换策略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随机（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Random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）替换策略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先进先出（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FIFO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）替换策略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近期最少使用（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LRU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）替换策略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16169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3955A1E-4AA2-473B-9411-08400D88E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861" y="492729"/>
            <a:ext cx="10464738" cy="5733804"/>
          </a:xfrm>
          <a:prstGeom prst="rect">
            <a:avLst/>
          </a:prstGeom>
        </p:spPr>
      </p:pic>
      <p:sp>
        <p:nvSpPr>
          <p:cNvPr id="4" name="左大括号 3">
            <a:extLst>
              <a:ext uri="{FF2B5EF4-FFF2-40B4-BE49-F238E27FC236}">
                <a16:creationId xmlns:a16="http://schemas.microsoft.com/office/drawing/2014/main" id="{FAF8AF99-84E0-4A1C-AAF9-4A14DC0AD1E1}"/>
              </a:ext>
            </a:extLst>
          </p:cNvPr>
          <p:cNvSpPr/>
          <p:nvPr/>
        </p:nvSpPr>
        <p:spPr>
          <a:xfrm rot="5400000">
            <a:off x="3017519" y="1521231"/>
            <a:ext cx="365760" cy="1847719"/>
          </a:xfrm>
          <a:prstGeom prst="leftBrace">
            <a:avLst>
              <a:gd name="adj1" fmla="val 8333"/>
              <a:gd name="adj2" fmla="val 51024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FA466F4-FD93-4DEA-B4DB-68853E0C5C54}"/>
              </a:ext>
            </a:extLst>
          </p:cNvPr>
          <p:cNvSpPr txBox="1"/>
          <p:nvPr/>
        </p:nvSpPr>
        <p:spPr>
          <a:xfrm>
            <a:off x="2755811" y="1829816"/>
            <a:ext cx="1273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标记位</a:t>
            </a:r>
          </a:p>
        </p:txBody>
      </p:sp>
      <p:sp>
        <p:nvSpPr>
          <p:cNvPr id="6" name="左大括号 5">
            <a:extLst>
              <a:ext uri="{FF2B5EF4-FFF2-40B4-BE49-F238E27FC236}">
                <a16:creationId xmlns:a16="http://schemas.microsoft.com/office/drawing/2014/main" id="{581AE6FB-EEDD-43B2-8093-1F075D6BD742}"/>
              </a:ext>
            </a:extLst>
          </p:cNvPr>
          <p:cNvSpPr/>
          <p:nvPr/>
        </p:nvSpPr>
        <p:spPr>
          <a:xfrm rot="5400000">
            <a:off x="5682418" y="1857387"/>
            <a:ext cx="365760" cy="1199232"/>
          </a:xfrm>
          <a:prstGeom prst="leftBrace">
            <a:avLst>
              <a:gd name="adj1" fmla="val 8333"/>
              <a:gd name="adj2" fmla="val 47869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59A045E-0F4F-4E5B-9E20-EFFF4FE830D1}"/>
              </a:ext>
            </a:extLst>
          </p:cNvPr>
          <p:cNvSpPr txBox="1"/>
          <p:nvPr/>
        </p:nvSpPr>
        <p:spPr>
          <a:xfrm>
            <a:off x="5459073" y="1829816"/>
            <a:ext cx="1273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标记位</a:t>
            </a:r>
          </a:p>
        </p:txBody>
      </p:sp>
      <p:sp>
        <p:nvSpPr>
          <p:cNvPr id="8" name="左大括号 7">
            <a:extLst>
              <a:ext uri="{FF2B5EF4-FFF2-40B4-BE49-F238E27FC236}">
                <a16:creationId xmlns:a16="http://schemas.microsoft.com/office/drawing/2014/main" id="{90339186-0BB6-42DF-B785-1156E1BECAD2}"/>
              </a:ext>
            </a:extLst>
          </p:cNvPr>
          <p:cNvSpPr/>
          <p:nvPr/>
        </p:nvSpPr>
        <p:spPr>
          <a:xfrm rot="5400000">
            <a:off x="9052672" y="1845474"/>
            <a:ext cx="365760" cy="1199232"/>
          </a:xfrm>
          <a:prstGeom prst="leftBrace">
            <a:avLst>
              <a:gd name="adj1" fmla="val 8333"/>
              <a:gd name="adj2" fmla="val 47869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624AD17-95A5-4C9C-88C0-DF1078ED4220}"/>
              </a:ext>
            </a:extLst>
          </p:cNvPr>
          <p:cNvSpPr txBox="1"/>
          <p:nvPr/>
        </p:nvSpPr>
        <p:spPr>
          <a:xfrm>
            <a:off x="8733046" y="1829816"/>
            <a:ext cx="1273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标记位</a:t>
            </a:r>
          </a:p>
        </p:txBody>
      </p:sp>
    </p:spTree>
    <p:extLst>
      <p:ext uri="{BB962C8B-B14F-4D97-AF65-F5344CB8AC3E}">
        <p14:creationId xmlns:p14="http://schemas.microsoft.com/office/powerpoint/2010/main" val="39157839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D5AB9BE-7C14-4AA3-B3D8-411D599FB03F}"/>
              </a:ext>
            </a:extLst>
          </p:cNvPr>
          <p:cNvSpPr txBox="1"/>
          <p:nvPr/>
        </p:nvSpPr>
        <p:spPr>
          <a:xfrm>
            <a:off x="214412" y="220717"/>
            <a:ext cx="118935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3.20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某计算机按字节编址，其主存容量为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1MB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容量为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16KB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和主存之间交换的块大小为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64B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，采用直接相联映射方式。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38A6E6F-4ACB-4A19-839A-44F7860F20BE}"/>
                  </a:ext>
                </a:extLst>
              </p:cNvPr>
              <p:cNvSpPr txBox="1"/>
              <p:nvPr/>
            </p:nvSpPr>
            <p:spPr>
              <a:xfrm>
                <a:off x="290086" y="1321917"/>
                <a:ext cx="8562252" cy="9783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（</a:t>
                </a:r>
                <a:r>
                  <a:rPr kumimoji="0" lang="en-US" altLang="zh-CN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1</a:t>
                </a:r>
                <a:r>
                  <a: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）</a:t>
                </a:r>
                <a:r>
                  <a:rPr kumimoji="0" lang="en-US" altLang="zh-CN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Cache</a:t>
                </a:r>
                <a:r>
                  <a: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共有多少个字块（</a:t>
                </a:r>
                <a:r>
                  <a:rPr kumimoji="0" lang="en-US" altLang="zh-CN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Cache line</a:t>
                </a:r>
                <a:r>
                  <a: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）？</a:t>
                </a:r>
                <a:endPara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</a:rPr>
                            <m:t>16</m:t>
                          </m:r>
                          <m:r>
                            <m:rPr>
                              <m:sty m:val="p"/>
                            </m:rPr>
                            <a:rPr lang="en-US" altLang="zh-CN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KB</m:t>
                          </m:r>
                        </m:num>
                        <m:den>
                          <m:r>
                            <a:rPr lang="en-US" altLang="zh-CN" sz="20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64</m:t>
                          </m:r>
                          <m:r>
                            <a:rPr lang="en-US" altLang="zh-CN" sz="20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𝐵</m:t>
                          </m:r>
                        </m:den>
                      </m:f>
                      <m:r>
                        <a:rPr lang="en-US" altLang="zh-CN" sz="2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16</m:t>
                          </m:r>
                          <m:r>
                            <a:rPr lang="en-US" altLang="zh-CN" sz="20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𝐾</m:t>
                          </m:r>
                        </m:num>
                        <m:den>
                          <m:r>
                            <a:rPr lang="en-US" altLang="zh-CN" sz="20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64</m:t>
                          </m:r>
                        </m:den>
                      </m:f>
                      <m:r>
                        <a:rPr lang="en-US" altLang="zh-CN" sz="2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</m:e>
                        <m:sup>
                          <m:r>
                            <a:rPr lang="en-US" altLang="zh-CN" sz="20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14−6</m:t>
                          </m:r>
                        </m:sup>
                      </m:sSup>
                      <m:r>
                        <a:rPr lang="en-US" altLang="zh-CN" sz="2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</m:e>
                        <m:sup>
                          <m:r>
                            <a:rPr lang="en-US" altLang="zh-CN" sz="20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8</m:t>
                          </m:r>
                        </m:sup>
                      </m:sSup>
                      <m:r>
                        <a:rPr lang="en-US" altLang="zh-CN" sz="2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=256</m:t>
                      </m:r>
                    </m:oMath>
                  </m:oMathPara>
                </a14:m>
                <a:endPara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38A6E6F-4ACB-4A19-839A-44F7860F2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086" y="1321917"/>
                <a:ext cx="8562252" cy="978345"/>
              </a:xfrm>
              <a:prstGeom prst="rect">
                <a:avLst/>
              </a:prstGeom>
              <a:blipFill>
                <a:blip r:embed="rId2"/>
                <a:stretch>
                  <a:fillRect l="-783" t="-37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图片 11">
            <a:extLst>
              <a:ext uri="{FF2B5EF4-FFF2-40B4-BE49-F238E27FC236}">
                <a16:creationId xmlns:a16="http://schemas.microsoft.com/office/drawing/2014/main" id="{1ECCA4A3-E6E1-43A7-8427-7A8CB270EA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531" y="2502675"/>
            <a:ext cx="3754422" cy="418190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3316F7F-0C83-41EE-BD96-8A6FA7DF78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0676" y="3232293"/>
            <a:ext cx="4550068" cy="3156273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62B4B76-12B5-4568-A0A1-068089EF9B88}"/>
              </a:ext>
            </a:extLst>
          </p:cNvPr>
          <p:cNvSpPr txBox="1"/>
          <p:nvPr/>
        </p:nvSpPr>
        <p:spPr>
          <a:xfrm>
            <a:off x="5089108" y="2720571"/>
            <a:ext cx="64626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地址为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C+W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中第几块，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W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为块内地址</a:t>
            </a:r>
          </a:p>
        </p:txBody>
      </p:sp>
    </p:spTree>
    <p:extLst>
      <p:ext uri="{BB962C8B-B14F-4D97-AF65-F5344CB8AC3E}">
        <p14:creationId xmlns:p14="http://schemas.microsoft.com/office/powerpoint/2010/main" val="1886199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D5AB9BE-7C14-4AA3-B3D8-411D599FB03F}"/>
              </a:ext>
            </a:extLst>
          </p:cNvPr>
          <p:cNvSpPr txBox="1"/>
          <p:nvPr/>
        </p:nvSpPr>
        <p:spPr>
          <a:xfrm>
            <a:off x="214412" y="220717"/>
            <a:ext cx="118935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>
                <a:latin typeface="宋体" panose="02010600030101010101" pitchFamily="2" charset="-122"/>
                <a:ea typeface="宋体" panose="02010600030101010101" pitchFamily="2" charset="-122"/>
              </a:rPr>
              <a:t>3.20 </a:t>
            </a:r>
            <a:r>
              <a:rPr lang="zh-CN" altLang="en-US" sz="2200">
                <a:latin typeface="宋体" panose="02010600030101010101" pitchFamily="2" charset="-122"/>
                <a:ea typeface="宋体" panose="02010600030101010101" pitchFamily="2" charset="-122"/>
              </a:rPr>
              <a:t>某计算机按字节编址，其主存容量为</a:t>
            </a:r>
            <a:r>
              <a:rPr lang="en-US" altLang="zh-CN" sz="2200">
                <a:latin typeface="宋体" panose="02010600030101010101" pitchFamily="2" charset="-122"/>
                <a:ea typeface="宋体" panose="02010600030101010101" pitchFamily="2" charset="-122"/>
              </a:rPr>
              <a:t>1MB</a:t>
            </a:r>
            <a:r>
              <a:rPr lang="zh-CN" altLang="en-US" sz="220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20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200">
                <a:latin typeface="宋体" panose="02010600030101010101" pitchFamily="2" charset="-122"/>
                <a:ea typeface="宋体" panose="02010600030101010101" pitchFamily="2" charset="-122"/>
              </a:rPr>
              <a:t>容量为</a:t>
            </a:r>
            <a:r>
              <a:rPr lang="en-US" altLang="zh-CN" sz="2200">
                <a:latin typeface="宋体" panose="02010600030101010101" pitchFamily="2" charset="-122"/>
                <a:ea typeface="宋体" panose="02010600030101010101" pitchFamily="2" charset="-122"/>
              </a:rPr>
              <a:t>16KB</a:t>
            </a:r>
            <a:r>
              <a:rPr lang="zh-CN" altLang="en-US" sz="220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20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200">
                <a:latin typeface="宋体" panose="02010600030101010101" pitchFamily="2" charset="-122"/>
                <a:ea typeface="宋体" panose="02010600030101010101" pitchFamily="2" charset="-122"/>
              </a:rPr>
              <a:t>和主存之间交换的块大小为</a:t>
            </a:r>
            <a:r>
              <a:rPr lang="en-US" altLang="zh-CN" sz="2200">
                <a:latin typeface="宋体" panose="02010600030101010101" pitchFamily="2" charset="-122"/>
                <a:ea typeface="宋体" panose="02010600030101010101" pitchFamily="2" charset="-122"/>
              </a:rPr>
              <a:t>64B</a:t>
            </a:r>
            <a:r>
              <a:rPr lang="zh-CN" altLang="en-US" sz="2200">
                <a:latin typeface="宋体" panose="02010600030101010101" pitchFamily="2" charset="-122"/>
                <a:ea typeface="宋体" panose="02010600030101010101" pitchFamily="2" charset="-122"/>
              </a:rPr>
              <a:t>，采用直接相联映射方式。</a:t>
            </a:r>
            <a:endParaRPr lang="en-US" altLang="zh-CN" sz="2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38A6E6F-4ACB-4A19-839A-44F7860F20BE}"/>
              </a:ext>
            </a:extLst>
          </p:cNvPr>
          <p:cNvSpPr txBox="1"/>
          <p:nvPr/>
        </p:nvSpPr>
        <p:spPr>
          <a:xfrm>
            <a:off x="214412" y="1075975"/>
            <a:ext cx="856225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）主存地址为</a:t>
            </a:r>
            <a:r>
              <a: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02021H</a:t>
            </a:r>
            <a:r>
              <a:rPr kumimoji="0" lang="zh-CN" alt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的单元装入</a:t>
            </a:r>
            <a:r>
              <a: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Cache</a:t>
            </a:r>
            <a:r>
              <a:rPr kumimoji="0" lang="zh-CN" alt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后对应的</a:t>
            </a:r>
            <a:r>
              <a: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Cache</a:t>
            </a:r>
            <a:r>
              <a:rPr kumimoji="0" lang="zh-CN" alt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地址是？</a:t>
            </a:r>
            <a:endParaRPr kumimoji="0" lang="en-US" altLang="zh-CN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03EC335-4412-4E9E-98E5-FE1E9656C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611" y="1592679"/>
            <a:ext cx="4550068" cy="315627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45E6811-7574-4E8B-8234-4348F3637343}"/>
                  </a:ext>
                </a:extLst>
              </p:cNvPr>
              <p:cNvSpPr txBox="1"/>
              <p:nvPr/>
            </p:nvSpPr>
            <p:spPr>
              <a:xfrm>
                <a:off x="5290908" y="1743937"/>
                <a:ext cx="6722416" cy="34354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Cache </a:t>
                </a:r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块大小</a:t>
                </a:r>
                <a:r>
                  <a:rPr lang="en-US" altLang="zh-CN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64B=</a:t>
                </a:r>
                <a:r>
                  <a:rPr lang="en-US" altLang="zh-CN" sz="2000" b="0">
                    <a:latin typeface="宋体" panose="02010600030101010101" pitchFamily="2" charset="-122"/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B</a:t>
                </a:r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，即</a:t>
                </a:r>
                <a:r>
                  <a:rPr lang="en-US" altLang="zh-CN" sz="20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W=6</a:t>
                </a:r>
              </a:p>
              <a:p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由（</a:t>
                </a:r>
                <a:r>
                  <a:rPr lang="en-US" altLang="zh-CN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）已知，</a:t>
                </a:r>
                <a:r>
                  <a:rPr lang="en-US" altLang="zh-CN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Cache</a:t>
                </a:r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一共有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zh-CN" altLang="en-US" sz="2000" i="1">
                        <a:latin typeface="Cambria Math" panose="02040503050406030204" pitchFamily="18" charset="0"/>
                      </a:rPr>
                      <m:t>块</m:t>
                    </m:r>
                  </m:oMath>
                </a14:m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，即</a:t>
                </a:r>
                <a:r>
                  <a:rPr lang="en-US" altLang="zh-CN" sz="20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C=8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𝑀𝐵</m:t>
                        </m:r>
                      </m:num>
                      <m:den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𝐾𝐵</m:t>
                        </m:r>
                      </m:den>
                    </m:f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20−6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</m:oMath>
                </a14:m>
                <a:r>
                  <a:rPr lang="en-US" altLang="zh-CN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,</a:t>
                </a:r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因此</a:t>
                </a:r>
                <a:r>
                  <a:rPr lang="en-US" altLang="zh-CN" sz="20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M=14</a:t>
                </a:r>
              </a:p>
              <a:p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主存按照</a:t>
                </a:r>
                <a:r>
                  <a:rPr lang="en-US" altLang="zh-CN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Cache</a:t>
                </a:r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分页因此一共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</a:rPr>
                          <m:t>MB</m:t>
                        </m:r>
                      </m:num>
                      <m:den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</a:rPr>
                          <m:t>KB</m:t>
                        </m:r>
                      </m:den>
                    </m:f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20−14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000" b="0">
                    <a:latin typeface="宋体" panose="02010600030101010101" pitchFamily="2" charset="-122"/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zh-CN" altLang="en-US" sz="20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即</a:t>
                </a:r>
                <a:r>
                  <a:rPr lang="en-US" altLang="zh-CN" sz="20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T=6</a:t>
                </a:r>
                <a:endParaRPr lang="en-US" altLang="zh-CN" sz="20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主存地址为</a:t>
                </a:r>
                <a:r>
                  <a:rPr lang="en-US" altLang="zh-CN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02021H</a:t>
                </a:r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，</a:t>
                </a:r>
                <a:r>
                  <a:rPr lang="en-US" altLang="zh-CN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进制即</a:t>
                </a:r>
                <a:endParaRPr lang="en-US" altLang="zh-CN" sz="20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r>
                  <a:rPr lang="en-US" altLang="zh-CN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0000  0010  0000  0010  0001</a:t>
                </a:r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，按照</a:t>
                </a:r>
                <a:r>
                  <a:rPr lang="en-US" altLang="zh-CN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TCW</a:t>
                </a:r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分开，其中</a:t>
                </a:r>
                <a:r>
                  <a:rPr lang="en-US" altLang="zh-CN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T</a:t>
                </a:r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为标记位，</a:t>
                </a:r>
                <a:r>
                  <a:rPr lang="en-US" altLang="zh-CN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C</a:t>
                </a:r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，</a:t>
                </a:r>
                <a:r>
                  <a:rPr lang="en-US" altLang="zh-CN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W</a:t>
                </a:r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为</a:t>
                </a:r>
                <a:r>
                  <a:rPr lang="en-US" altLang="zh-CN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Cache</a:t>
                </a:r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地址，</a:t>
                </a:r>
                <a:r>
                  <a:rPr lang="en-US" altLang="zh-CN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C</a:t>
                </a:r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为第几块，</a:t>
                </a:r>
                <a:r>
                  <a:rPr lang="en-US" altLang="zh-CN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W</a:t>
                </a:r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为块内地址</a:t>
                </a:r>
                <a:endParaRPr lang="en-US" altLang="zh-CN" sz="20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r>
                  <a:rPr lang="en-US" altLang="zh-CN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0000 00  |  </a:t>
                </a:r>
                <a:r>
                  <a:rPr lang="en-US" altLang="zh-CN" sz="20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10 0000 00  |  10 0001 </a:t>
                </a:r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。</a:t>
                </a:r>
                <a:endParaRPr lang="en-US" altLang="zh-CN" sz="20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r>
                  <a:rPr lang="en-US" altLang="zh-CN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 6</a:t>
                </a:r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位              </a:t>
                </a:r>
                <a:r>
                  <a:rPr lang="en-US" altLang="zh-CN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8</a:t>
                </a:r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位        </a:t>
                </a:r>
                <a:r>
                  <a:rPr lang="en-US" altLang="zh-CN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6</a:t>
                </a:r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位</a:t>
                </a:r>
                <a:endParaRPr lang="en-US" altLang="zh-CN" sz="20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因此</a:t>
                </a:r>
                <a:r>
                  <a:rPr lang="en-US" altLang="zh-CN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Cache</a:t>
                </a:r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地址位</a:t>
                </a:r>
                <a:r>
                  <a:rPr lang="en-US" altLang="zh-CN" sz="20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10 0000 0010  0001</a:t>
                </a:r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，</a:t>
                </a:r>
                <a:r>
                  <a:rPr lang="en-US" altLang="zh-CN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16</a:t>
                </a:r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进制位</a:t>
                </a:r>
                <a:r>
                  <a:rPr lang="en-US" altLang="zh-CN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2021H</a:t>
                </a: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45E6811-7574-4E8B-8234-4348F3637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0908" y="1743937"/>
                <a:ext cx="6722416" cy="3435492"/>
              </a:xfrm>
              <a:prstGeom prst="rect">
                <a:avLst/>
              </a:prstGeom>
              <a:blipFill>
                <a:blip r:embed="rId3"/>
                <a:stretch>
                  <a:fillRect l="-997" t="-1241" b="-21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76ED1AD-5E27-4297-8614-E3F18E23138F}"/>
                  </a:ext>
                </a:extLst>
              </p:cNvPr>
              <p:cNvSpPr txBox="1"/>
              <p:nvPr/>
            </p:nvSpPr>
            <p:spPr>
              <a:xfrm>
                <a:off x="454047" y="4944066"/>
                <a:ext cx="4565694" cy="16396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直接相联映射是将主存按照</a:t>
                </a:r>
                <a:r>
                  <a:rPr lang="en-US" altLang="zh-CN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Cache</a:t>
                </a:r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大小分页，页内分块，每页大小与</a:t>
                </a:r>
                <a:r>
                  <a:rPr lang="en-US" altLang="zh-CN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Cache</a:t>
                </a:r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相同。假设主存大小为</a:t>
                </a:r>
                <a:r>
                  <a:rPr lang="en-US" altLang="zh-CN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Cache</a:t>
                </a:r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的整数倍，</a:t>
                </a:r>
                <a:r>
                  <a:rPr lang="en-US" altLang="zh-CN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Cache</a:t>
                </a:r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容量为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</a:rPr>
                          <m:t>C</m:t>
                        </m:r>
                      </m:sup>
                    </m:sSup>
                  </m:oMath>
                </a14:m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块，主存容量为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p>
                  </m:oMath>
                </a14:m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块，则主存一共有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页即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  <m:r>
                      <a:rPr lang="zh-CN" altLang="en-US" sz="2000" i="1">
                        <a:latin typeface="Cambria Math" panose="02040503050406030204" pitchFamily="18" charset="0"/>
                      </a:rPr>
                      <m:t>页</m:t>
                    </m:r>
                  </m:oMath>
                </a14:m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。</a:t>
                </a:r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76ED1AD-5E27-4297-8614-E3F18E2313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047" y="4944066"/>
                <a:ext cx="4565694" cy="1639616"/>
              </a:xfrm>
              <a:prstGeom prst="rect">
                <a:avLst/>
              </a:prstGeom>
              <a:blipFill>
                <a:blip r:embed="rId4"/>
                <a:stretch>
                  <a:fillRect l="-1335" t="-1859" b="-48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73052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D5AB9BE-7C14-4AA3-B3D8-411D599FB03F}"/>
              </a:ext>
            </a:extLst>
          </p:cNvPr>
          <p:cNvSpPr txBox="1"/>
          <p:nvPr/>
        </p:nvSpPr>
        <p:spPr>
          <a:xfrm>
            <a:off x="214412" y="220717"/>
            <a:ext cx="118935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>
                <a:latin typeface="宋体" panose="02010600030101010101" pitchFamily="2" charset="-122"/>
                <a:ea typeface="宋体" panose="02010600030101010101" pitchFamily="2" charset="-122"/>
              </a:rPr>
              <a:t>3.20 </a:t>
            </a:r>
            <a:r>
              <a:rPr lang="zh-CN" altLang="en-US" sz="2200">
                <a:latin typeface="宋体" panose="02010600030101010101" pitchFamily="2" charset="-122"/>
                <a:ea typeface="宋体" panose="02010600030101010101" pitchFamily="2" charset="-122"/>
              </a:rPr>
              <a:t>某计算机按字节编址，其主存容量为</a:t>
            </a:r>
            <a:r>
              <a:rPr lang="en-US" altLang="zh-CN" sz="2200">
                <a:latin typeface="宋体" panose="02010600030101010101" pitchFamily="2" charset="-122"/>
                <a:ea typeface="宋体" panose="02010600030101010101" pitchFamily="2" charset="-122"/>
              </a:rPr>
              <a:t>1MB</a:t>
            </a:r>
            <a:r>
              <a:rPr lang="zh-CN" altLang="en-US" sz="220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20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200">
                <a:latin typeface="宋体" panose="02010600030101010101" pitchFamily="2" charset="-122"/>
                <a:ea typeface="宋体" panose="02010600030101010101" pitchFamily="2" charset="-122"/>
              </a:rPr>
              <a:t>容量为</a:t>
            </a:r>
            <a:r>
              <a:rPr lang="en-US" altLang="zh-CN" sz="2200">
                <a:latin typeface="宋体" panose="02010600030101010101" pitchFamily="2" charset="-122"/>
                <a:ea typeface="宋体" panose="02010600030101010101" pitchFamily="2" charset="-122"/>
              </a:rPr>
              <a:t>16KB</a:t>
            </a:r>
            <a:r>
              <a:rPr lang="zh-CN" altLang="en-US" sz="220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20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200">
                <a:latin typeface="宋体" panose="02010600030101010101" pitchFamily="2" charset="-122"/>
                <a:ea typeface="宋体" panose="02010600030101010101" pitchFamily="2" charset="-122"/>
              </a:rPr>
              <a:t>和主存之间交换的块大小为</a:t>
            </a:r>
            <a:r>
              <a:rPr lang="en-US" altLang="zh-CN" sz="2200">
                <a:latin typeface="宋体" panose="02010600030101010101" pitchFamily="2" charset="-122"/>
                <a:ea typeface="宋体" panose="02010600030101010101" pitchFamily="2" charset="-122"/>
              </a:rPr>
              <a:t>64B</a:t>
            </a:r>
            <a:r>
              <a:rPr lang="zh-CN" altLang="en-US" sz="2200">
                <a:latin typeface="宋体" panose="02010600030101010101" pitchFamily="2" charset="-122"/>
                <a:ea typeface="宋体" panose="02010600030101010101" pitchFamily="2" charset="-122"/>
              </a:rPr>
              <a:t>，采用直接相联映射方式。</a:t>
            </a:r>
            <a:endParaRPr lang="en-US" altLang="zh-CN" sz="2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38A6E6F-4ACB-4A19-839A-44F7860F20BE}"/>
              </a:ext>
            </a:extLst>
          </p:cNvPr>
          <p:cNvSpPr txBox="1"/>
          <p:nvPr/>
        </p:nvSpPr>
        <p:spPr>
          <a:xfrm>
            <a:off x="290085" y="1321917"/>
            <a:ext cx="905571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）主存地址为</a:t>
            </a:r>
            <a:r>
              <a: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02021H</a:t>
            </a:r>
            <a:r>
              <a:rPr kumimoji="0" lang="zh-CN" alt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的单元装入</a:t>
            </a:r>
            <a:r>
              <a: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Cache</a:t>
            </a:r>
            <a:r>
              <a:rPr kumimoji="0" lang="zh-CN" alt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后存放在</a:t>
            </a:r>
            <a:r>
              <a: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Cache</a:t>
            </a:r>
            <a:r>
              <a:rPr kumimoji="0" lang="zh-CN" alt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中的第几字块中（</a:t>
            </a:r>
            <a:r>
              <a: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Cache</a:t>
            </a:r>
            <a:r>
              <a:rPr kumimoji="0" lang="zh-CN" alt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起始字块为第</a:t>
            </a:r>
            <a:r>
              <a: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0</a:t>
            </a:r>
            <a:r>
              <a:rPr kumimoji="0" lang="zh-CN" alt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字块）？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FC5066F-89CD-47A8-8132-83239AA60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085" y="2465684"/>
            <a:ext cx="4550068" cy="315627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8BD802C-DE99-45D9-8AC3-F762148A6D4C}"/>
                  </a:ext>
                </a:extLst>
              </p:cNvPr>
              <p:cNvSpPr txBox="1"/>
              <p:nvPr/>
            </p:nvSpPr>
            <p:spPr>
              <a:xfrm>
                <a:off x="5027624" y="1951672"/>
                <a:ext cx="6094948" cy="23751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>
                    <a:latin typeface="宋体" panose="02010600030101010101" pitchFamily="2" charset="-122"/>
                    <a:ea typeface="宋体" panose="02010600030101010101" pitchFamily="2" charset="-122"/>
                  </a:rPr>
                  <a:t>0000  0010  0000  0010  0001</a:t>
                </a:r>
                <a:r>
                  <a:rPr lang="zh-CN" altLang="en-US">
                    <a:latin typeface="宋体" panose="02010600030101010101" pitchFamily="2" charset="-122"/>
                    <a:ea typeface="宋体" panose="02010600030101010101" pitchFamily="2" charset="-122"/>
                  </a:rPr>
                  <a:t>，按照</a:t>
                </a:r>
                <a:r>
                  <a:rPr lang="en-US" altLang="zh-CN">
                    <a:latin typeface="宋体" panose="02010600030101010101" pitchFamily="2" charset="-122"/>
                    <a:ea typeface="宋体" panose="02010600030101010101" pitchFamily="2" charset="-122"/>
                  </a:rPr>
                  <a:t>TCW</a:t>
                </a:r>
                <a:r>
                  <a:rPr lang="zh-CN" altLang="en-US">
                    <a:latin typeface="宋体" panose="02010600030101010101" pitchFamily="2" charset="-122"/>
                    <a:ea typeface="宋体" panose="02010600030101010101" pitchFamily="2" charset="-122"/>
                  </a:rPr>
                  <a:t>分开，其中</a:t>
                </a:r>
                <a:r>
                  <a:rPr lang="en-US" altLang="zh-CN">
                    <a:latin typeface="宋体" panose="02010600030101010101" pitchFamily="2" charset="-122"/>
                    <a:ea typeface="宋体" panose="02010600030101010101" pitchFamily="2" charset="-122"/>
                  </a:rPr>
                  <a:t>T</a:t>
                </a:r>
                <a:r>
                  <a:rPr lang="zh-CN" altLang="en-US">
                    <a:latin typeface="宋体" panose="02010600030101010101" pitchFamily="2" charset="-122"/>
                    <a:ea typeface="宋体" panose="02010600030101010101" pitchFamily="2" charset="-122"/>
                  </a:rPr>
                  <a:t>为标记位，</a:t>
                </a:r>
                <a:r>
                  <a:rPr lang="en-US" altLang="zh-CN">
                    <a:latin typeface="宋体" panose="02010600030101010101" pitchFamily="2" charset="-122"/>
                    <a:ea typeface="宋体" panose="02010600030101010101" pitchFamily="2" charset="-122"/>
                  </a:rPr>
                  <a:t>C</a:t>
                </a:r>
                <a:r>
                  <a:rPr lang="zh-CN" altLang="en-US">
                    <a:latin typeface="宋体" panose="02010600030101010101" pitchFamily="2" charset="-122"/>
                    <a:ea typeface="宋体" panose="02010600030101010101" pitchFamily="2" charset="-122"/>
                  </a:rPr>
                  <a:t>，</a:t>
                </a:r>
                <a:r>
                  <a:rPr lang="en-US" altLang="zh-CN">
                    <a:latin typeface="宋体" panose="02010600030101010101" pitchFamily="2" charset="-122"/>
                    <a:ea typeface="宋体" panose="02010600030101010101" pitchFamily="2" charset="-122"/>
                  </a:rPr>
                  <a:t>W</a:t>
                </a:r>
                <a:r>
                  <a:rPr lang="zh-CN" altLang="en-US">
                    <a:latin typeface="宋体" panose="02010600030101010101" pitchFamily="2" charset="-122"/>
                    <a:ea typeface="宋体" panose="02010600030101010101" pitchFamily="2" charset="-122"/>
                  </a:rPr>
                  <a:t>为</a:t>
                </a:r>
                <a:r>
                  <a:rPr lang="en-US" altLang="zh-CN">
                    <a:latin typeface="宋体" panose="02010600030101010101" pitchFamily="2" charset="-122"/>
                    <a:ea typeface="宋体" panose="02010600030101010101" pitchFamily="2" charset="-122"/>
                  </a:rPr>
                  <a:t>Cache</a:t>
                </a:r>
                <a:r>
                  <a:rPr lang="zh-CN" altLang="en-US">
                    <a:latin typeface="宋体" panose="02010600030101010101" pitchFamily="2" charset="-122"/>
                    <a:ea typeface="宋体" panose="02010600030101010101" pitchFamily="2" charset="-122"/>
                  </a:rPr>
                  <a:t>地址</a:t>
                </a:r>
                <a:endParaRPr lang="en-US" altLang="zh-CN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r>
                  <a:rPr lang="en-US" altLang="zh-CN">
                    <a:latin typeface="宋体" panose="02010600030101010101" pitchFamily="2" charset="-122"/>
                    <a:ea typeface="宋体" panose="02010600030101010101" pitchFamily="2" charset="-122"/>
                  </a:rPr>
                  <a:t>0000 00  |  10 0000 00  |  10 0001 </a:t>
                </a:r>
                <a:r>
                  <a:rPr lang="zh-CN" altLang="en-US">
                    <a:latin typeface="宋体" panose="02010600030101010101" pitchFamily="2" charset="-122"/>
                    <a:ea typeface="宋体" panose="02010600030101010101" pitchFamily="2" charset="-122"/>
                  </a:rPr>
                  <a:t>。</a:t>
                </a:r>
                <a:endParaRPr lang="en-US" altLang="zh-CN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r>
                  <a:rPr lang="en-US" altLang="zh-CN">
                    <a:latin typeface="宋体" panose="02010600030101010101" pitchFamily="2" charset="-122"/>
                    <a:ea typeface="宋体" panose="02010600030101010101" pitchFamily="2" charset="-122"/>
                  </a:rPr>
                  <a:t>      6</a:t>
                </a:r>
                <a:r>
                  <a:rPr lang="zh-CN" altLang="en-US">
                    <a:latin typeface="宋体" panose="02010600030101010101" pitchFamily="2" charset="-122"/>
                    <a:ea typeface="宋体" panose="02010600030101010101" pitchFamily="2" charset="-122"/>
                  </a:rPr>
                  <a:t>位       </a:t>
                </a:r>
                <a:r>
                  <a:rPr lang="en-US" altLang="zh-CN">
                    <a:latin typeface="宋体" panose="02010600030101010101" pitchFamily="2" charset="-122"/>
                    <a:ea typeface="宋体" panose="02010600030101010101" pitchFamily="2" charset="-122"/>
                  </a:rPr>
                  <a:t>8</a:t>
                </a:r>
                <a:r>
                  <a:rPr lang="zh-CN" altLang="en-US">
                    <a:latin typeface="宋体" panose="02010600030101010101" pitchFamily="2" charset="-122"/>
                    <a:ea typeface="宋体" panose="02010600030101010101" pitchFamily="2" charset="-122"/>
                  </a:rPr>
                  <a:t>位           </a:t>
                </a:r>
                <a:r>
                  <a:rPr lang="en-US" altLang="zh-CN">
                    <a:latin typeface="宋体" panose="02010600030101010101" pitchFamily="2" charset="-122"/>
                    <a:ea typeface="宋体" panose="02010600030101010101" pitchFamily="2" charset="-122"/>
                  </a:rPr>
                  <a:t>6</a:t>
                </a:r>
                <a:r>
                  <a:rPr lang="zh-CN" altLang="en-US">
                    <a:latin typeface="宋体" panose="02010600030101010101" pitchFamily="2" charset="-122"/>
                    <a:ea typeface="宋体" panose="02010600030101010101" pitchFamily="2" charset="-122"/>
                  </a:rPr>
                  <a:t>位</a:t>
                </a:r>
                <a:endParaRPr lang="en-US" altLang="zh-CN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r>
                  <a:rPr lang="zh-CN" altLang="en-US">
                    <a:latin typeface="宋体" panose="02010600030101010101" pitchFamily="2" charset="-122"/>
                    <a:ea typeface="宋体" panose="02010600030101010101" pitchFamily="2" charset="-122"/>
                  </a:rPr>
                  <a:t>因此</a:t>
                </a:r>
                <a:r>
                  <a:rPr lang="en-US" altLang="zh-CN">
                    <a:latin typeface="宋体" panose="02010600030101010101" pitchFamily="2" charset="-122"/>
                    <a:ea typeface="宋体" panose="02010600030101010101" pitchFamily="2" charset="-122"/>
                  </a:rPr>
                  <a:t>Cache</a:t>
                </a:r>
                <a:r>
                  <a:rPr lang="zh-CN" altLang="en-US">
                    <a:latin typeface="宋体" panose="02010600030101010101" pitchFamily="2" charset="-122"/>
                    <a:ea typeface="宋体" panose="02010600030101010101" pitchFamily="2" charset="-122"/>
                  </a:rPr>
                  <a:t>地址为</a:t>
                </a:r>
                <a:endParaRPr lang="en-US" altLang="zh-CN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r>
                  <a:rPr lang="en-US" altLang="zh-CN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10 0000 00  </a:t>
                </a:r>
                <a:r>
                  <a:rPr lang="en-US" altLang="zh-CN">
                    <a:latin typeface="宋体" panose="02010600030101010101" pitchFamily="2" charset="-122"/>
                    <a:ea typeface="宋体" panose="02010600030101010101" pitchFamily="2" charset="-122"/>
                  </a:rPr>
                  <a:t>|  10  0001</a:t>
                </a:r>
              </a:p>
              <a:p>
                <a:r>
                  <a:rPr lang="en-US" altLang="zh-CN">
                    <a:latin typeface="宋体" panose="02010600030101010101" pitchFamily="2" charset="-122"/>
                    <a:ea typeface="宋体" panose="02010600030101010101" pitchFamily="2" charset="-122"/>
                  </a:rPr>
                  <a:t>         C         W</a:t>
                </a:r>
              </a:p>
              <a:p>
                <a:r>
                  <a:rPr lang="zh-CN" altLang="en-US">
                    <a:latin typeface="宋体" panose="02010600030101010101" pitchFamily="2" charset="-122"/>
                    <a:ea typeface="宋体" panose="02010600030101010101" pitchFamily="2" charset="-122"/>
                  </a:rPr>
                  <a:t>因此在第</a:t>
                </a:r>
                <a:r>
                  <a:rPr lang="en-US" altLang="zh-CN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10 0000 00</a:t>
                </a:r>
                <a:r>
                  <a:rPr lang="en-US" altLang="zh-CN">
                    <a:latin typeface="宋体" panose="02010600030101010101" pitchFamily="2" charset="-122"/>
                    <a:ea typeface="宋体" panose="02010600030101010101" pitchFamily="2" charset="-122"/>
                  </a:rPr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lang="en-US" altLang="zh-CN">
                    <a:latin typeface="宋体" panose="02010600030101010101" pitchFamily="2" charset="-122"/>
                    <a:ea typeface="宋体" panose="02010600030101010101" pitchFamily="2" charset="-122"/>
                  </a:rPr>
                  <a:t>=128</a:t>
                </a:r>
                <a:r>
                  <a:rPr lang="zh-CN" altLang="en-US">
                    <a:latin typeface="宋体" panose="02010600030101010101" pitchFamily="2" charset="-122"/>
                    <a:ea typeface="宋体" panose="02010600030101010101" pitchFamily="2" charset="-122"/>
                  </a:rPr>
                  <a:t>块中</a:t>
                </a:r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8BD802C-DE99-45D9-8AC3-F762148A6D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7624" y="1951672"/>
                <a:ext cx="6094948" cy="2375137"/>
              </a:xfrm>
              <a:prstGeom prst="rect">
                <a:avLst/>
              </a:prstGeom>
              <a:blipFill>
                <a:blip r:embed="rId3"/>
                <a:stretch>
                  <a:fillRect l="-900" t="-12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4487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6E90C35-03E8-4B11-8075-1761BE376A00}"/>
              </a:ext>
            </a:extLst>
          </p:cNvPr>
          <p:cNvSpPr txBox="1"/>
          <p:nvPr/>
        </p:nvSpPr>
        <p:spPr>
          <a:xfrm>
            <a:off x="390985" y="428696"/>
            <a:ext cx="1109892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3.21 	</a:t>
            </a:r>
            <a:r>
              <a:rPr lang="zh-CN" altLang="zh-CN" sz="22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某计算机按字节编址，其主存容量为</a:t>
            </a:r>
            <a:r>
              <a:rPr lang="en-US" altLang="zh-CN" sz="22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1MB</a:t>
            </a:r>
            <a:r>
              <a:rPr lang="zh-CN" altLang="zh-CN" sz="22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2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zh-CN" sz="22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容量为</a:t>
            </a:r>
            <a:r>
              <a:rPr lang="en-US" altLang="zh-CN" sz="22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16KB</a:t>
            </a:r>
            <a:r>
              <a:rPr lang="zh-CN" altLang="zh-CN" sz="22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2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zh-CN" sz="22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和主存之间交换的块大小为</a:t>
            </a:r>
            <a:r>
              <a:rPr lang="en-US" altLang="zh-CN" sz="22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64B</a:t>
            </a:r>
            <a:r>
              <a:rPr lang="zh-CN" altLang="zh-CN" sz="22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，采用</a:t>
            </a:r>
            <a:r>
              <a:rPr lang="en-US" altLang="zh-CN" sz="22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zh-CN" sz="22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路组相联映射方式。</a:t>
            </a:r>
            <a:endParaRPr lang="zh-CN" altLang="zh-CN" sz="22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B5332C9-91B3-4296-84BB-57DEC431ADEE}"/>
              </a:ext>
            </a:extLst>
          </p:cNvPr>
          <p:cNvSpPr txBox="1"/>
          <p:nvPr/>
        </p:nvSpPr>
        <p:spPr>
          <a:xfrm>
            <a:off x="460352" y="1310853"/>
            <a:ext cx="8316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）主存地址中页号</a:t>
            </a:r>
            <a:r>
              <a:rPr lang="en-US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、页内块号</a:t>
            </a:r>
            <a:r>
              <a:rPr lang="en-US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zh-CN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、块内地址</a:t>
            </a:r>
            <a:r>
              <a:rPr lang="en-US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zh-CN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各占多少位？</a:t>
            </a:r>
            <a:endParaRPr lang="zh-CN" altLang="zh-CN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BF65E910-030D-4630-BC6D-D69729948A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393" y="1705383"/>
            <a:ext cx="6590481" cy="129143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82D2FA1-305A-4D86-92F0-F611AA650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5179" y="1471907"/>
            <a:ext cx="3652396" cy="94205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A6484045-EC7D-4856-B177-2970B1020794}"/>
                  </a:ext>
                </a:extLst>
              </p:cNvPr>
              <p:cNvSpPr txBox="1"/>
              <p:nvPr/>
            </p:nvSpPr>
            <p:spPr>
              <a:xfrm>
                <a:off x="851338" y="3544821"/>
                <a:ext cx="6760254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</a:rPr>
                          <m:t>v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=8⇒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由上一题知，</a:t>
                </a:r>
                <a:r>
                  <a:rPr lang="en-US" altLang="zh-CN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M=14</a:t>
                </a:r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，</a:t>
                </a:r>
                <a:r>
                  <a:rPr lang="en-US" altLang="zh-CN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C=8</a:t>
                </a:r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，</a:t>
                </a:r>
                <a:r>
                  <a:rPr lang="en-US" altLang="zh-CN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W=6</a:t>
                </a:r>
              </a:p>
              <a:p>
                <a:endParaRPr lang="en-US" altLang="zh-CN" sz="20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 ,  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altLang="zh-CN" sz="2000" b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 ,  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14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altLang="zh-CN" sz="2000" b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CN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altLang="zh-CN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=9,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altLang="zh-CN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=3, 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en-US" altLang="zh-CN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US" altLang="zh-CN" sz="2000" b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A6484045-EC7D-4856-B177-2970B1020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338" y="3544821"/>
                <a:ext cx="6760254" cy="1631216"/>
              </a:xfrm>
              <a:prstGeom prst="rect">
                <a:avLst/>
              </a:prstGeom>
              <a:blipFill>
                <a:blip r:embed="rId4"/>
                <a:stretch>
                  <a:fillRect t="-26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矩形 15">
            <a:extLst>
              <a:ext uri="{FF2B5EF4-FFF2-40B4-BE49-F238E27FC236}">
                <a16:creationId xmlns:a16="http://schemas.microsoft.com/office/drawing/2014/main" id="{1C6049DA-CD42-43F9-88B8-5A947782A609}"/>
              </a:ext>
            </a:extLst>
          </p:cNvPr>
          <p:cNvSpPr/>
          <p:nvPr/>
        </p:nvSpPr>
        <p:spPr>
          <a:xfrm>
            <a:off x="744132" y="2701332"/>
            <a:ext cx="5244662" cy="32068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07181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6E90C35-03E8-4B11-8075-1761BE376A00}"/>
              </a:ext>
            </a:extLst>
          </p:cNvPr>
          <p:cNvSpPr txBox="1"/>
          <p:nvPr/>
        </p:nvSpPr>
        <p:spPr>
          <a:xfrm>
            <a:off x="390985" y="428696"/>
            <a:ext cx="1109892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3.21 	</a:t>
            </a:r>
            <a:r>
              <a:rPr lang="zh-CN" altLang="zh-CN" sz="22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某计算机按字节编址，其主存容量为</a:t>
            </a:r>
            <a:r>
              <a:rPr lang="en-US" altLang="zh-CN" sz="22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1MB</a:t>
            </a:r>
            <a:r>
              <a:rPr lang="zh-CN" altLang="zh-CN" sz="22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2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zh-CN" sz="22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容量为</a:t>
            </a:r>
            <a:r>
              <a:rPr lang="en-US" altLang="zh-CN" sz="22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16KB</a:t>
            </a:r>
            <a:r>
              <a:rPr lang="zh-CN" altLang="zh-CN" sz="22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2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zh-CN" sz="22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和主存之间交换的块大小为</a:t>
            </a:r>
            <a:r>
              <a:rPr lang="en-US" altLang="zh-CN" sz="22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64B</a:t>
            </a:r>
            <a:r>
              <a:rPr lang="zh-CN" altLang="zh-CN" sz="22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，采用</a:t>
            </a:r>
            <a:r>
              <a:rPr lang="en-US" altLang="zh-CN" sz="22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zh-CN" sz="22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路组相联映射方式。</a:t>
            </a:r>
            <a:endParaRPr lang="zh-CN" altLang="zh-CN" sz="22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ABC87AA-7F98-4AC6-A309-B851CD0675FB}"/>
              </a:ext>
            </a:extLst>
          </p:cNvPr>
          <p:cNvSpPr txBox="1"/>
          <p:nvPr/>
        </p:nvSpPr>
        <p:spPr>
          <a:xfrm>
            <a:off x="390984" y="1310852"/>
            <a:ext cx="107773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）主存地址为</a:t>
            </a:r>
            <a:r>
              <a:rPr lang="en-US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02021H</a:t>
            </a:r>
            <a:r>
              <a:rPr lang="zh-CN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的单元装入</a:t>
            </a:r>
            <a:r>
              <a:rPr lang="en-US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后存放在</a:t>
            </a:r>
            <a:r>
              <a:rPr lang="en-US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中的第几组（起始组为第</a:t>
            </a:r>
            <a:r>
              <a:rPr lang="en-US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组）？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233A885-32AD-4321-BE1E-C9D9FE553F70}"/>
                  </a:ext>
                </a:extLst>
              </p:cNvPr>
              <p:cNvSpPr txBox="1"/>
              <p:nvPr/>
            </p:nvSpPr>
            <p:spPr>
              <a:xfrm>
                <a:off x="636927" y="1943027"/>
                <a:ext cx="5360275" cy="22467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altLang="zh-CN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=5</m:t>
                    </m:r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altLang="zh-CN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altLang="zh-CN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=9,</m:t>
                    </m:r>
                    <m:r>
                      <m:rPr>
                        <m:sty m:val="p"/>
                      </m:rPr>
                      <a:rPr lang="en-US" altLang="zh-CN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altLang="zh-CN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=3, </m:t>
                    </m:r>
                    <m:r>
                      <m:rPr>
                        <m:sty m:val="p"/>
                      </m:rPr>
                      <a:rPr lang="en-US" altLang="zh-CN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altLang="zh-CN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en-US" altLang="zh-CN" sz="2000" b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.</a:t>
                </a:r>
                <a:endParaRPr lang="en-US" altLang="zh-CN" sz="20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主存地址为</a:t>
                </a:r>
                <a:r>
                  <a:rPr lang="en-US" altLang="zh-CN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02021H</a:t>
                </a:r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，</a:t>
                </a:r>
                <a:r>
                  <a:rPr lang="en-US" altLang="zh-CN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进制即</a:t>
                </a:r>
                <a:endParaRPr lang="en-US" altLang="zh-CN" sz="20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r>
                  <a:rPr lang="en-US" altLang="zh-CN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0000  0010  0000  0010  0001</a:t>
                </a:r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，按照</a:t>
                </a:r>
                <a:r>
                  <a:rPr lang="en-US" altLang="zh-CN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s u W</a:t>
                </a:r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分开</a:t>
                </a:r>
                <a:endParaRPr lang="en-US" altLang="zh-CN" sz="20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r>
                  <a:rPr lang="en-US" altLang="zh-CN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0000 0010 0  |  </a:t>
                </a:r>
                <a:r>
                  <a:rPr lang="en-US" altLang="zh-CN" sz="20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000 00  </a:t>
                </a:r>
                <a:r>
                  <a:rPr lang="en-US" altLang="zh-CN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|  10 0001 </a:t>
                </a:r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。</a:t>
                </a:r>
                <a:endParaRPr lang="en-US" altLang="zh-CN" sz="20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r>
                  <a:rPr lang="en-US" altLang="zh-CN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    s=9</a:t>
                </a:r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位        </a:t>
                </a:r>
                <a:r>
                  <a:rPr lang="en-US" altLang="zh-CN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u=5</a:t>
                </a:r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位       </a:t>
                </a:r>
                <a:r>
                  <a:rPr lang="en-US" altLang="zh-CN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W=6</a:t>
                </a:r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位</a:t>
                </a:r>
                <a:endParaRPr lang="en-US" altLang="zh-CN" sz="20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因此</a:t>
                </a:r>
                <a:r>
                  <a:rPr lang="en-US" altLang="zh-CN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u=0 0000</a:t>
                </a:r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，因此在第</a:t>
                </a:r>
                <a:r>
                  <a:rPr lang="en-US" altLang="zh-CN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  <a:r>
                  <a:rPr lang="zh-CN" altLang="en-US" sz="2000">
                    <a:latin typeface="宋体" panose="02010600030101010101" pitchFamily="2" charset="-122"/>
                    <a:ea typeface="宋体" panose="02010600030101010101" pitchFamily="2" charset="-122"/>
                  </a:rPr>
                  <a:t>组</a:t>
                </a:r>
                <a:endParaRPr lang="en-US" altLang="zh-CN" sz="20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233A885-32AD-4321-BE1E-C9D9FE553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927" y="1943027"/>
                <a:ext cx="5360275" cy="2246769"/>
              </a:xfrm>
              <a:prstGeom prst="rect">
                <a:avLst/>
              </a:prstGeom>
              <a:blipFill>
                <a:blip r:embed="rId2"/>
                <a:stretch>
                  <a:fillRect l="-1136" t="-2174" b="-40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ECE48C99-3F9F-49E4-B148-0EBC0252BD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92899"/>
            <a:ext cx="6039902" cy="396907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FD3E273-A362-44B8-919B-FF9778C6FF76}"/>
              </a:ext>
            </a:extLst>
          </p:cNvPr>
          <p:cNvSpPr txBox="1"/>
          <p:nvPr/>
        </p:nvSpPr>
        <p:spPr>
          <a:xfrm>
            <a:off x="390985" y="4725933"/>
            <a:ext cx="51017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Cache line</a:t>
            </a:r>
            <a:r>
              <a:rPr lang="zh-CN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对应的</a:t>
            </a:r>
            <a:r>
              <a:rPr lang="en-US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Tag</a:t>
            </a:r>
            <a:r>
              <a:rPr lang="zh-CN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字段占用多少位？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36CE331-8BC1-480B-B94C-4DD2E444B10B}"/>
              </a:ext>
            </a:extLst>
          </p:cNvPr>
          <p:cNvSpPr txBox="1"/>
          <p:nvPr/>
        </p:nvSpPr>
        <p:spPr>
          <a:xfrm>
            <a:off x="735725" y="5392646"/>
            <a:ext cx="53602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对应</a:t>
            </a:r>
            <a:r>
              <a:rPr lang="en-US" altLang="zh-CN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，因此占用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位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969659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9AA64A0-59DC-4F16-AF07-2344AD0AEB51}"/>
              </a:ext>
            </a:extLst>
          </p:cNvPr>
          <p:cNvSpPr txBox="1"/>
          <p:nvPr/>
        </p:nvSpPr>
        <p:spPr>
          <a:xfrm>
            <a:off x="390985" y="425360"/>
            <a:ext cx="1109892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3.12 	</a:t>
            </a:r>
            <a:r>
              <a:rPr lang="zh-CN" altLang="en-US" sz="22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虚拟存储器解决了哪些问题？</a:t>
            </a:r>
            <a:endParaRPr lang="zh-CN" altLang="zh-CN" sz="22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04EFA52-1FEF-4458-9613-66F87D75EBBF}"/>
              </a:ext>
            </a:extLst>
          </p:cNvPr>
          <p:cNvSpPr txBox="1"/>
          <p:nvPr/>
        </p:nvSpPr>
        <p:spPr>
          <a:xfrm>
            <a:off x="390985" y="1078362"/>
            <a:ext cx="6230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解决了物理空间首先不能运行更大系统程序的问题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C153B5A-A907-4408-9DA0-EC6CE224D5AD}"/>
              </a:ext>
            </a:extLst>
          </p:cNvPr>
          <p:cNvSpPr txBox="1"/>
          <p:nvPr/>
        </p:nvSpPr>
        <p:spPr>
          <a:xfrm>
            <a:off x="390985" y="1700587"/>
            <a:ext cx="10447808" cy="386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40"/>
              </a:spcBef>
            </a:pPr>
            <a:r>
              <a:rPr lang="en-US" altLang="zh-CN" sz="2000" b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lang="zh-CN" altLang="zh-CN" sz="2000" b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补充</a:t>
            </a:r>
            <a:r>
              <a:rPr lang="en-US" altLang="zh-CN" sz="2000" b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3.31]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以下关于计算机外存接口说法正确的是（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2000" kern="10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sz="2000" kern="10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zh-CN" sz="20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buFont typeface="+mj-lt"/>
              <a:buAutoNum type="romanUcPeriod"/>
            </a:pPr>
            <a:r>
              <a:rPr lang="en-US" altLang="zh-CN" sz="20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IDE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Integrated Drive Electronics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）和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ATA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Advanced Technology Attachment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）都是通用的计算机外设接口标准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000" kern="1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√</a:t>
            </a:r>
            <a:endParaRPr lang="zh-CN" altLang="zh-CN" sz="2000" kern="100">
              <a:effectLst/>
              <a:highlight>
                <a:srgbClr val="FFFF00"/>
              </a:highlight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buFont typeface="+mj-lt"/>
              <a:buAutoNum type="romanUcPeriod"/>
            </a:pPr>
            <a:r>
              <a:rPr lang="en-US" altLang="zh-CN" sz="20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SCSI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ATA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SATA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是只能用于硬磁盘（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HDD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）的接口标准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等线" panose="02010600030101010101" pitchFamily="2" charset="-12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000" kern="1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endParaRPr lang="zh-CN" altLang="zh-CN" sz="20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buFont typeface="+mj-lt"/>
              <a:buAutoNum type="romanUcPeriod"/>
            </a:pPr>
            <a:r>
              <a:rPr lang="en-US" altLang="zh-CN" sz="20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SATA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SAS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均采用了串行传输技术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000" kern="1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√</a:t>
            </a:r>
            <a:endParaRPr lang="zh-CN" altLang="zh-CN" sz="20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buFont typeface="+mj-lt"/>
              <a:buAutoNum type="romanUcPeriod"/>
            </a:pPr>
            <a:r>
              <a:rPr lang="en-US" altLang="zh-CN" sz="20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M.2 NVMe (non-volatile memory express)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是目前较为常见的固态硬盘（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SSD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）接口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000" kern="1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√</a:t>
            </a:r>
            <a:endParaRPr lang="zh-CN" altLang="zh-CN" sz="20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buFont typeface="+mj-lt"/>
              <a:buAutoNum type="romanUcPeriod"/>
            </a:pPr>
            <a:r>
              <a:rPr lang="zh-CN" altLang="zh-CN" sz="20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嵌入式系统中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UFS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接口的传输速率明显高于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MicroSD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接口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000" kern="1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√</a:t>
            </a:r>
            <a:endParaRPr lang="en-US" altLang="zh-CN" sz="2000" kern="10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l"/>
            <a:endParaRPr lang="zh-CN" altLang="zh-CN" sz="20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spcAft>
                <a:spcPts val="240"/>
              </a:spcAft>
              <a:buFont typeface="+mj-lt"/>
              <a:buAutoNum type="alphaUcParenR"/>
            </a:pPr>
            <a:r>
              <a:rPr lang="en-US" altLang="zh-CN" sz="20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sz="20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II</a:t>
            </a:r>
            <a:r>
              <a:rPr lang="zh-CN" altLang="zh-CN" sz="20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III</a:t>
            </a:r>
            <a:endParaRPr lang="zh-CN" altLang="zh-CN" sz="20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spcAft>
                <a:spcPts val="240"/>
              </a:spcAft>
              <a:buFont typeface="+mj-lt"/>
              <a:buAutoNum type="alphaUcParenR"/>
            </a:pPr>
            <a:r>
              <a:rPr lang="en-US" altLang="zh-CN" sz="20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II</a:t>
            </a:r>
            <a:r>
              <a:rPr lang="zh-CN" altLang="zh-CN" sz="20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III</a:t>
            </a:r>
            <a:r>
              <a:rPr lang="zh-CN" altLang="zh-CN" sz="20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IV</a:t>
            </a:r>
            <a:endParaRPr lang="zh-CN" altLang="zh-CN" sz="20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spcAft>
                <a:spcPts val="240"/>
              </a:spcAft>
              <a:buFont typeface="+mj-lt"/>
              <a:buAutoNum type="alphaUcParenR"/>
            </a:pPr>
            <a:r>
              <a:rPr lang="en-US" altLang="zh-CN" sz="20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III</a:t>
            </a:r>
            <a:r>
              <a:rPr lang="zh-CN" altLang="zh-CN" sz="20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IV</a:t>
            </a:r>
            <a:r>
              <a:rPr lang="zh-CN" altLang="zh-CN" sz="20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endParaRPr lang="zh-CN" altLang="zh-CN" sz="20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spcAft>
                <a:spcPts val="240"/>
              </a:spcAft>
              <a:buFont typeface="+mj-lt"/>
              <a:buAutoNum type="alphaUcParenR"/>
            </a:pPr>
            <a:r>
              <a:rPr lang="en-US" altLang="zh-CN" sz="20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sz="20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II</a:t>
            </a:r>
            <a:r>
              <a:rPr lang="zh-CN" altLang="zh-CN" sz="20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III</a:t>
            </a:r>
            <a:r>
              <a:rPr lang="zh-CN" altLang="zh-CN" sz="20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IV</a:t>
            </a:r>
            <a:r>
              <a:rPr lang="zh-CN" altLang="zh-CN" sz="20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endParaRPr lang="zh-CN" altLang="zh-CN" sz="20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94CA7A8-3EC5-4EB1-BC47-A7F6FC442BFF}"/>
              </a:ext>
            </a:extLst>
          </p:cNvPr>
          <p:cNvSpPr txBox="1"/>
          <p:nvPr/>
        </p:nvSpPr>
        <p:spPr>
          <a:xfrm>
            <a:off x="390985" y="5756543"/>
            <a:ext cx="98629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highlight>
                  <a:srgbClr val="FFFF00"/>
                </a:highlight>
              </a:rPr>
              <a:t>书</a:t>
            </a:r>
            <a:r>
              <a:rPr lang="en-US" altLang="zh-CN" sz="2000">
                <a:highlight>
                  <a:srgbClr val="FFFF00"/>
                </a:highlight>
              </a:rPr>
              <a:t>P96</a:t>
            </a:r>
            <a:r>
              <a:rPr lang="zh-CN" altLang="en-US" sz="2000">
                <a:highlight>
                  <a:srgbClr val="FFFF00"/>
                </a:highlight>
              </a:rPr>
              <a:t>，</a:t>
            </a:r>
            <a:r>
              <a:rPr lang="en-US" altLang="zh-CN" sz="2000">
                <a:highlight>
                  <a:srgbClr val="FFFF00"/>
                </a:highlight>
              </a:rPr>
              <a:t>97 SCSI</a:t>
            </a:r>
            <a:r>
              <a:rPr lang="zh-CN" altLang="en-US" sz="2000">
                <a:highlight>
                  <a:srgbClr val="FFFF00"/>
                </a:highlight>
              </a:rPr>
              <a:t>是一种通用接口，可以连接磁盘、磁带、光盘、打印机、扫描机等不同外设</a:t>
            </a:r>
            <a:endParaRPr lang="en-US" altLang="zh-CN" sz="2000">
              <a:highlight>
                <a:srgbClr val="FFFF00"/>
              </a:highlight>
            </a:endParaRPr>
          </a:p>
          <a:p>
            <a:r>
              <a:rPr lang="en-US" altLang="zh-CN" sz="2000">
                <a:highlight>
                  <a:srgbClr val="FFFF00"/>
                </a:highlight>
              </a:rPr>
              <a:t>ATA</a:t>
            </a:r>
            <a:r>
              <a:rPr lang="zh-CN" altLang="en-US" sz="2000">
                <a:highlight>
                  <a:srgbClr val="FFFF00"/>
                </a:highlight>
              </a:rPr>
              <a:t>接口和</a:t>
            </a:r>
            <a:r>
              <a:rPr lang="en-US" altLang="zh-CN" sz="2000">
                <a:highlight>
                  <a:srgbClr val="FFFF00"/>
                </a:highlight>
              </a:rPr>
              <a:t>SATA</a:t>
            </a:r>
            <a:r>
              <a:rPr lang="zh-CN" altLang="en-US" sz="2000">
                <a:highlight>
                  <a:srgbClr val="FFFF00"/>
                </a:highlight>
              </a:rPr>
              <a:t>接口也广泛用于固态硬盘（</a:t>
            </a:r>
            <a:r>
              <a:rPr lang="en-US" altLang="zh-CN" sz="2000">
                <a:highlight>
                  <a:srgbClr val="FFFF00"/>
                </a:highlight>
              </a:rPr>
              <a:t>SSD</a:t>
            </a:r>
            <a:r>
              <a:rPr lang="zh-CN" altLang="en-US" sz="2000">
                <a:highlight>
                  <a:srgbClr val="FFFF00"/>
                </a:highlight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773829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A381EA1-9AF7-4317-9F29-726D86D0B28C}"/>
              </a:ext>
            </a:extLst>
          </p:cNvPr>
          <p:cNvSpPr txBox="1"/>
          <p:nvPr/>
        </p:nvSpPr>
        <p:spPr>
          <a:xfrm>
            <a:off x="756744" y="380038"/>
            <a:ext cx="10339289" cy="4170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40"/>
              </a:spcBef>
            </a:pPr>
            <a:r>
              <a:rPr lang="en-US" altLang="zh-CN" sz="2000" b="1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zh-CN" altLang="zh-CN" sz="2000" b="1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补充</a:t>
            </a:r>
            <a:r>
              <a:rPr lang="en-US" altLang="zh-CN" sz="2000" b="1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3.32] 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以下关于典型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ROM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说法正确的是（ </a:t>
            </a:r>
            <a:r>
              <a:rPr lang="en-US" altLang="zh-CN" sz="2000" kern="10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zh-CN" sz="2000" kern="10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buFont typeface="+mj-lt"/>
              <a:buAutoNum type="romanUcPeriod"/>
            </a:pP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Mask ROM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（掩模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ROM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）中的数据用户不能修改 </a:t>
            </a:r>
            <a:r>
              <a:rPr lang="zh-CN" altLang="zh-CN" sz="2000" kern="1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√</a:t>
            </a:r>
            <a:endParaRPr lang="zh-CN" altLang="zh-CN" sz="2000" kern="10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buFont typeface="+mj-lt"/>
              <a:buAutoNum type="romanUcPeriod"/>
            </a:pP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ROM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芯片中字线用来选中存储单元，而位线用于数据的输入和输出 </a:t>
            </a:r>
            <a:r>
              <a:rPr lang="zh-CN" altLang="zh-CN" sz="2000" kern="1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√</a:t>
            </a:r>
            <a:endParaRPr lang="zh-CN" altLang="zh-CN" sz="2000" kern="10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buFont typeface="+mj-lt"/>
              <a:buAutoNum type="romanUcPeriod"/>
            </a:pP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PROM (Programmable ROM)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可以利用外围电路实现数据的多次写入 </a:t>
            </a:r>
            <a:r>
              <a:rPr lang="zh-CN" altLang="zh-CN" sz="2000" kern="1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endParaRPr lang="zh-CN" altLang="zh-CN" sz="2000" kern="10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buFont typeface="+mj-lt"/>
              <a:buAutoNum type="romanUcPeriod"/>
            </a:pP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EPROM (Erasable PROM)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可以利用外围电路实现数据的多次修改 </a:t>
            </a:r>
            <a:r>
              <a:rPr lang="zh-CN" altLang="zh-CN" sz="2000" kern="1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endParaRPr lang="zh-CN" altLang="zh-CN" sz="2000" kern="10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buFont typeface="+mj-lt"/>
              <a:buAutoNum type="romanUcPeriod"/>
            </a:pP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EEPROM (Electrically EPROM)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可以利用外围电路实现数据的多次修改 </a:t>
            </a:r>
            <a:r>
              <a:rPr lang="zh-CN" altLang="zh-CN" sz="2000" kern="1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√</a:t>
            </a:r>
            <a:endParaRPr lang="zh-CN" altLang="zh-CN" sz="2000" kern="10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buFont typeface="+mj-lt"/>
              <a:buAutoNum type="romanUcPeriod"/>
            </a:pP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Flash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2000" kern="100" baseline="300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PROM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都基于浮置栅中是否存有电荷来实现“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”或“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”的逻辑状态存储 </a:t>
            </a:r>
            <a:r>
              <a:rPr lang="zh-CN" altLang="zh-CN" sz="2000" kern="1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√</a:t>
            </a:r>
            <a:endParaRPr lang="zh-CN" altLang="zh-CN" sz="2000" kern="10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buFont typeface="+mj-lt"/>
              <a:buAutoNum type="romanUcPeriod"/>
            </a:pP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NAND Flash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比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NOR Flash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存储密度更高是因为少一个选通管 </a:t>
            </a:r>
            <a:r>
              <a:rPr lang="zh-CN" altLang="zh-CN" sz="2000" kern="1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√</a:t>
            </a:r>
            <a:endParaRPr lang="en-US" altLang="zh-CN" sz="2000" kern="100">
              <a:solidFill>
                <a:srgbClr val="000000"/>
              </a:solidFill>
              <a:effectLst/>
              <a:highlight>
                <a:srgbClr val="FFFF00"/>
              </a:highlight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buFont typeface="+mj-lt"/>
              <a:buAutoNum type="romanUcPeriod"/>
            </a:pPr>
            <a:endParaRPr lang="zh-CN" altLang="zh-CN" sz="2000" kern="10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spcAft>
                <a:spcPts val="240"/>
              </a:spcAft>
              <a:buFont typeface="+mj-lt"/>
              <a:buAutoNum type="alphaUcParenR"/>
            </a:pPr>
            <a:r>
              <a:rPr lang="en-US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III</a:t>
            </a:r>
            <a:endParaRPr lang="zh-CN" altLang="zh-CN" sz="2000" kern="10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spcAft>
                <a:spcPts val="240"/>
              </a:spcAft>
              <a:buFont typeface="+mj-lt"/>
              <a:buAutoNum type="alphaUcParenR"/>
            </a:pPr>
            <a:r>
              <a:rPr lang="en-US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II</a:t>
            </a:r>
            <a:r>
              <a:rPr lang="zh-CN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III</a:t>
            </a:r>
            <a:endParaRPr lang="zh-CN" altLang="zh-CN" sz="2000" kern="10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spcAft>
                <a:spcPts val="240"/>
              </a:spcAft>
              <a:buFont typeface="+mj-lt"/>
              <a:buAutoNum type="alphaUcParenR"/>
            </a:pPr>
            <a:r>
              <a:rPr lang="en-US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III</a:t>
            </a:r>
            <a:r>
              <a:rPr lang="zh-CN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IV</a:t>
            </a:r>
            <a:endParaRPr lang="zh-CN" altLang="zh-CN" sz="2000" kern="10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spcAft>
                <a:spcPts val="240"/>
              </a:spcAft>
              <a:buFont typeface="+mj-lt"/>
              <a:buAutoNum type="alphaUcParenR"/>
            </a:pPr>
            <a:r>
              <a:rPr lang="en-US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zh-CN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VI</a:t>
            </a:r>
            <a:endParaRPr lang="zh-CN" altLang="zh-CN" sz="2000" kern="10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E5E5B59-B2F7-4DEC-866B-12DDF2991A68}"/>
              </a:ext>
            </a:extLst>
          </p:cNvPr>
          <p:cNvSpPr txBox="1"/>
          <p:nvPr/>
        </p:nvSpPr>
        <p:spPr>
          <a:xfrm>
            <a:off x="611701" y="4701703"/>
            <a:ext cx="1075208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书</a:t>
            </a:r>
            <a:r>
              <a:rPr lang="en-US" altLang="zh-CN" sz="200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P99-110</a:t>
            </a:r>
          </a:p>
          <a:p>
            <a:r>
              <a:rPr lang="en-US" altLang="zh-CN" sz="200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Ⅲ. </a:t>
            </a:r>
            <a:r>
              <a:rPr lang="zh-CN" altLang="en-US" sz="200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错误。</a:t>
            </a:r>
            <a:r>
              <a:rPr lang="en-US" altLang="zh-CN" sz="200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PROM</a:t>
            </a:r>
            <a:r>
              <a:rPr lang="zh-CN" altLang="en-US" sz="200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只能被编程一次，之后不能再修改其内容，例如熔丝型</a:t>
            </a:r>
            <a:r>
              <a:rPr lang="en-US" altLang="zh-CN" sz="200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PROM</a:t>
            </a:r>
            <a:r>
              <a:rPr lang="zh-CN" altLang="en-US" sz="200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， 通过烧断熔丝改写信息，熔丝烧断后不能复原，因此不能多次写入。</a:t>
            </a:r>
            <a:endParaRPr lang="en-US" altLang="zh-CN" sz="2000">
              <a:highlight>
                <a:srgbClr val="FFFF00"/>
              </a:highlight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00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Ⅳ.</a:t>
            </a:r>
            <a:r>
              <a:rPr lang="zh-CN" altLang="en-US" sz="200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错误。</a:t>
            </a:r>
            <a:r>
              <a:rPr lang="en-US" altLang="zh-CN" sz="200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EPROM</a:t>
            </a:r>
            <a:r>
              <a:rPr lang="zh-CN" altLang="en-US" sz="200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允许通过紫外线擦除后重新编程，但并不是简单地“利用外围电路”就能实现多次修改。它需要特殊的硬件来擦除和重新编程。</a:t>
            </a:r>
          </a:p>
        </p:txBody>
      </p:sp>
    </p:spTree>
    <p:extLst>
      <p:ext uri="{BB962C8B-B14F-4D97-AF65-F5344CB8AC3E}">
        <p14:creationId xmlns:p14="http://schemas.microsoft.com/office/powerpoint/2010/main" val="29741641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3429D4C-B58D-48AA-9443-448985080FCE}"/>
                  </a:ext>
                </a:extLst>
              </p:cNvPr>
              <p:cNvSpPr txBox="1"/>
              <p:nvPr/>
            </p:nvSpPr>
            <p:spPr>
              <a:xfrm>
                <a:off x="321617" y="302476"/>
                <a:ext cx="10840369" cy="6068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ts val="240"/>
                  </a:spcBef>
                </a:pPr>
                <a:r>
                  <a:rPr lang="en-US" altLang="zh-CN" sz="2000" b="1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[</a:t>
                </a:r>
                <a:r>
                  <a:rPr lang="zh-CN" altLang="zh-CN" sz="2000" b="1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补充</a:t>
                </a:r>
                <a:r>
                  <a:rPr lang="en-US" altLang="zh-CN" sz="2000" b="1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3.33] </a:t>
                </a:r>
                <a:r>
                  <a:rPr lang="zh-CN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以下关于计算机存储器说法正确的是（ </a:t>
                </a:r>
                <a:r>
                  <a:rPr lang="en-US" altLang="zh-CN" sz="2000" kern="100">
                    <a:solidFill>
                      <a:srgbClr val="FF0000"/>
                    </a:solidFill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D</a:t>
                </a:r>
                <a:r>
                  <a:rPr lang="en-US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  </a:t>
                </a:r>
                <a:r>
                  <a:rPr lang="zh-CN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endParaRPr lang="zh-CN" altLang="zh-CN" sz="2000" kern="1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lvl="0" indent="-342900" algn="l">
                  <a:buFont typeface="+mj-lt"/>
                  <a:buAutoNum type="romanUcPeriod"/>
                </a:pPr>
                <a:r>
                  <a:rPr lang="zh-CN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从物理机制上看，任何一种存储器都要能表示“</a:t>
                </a:r>
                <a:r>
                  <a:rPr lang="en-US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0”</a:t>
                </a:r>
                <a:r>
                  <a:rPr lang="zh-CN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“1”</a:t>
                </a:r>
                <a:r>
                  <a:rPr lang="zh-CN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两种状态 </a:t>
                </a:r>
                <a:r>
                  <a:rPr lang="zh-CN" altLang="zh-CN" sz="2000" kern="100">
                    <a:solidFill>
                      <a:srgbClr val="000000"/>
                    </a:solidFill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√</a:t>
                </a:r>
                <a:endParaRPr lang="zh-CN" altLang="zh-CN" sz="2000" kern="1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lvl="0" indent="-342900" algn="l">
                  <a:buFont typeface="+mj-lt"/>
                  <a:buAutoNum type="romanUcPeriod"/>
                </a:pPr>
                <a:r>
                  <a:rPr lang="zh-CN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从物理机制上看，无论是磁存储、光存储还是半导体存储，都只能表示表示“</a:t>
                </a:r>
                <a:r>
                  <a:rPr lang="en-US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0”</a:t>
                </a:r>
                <a:r>
                  <a:rPr lang="zh-CN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“1”</a:t>
                </a:r>
                <a:r>
                  <a:rPr lang="zh-CN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两种状态</a:t>
                </a:r>
                <a:r>
                  <a:rPr lang="en-US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2000" kern="100">
                    <a:solidFill>
                      <a:srgbClr val="000000"/>
                    </a:solidFill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√</a:t>
                </a:r>
                <a:endParaRPr lang="zh-CN" altLang="zh-CN" sz="2000" kern="1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lvl="0" indent="-342900">
                  <a:buFont typeface="+mj-lt"/>
                  <a:buAutoNum type="romanUcPeriod"/>
                </a:pPr>
                <a:r>
                  <a:rPr lang="zh-CN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硬磁盘（</a:t>
                </a:r>
                <a:r>
                  <a:rPr lang="en-US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HDD</a:t>
                </a:r>
                <a:r>
                  <a:rPr lang="zh-CN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）的容量</a:t>
                </a:r>
                <a14:m>
                  <m:oMath xmlns:m="http://schemas.openxmlformats.org/officeDocument/2006/math">
                    <m:r>
                      <a:rPr lang="en-US" altLang="zh-CN" sz="20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≈</m:t>
                    </m:r>
                  </m:oMath>
                </a14:m>
                <a:r>
                  <a:rPr lang="zh-CN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盘片数×磁头数</a:t>
                </a:r>
                <a:r>
                  <a:rPr lang="en-US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 × </a:t>
                </a:r>
                <a:r>
                  <a:rPr lang="zh-CN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磁道</a:t>
                </a:r>
                <a:r>
                  <a:rPr lang="en-US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zh-CN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柱面</a:t>
                </a:r>
                <a:r>
                  <a:rPr lang="en-US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数</a:t>
                </a:r>
                <a:r>
                  <a:rPr lang="en-US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 × </a:t>
                </a:r>
                <a:r>
                  <a:rPr lang="zh-CN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每道扇区数</a:t>
                </a:r>
                <a:r>
                  <a:rPr lang="en-US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 × </a:t>
                </a:r>
                <a:r>
                  <a:rPr lang="zh-CN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每扇区字节数</a:t>
                </a:r>
                <a:r>
                  <a:rPr lang="en-US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2000" kern="100">
                    <a:solidFill>
                      <a:srgbClr val="000000"/>
                    </a:solidFill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×</a:t>
                </a:r>
                <a:endParaRPr lang="zh-CN" altLang="zh-CN" sz="2000" kern="1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lvl="0" indent="-342900" algn="l">
                  <a:buFont typeface="+mj-lt"/>
                  <a:buAutoNum type="romanUcPeriod"/>
                </a:pPr>
                <a:r>
                  <a:rPr lang="zh-CN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光盘的容量往往受限于激光头组件的波长</a:t>
                </a:r>
                <a:r>
                  <a:rPr lang="en-US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2000" kern="100">
                    <a:solidFill>
                      <a:srgbClr val="000000"/>
                    </a:solidFill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√</a:t>
                </a:r>
                <a:endParaRPr lang="zh-CN" altLang="zh-CN" sz="2000" kern="1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lvl="0" indent="-342900" algn="l">
                  <a:buFont typeface="+mj-lt"/>
                  <a:buAutoNum type="romanUcPeriod"/>
                </a:pPr>
                <a:r>
                  <a:rPr lang="zh-CN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半导体存储器往往受限于芯片面积而难以实现超大容量</a:t>
                </a:r>
                <a:r>
                  <a:rPr lang="en-US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2000" kern="100">
                    <a:solidFill>
                      <a:srgbClr val="000000"/>
                    </a:solidFill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√</a:t>
                </a:r>
                <a:endParaRPr lang="zh-CN" altLang="zh-CN" sz="2000" kern="1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lvl="0" indent="-342900" algn="l">
                  <a:buFont typeface="+mj-lt"/>
                  <a:buAutoNum type="romanUcPeriod"/>
                </a:pPr>
                <a:r>
                  <a:rPr lang="zh-CN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半导体存储与磁存储、光存储相比，具有体积小、重量轻的优点</a:t>
                </a:r>
                <a:r>
                  <a:rPr lang="en-US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2000" kern="100">
                    <a:solidFill>
                      <a:srgbClr val="000000"/>
                    </a:solidFill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√</a:t>
                </a:r>
                <a:endParaRPr lang="zh-CN" altLang="zh-CN" sz="2000" kern="1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lvl="0" indent="-342900" algn="l">
                  <a:buFont typeface="+mj-lt"/>
                  <a:buAutoNum type="romanUcPeriod"/>
                </a:pPr>
                <a:r>
                  <a:rPr lang="zh-CN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半导体存储被广泛用于芯片内存储、计算机主存和外存</a:t>
                </a:r>
                <a:r>
                  <a:rPr lang="en-US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2000" kern="100">
                    <a:solidFill>
                      <a:srgbClr val="000000"/>
                    </a:solidFill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√</a:t>
                </a:r>
                <a:endParaRPr lang="en-US" altLang="zh-CN" sz="2000" kern="100"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lvl="0" algn="l"/>
                <a:endParaRPr lang="zh-CN" altLang="zh-CN" sz="2000" kern="1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lvl="0" indent="-342900" algn="l">
                  <a:spcAft>
                    <a:spcPts val="240"/>
                  </a:spcAft>
                  <a:buFont typeface="+mj-lt"/>
                  <a:buAutoNum type="alphaUcParenR"/>
                </a:pPr>
                <a:r>
                  <a:rPr lang="en-US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lang="zh-CN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II</a:t>
                </a:r>
                <a:r>
                  <a:rPr lang="zh-CN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III</a:t>
                </a:r>
                <a:r>
                  <a:rPr lang="zh-CN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IV</a:t>
                </a:r>
                <a:endParaRPr lang="zh-CN" altLang="zh-CN" sz="2000" kern="1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lvl="0" indent="-342900" algn="l">
                  <a:spcAft>
                    <a:spcPts val="240"/>
                  </a:spcAft>
                  <a:buFont typeface="+mj-lt"/>
                  <a:buAutoNum type="alphaUcParenR"/>
                </a:pPr>
                <a:r>
                  <a:rPr lang="en-US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II</a:t>
                </a:r>
                <a:r>
                  <a:rPr lang="zh-CN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III</a:t>
                </a:r>
                <a:r>
                  <a:rPr lang="zh-CN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IV</a:t>
                </a:r>
                <a:r>
                  <a:rPr lang="zh-CN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V</a:t>
                </a:r>
                <a:endParaRPr lang="zh-CN" altLang="zh-CN" sz="2000" kern="1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lvl="0" indent="-342900" algn="l">
                  <a:spcAft>
                    <a:spcPts val="240"/>
                  </a:spcAft>
                  <a:buFont typeface="+mj-lt"/>
                  <a:buAutoNum type="alphaUcParenR"/>
                </a:pPr>
                <a:r>
                  <a:rPr lang="en-US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lang="zh-CN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II</a:t>
                </a:r>
                <a:r>
                  <a:rPr lang="zh-CN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III</a:t>
                </a:r>
                <a:r>
                  <a:rPr lang="zh-CN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V</a:t>
                </a:r>
                <a:endParaRPr lang="zh-CN" altLang="zh-CN" sz="2000" kern="1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lvl="0" indent="-342900" algn="l">
                  <a:spcAft>
                    <a:spcPts val="240"/>
                  </a:spcAft>
                  <a:buFont typeface="+mj-lt"/>
                  <a:buAutoNum type="alphaUcParenR"/>
                </a:pPr>
                <a:r>
                  <a:rPr lang="en-US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IV</a:t>
                </a:r>
                <a:r>
                  <a:rPr lang="zh-CN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V</a:t>
                </a:r>
                <a:r>
                  <a:rPr lang="zh-CN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VI</a:t>
                </a:r>
                <a:r>
                  <a:rPr lang="zh-CN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VII</a:t>
                </a:r>
              </a:p>
              <a:p>
                <a:pPr lvl="0" algn="l">
                  <a:spcAft>
                    <a:spcPts val="240"/>
                  </a:spcAft>
                </a:pPr>
                <a:endParaRPr lang="zh-CN" altLang="zh-CN" sz="2000" kern="1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/>
                <a:r>
                  <a:rPr lang="zh-CN" altLang="zh-CN" sz="2000" kern="100">
                    <a:solidFill>
                      <a:srgbClr val="4D4D4D"/>
                    </a:solidFill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硬盘中一般会有多个盘片组成，每个盘片包含两个面，每个盘面都对应地有一个读</a:t>
                </a:r>
                <a:r>
                  <a:rPr lang="en-US" altLang="zh-CN" sz="2000" kern="100">
                    <a:solidFill>
                      <a:srgbClr val="4D4D4D"/>
                    </a:solidFill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/</a:t>
                </a:r>
                <a:r>
                  <a:rPr lang="zh-CN" altLang="zh-CN" sz="2000" kern="100">
                    <a:solidFill>
                      <a:srgbClr val="4D4D4D"/>
                    </a:solidFill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Arial" panose="020B0604020202020204" pitchFamily="34" charset="0"/>
                  </a:rPr>
                  <a:t>写磁头。</a:t>
                </a:r>
                <a:r>
                  <a:rPr lang="zh-CN" altLang="zh-CN" sz="2000" kern="100">
                    <a:solidFill>
                      <a:srgbClr val="000000"/>
                    </a:solidFill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Segoe UI" panose="020B0502040204020203" pitchFamily="34" charset="0"/>
                  </a:rPr>
                  <a:t>硬盘容量应为总磁头数（盘片数</a:t>
                </a:r>
                <a:r>
                  <a:rPr lang="en-US" altLang="zh-CN" sz="2000" kern="100">
                    <a:solidFill>
                      <a:srgbClr val="000000"/>
                    </a:solidFill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×2</a:t>
                </a:r>
                <a:r>
                  <a:rPr lang="zh-CN" altLang="zh-CN" sz="2000" kern="100">
                    <a:solidFill>
                      <a:srgbClr val="000000"/>
                    </a:solidFill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Segoe UI" panose="020B0502040204020203" pitchFamily="34" charset="0"/>
                  </a:rPr>
                  <a:t>）</a:t>
                </a:r>
                <a:r>
                  <a:rPr lang="en-US" altLang="zh-CN" sz="2000" kern="100">
                    <a:solidFill>
                      <a:srgbClr val="000000"/>
                    </a:solidFill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 × </a:t>
                </a:r>
                <a:r>
                  <a:rPr lang="zh-CN" altLang="zh-CN" sz="2000" kern="100">
                    <a:solidFill>
                      <a:srgbClr val="000000"/>
                    </a:solidFill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Segoe UI" panose="020B0502040204020203" pitchFamily="34" charset="0"/>
                  </a:rPr>
                  <a:t>柱面数</a:t>
                </a:r>
                <a:r>
                  <a:rPr lang="en-US" altLang="zh-CN" sz="2000" kern="100">
                    <a:solidFill>
                      <a:srgbClr val="000000"/>
                    </a:solidFill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 × </a:t>
                </a:r>
                <a:r>
                  <a:rPr lang="zh-CN" altLang="zh-CN" sz="2000" kern="100">
                    <a:solidFill>
                      <a:srgbClr val="000000"/>
                    </a:solidFill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Segoe UI" panose="020B0502040204020203" pitchFamily="34" charset="0"/>
                  </a:rPr>
                  <a:t>每道扇区数</a:t>
                </a:r>
                <a:r>
                  <a:rPr lang="en-US" altLang="zh-CN" sz="2000" kern="100">
                    <a:solidFill>
                      <a:srgbClr val="000000"/>
                    </a:solidFill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 × </a:t>
                </a:r>
                <a:r>
                  <a:rPr lang="zh-CN" altLang="zh-CN" sz="2000" kern="100">
                    <a:solidFill>
                      <a:srgbClr val="000000"/>
                    </a:solidFill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Segoe UI" panose="020B0502040204020203" pitchFamily="34" charset="0"/>
                  </a:rPr>
                  <a:t>每扇区字节数。题目中的公式重复计算了盘片数，导致错误</a:t>
                </a:r>
                <a:endParaRPr lang="zh-CN" altLang="zh-CN" sz="2000" kern="1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3429D4C-B58D-48AA-9443-448985080F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617" y="302476"/>
                <a:ext cx="10840369" cy="6068328"/>
              </a:xfrm>
              <a:prstGeom prst="rect">
                <a:avLst/>
              </a:prstGeom>
              <a:blipFill>
                <a:blip r:embed="rId2"/>
                <a:stretch>
                  <a:fillRect l="-619" t="-603" r="-562" b="-9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53922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282DB28-5A4A-471D-BDAA-624CE193379F}"/>
              </a:ext>
            </a:extLst>
          </p:cNvPr>
          <p:cNvSpPr txBox="1"/>
          <p:nvPr/>
        </p:nvSpPr>
        <p:spPr>
          <a:xfrm>
            <a:off x="611702" y="370517"/>
            <a:ext cx="1036740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zh-CN" altLang="zh-CN" sz="2200" b="1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补充</a:t>
            </a:r>
            <a:r>
              <a:rPr lang="en-US" altLang="zh-CN" sz="2200" b="1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3.34]  </a:t>
            </a:r>
            <a:r>
              <a:rPr lang="zh-CN" altLang="zh-CN" sz="22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以</a:t>
            </a:r>
            <a:r>
              <a:rPr lang="en-US" altLang="zh-CN" sz="22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Intel 2164A</a:t>
            </a:r>
            <a:r>
              <a:rPr lang="zh-CN" altLang="zh-CN" sz="22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为例，定性分析</a:t>
            </a:r>
            <a:r>
              <a:rPr lang="en-US" altLang="zh-CN" sz="22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DRAM</a:t>
            </a:r>
            <a:r>
              <a:rPr lang="zh-CN" altLang="zh-CN" sz="22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芯片写操作过程中哪些步骤会产生不可忽略的延时（</a:t>
            </a:r>
            <a:r>
              <a:rPr lang="en-US" altLang="zh-CN" sz="22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Latency</a:t>
            </a:r>
            <a:r>
              <a:rPr lang="zh-CN" altLang="zh-CN" sz="22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）。</a:t>
            </a:r>
            <a:endParaRPr lang="en-US" altLang="zh-CN" sz="2200" kern="10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2200" kern="10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2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1. </a:t>
            </a:r>
            <a:r>
              <a:rPr lang="zh-CN" altLang="en-US" sz="22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行地址选通与行激活延时（</a:t>
            </a:r>
            <a:r>
              <a:rPr lang="en-US" altLang="zh-CN" sz="22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tRCD</a:t>
            </a:r>
            <a:r>
              <a:rPr lang="zh-CN" altLang="en-US" sz="22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</a:p>
          <a:p>
            <a:pPr algn="just"/>
            <a:r>
              <a:rPr lang="en-US" altLang="zh-CN" sz="22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2. </a:t>
            </a:r>
            <a:r>
              <a:rPr lang="zh-CN" altLang="en-US" sz="22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列地址选通与列访问延时（</a:t>
            </a:r>
            <a:r>
              <a:rPr lang="en-US" altLang="zh-CN" sz="22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tCAS</a:t>
            </a:r>
            <a:r>
              <a:rPr lang="zh-CN" altLang="en-US" sz="22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</a:p>
          <a:p>
            <a:pPr algn="just"/>
            <a:r>
              <a:rPr lang="en-US" altLang="zh-CN" sz="22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3. </a:t>
            </a:r>
            <a:r>
              <a:rPr lang="zh-CN" altLang="en-US" sz="22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数据写入与存储单元充电延时（</a:t>
            </a:r>
            <a:r>
              <a:rPr lang="en-US" altLang="zh-CN" sz="22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tCWL </a:t>
            </a:r>
            <a:r>
              <a:rPr lang="zh-CN" altLang="en-US" sz="22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和 </a:t>
            </a:r>
            <a:r>
              <a:rPr lang="en-US" altLang="zh-CN" sz="22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tWR</a:t>
            </a:r>
            <a:r>
              <a:rPr lang="zh-CN" altLang="en-US" sz="22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</a:p>
          <a:p>
            <a:pPr algn="just"/>
            <a:r>
              <a:rPr lang="en-US" altLang="zh-CN" sz="22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4. </a:t>
            </a:r>
            <a:r>
              <a:rPr lang="zh-CN" altLang="en-US" sz="22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预充电延时（</a:t>
            </a:r>
            <a:r>
              <a:rPr lang="en-US" altLang="zh-CN" sz="22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tRP</a:t>
            </a:r>
            <a:r>
              <a:rPr lang="zh-CN" altLang="en-US" sz="22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，若涉及行切换）</a:t>
            </a:r>
            <a:endParaRPr lang="en-US" altLang="zh-CN" sz="2200" kern="10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2200" kern="1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行激活（</a:t>
            </a:r>
            <a:r>
              <a:rPr lang="en-US" altLang="zh-CN" sz="2200" kern="1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tRCD</a:t>
            </a:r>
            <a:r>
              <a:rPr lang="zh-CN" altLang="en-US" sz="2200" kern="1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）、列访问（</a:t>
            </a:r>
            <a:r>
              <a:rPr lang="en-US" altLang="zh-CN" sz="2200" kern="1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tCAS</a:t>
            </a:r>
            <a:r>
              <a:rPr lang="zh-CN" altLang="en-US" sz="2200" kern="1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）、数据写入（</a:t>
            </a:r>
            <a:r>
              <a:rPr lang="en-US" altLang="zh-CN" sz="2200" kern="1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tCWL/tWR</a:t>
            </a:r>
            <a:r>
              <a:rPr lang="zh-CN" altLang="en-US" sz="2200" kern="10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 是核心延时来源</a:t>
            </a:r>
          </a:p>
          <a:p>
            <a:pPr algn="just"/>
            <a:r>
              <a:rPr lang="zh-CN" altLang="en-US" sz="22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书</a:t>
            </a:r>
            <a:r>
              <a:rPr lang="en-US" altLang="zh-CN" sz="22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200" kern="1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114</a:t>
            </a:r>
            <a:endParaRPr lang="en-US" altLang="zh-CN" sz="2200" kern="10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0596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5CAA5DA-E49E-4E0B-A81F-7E85F5AE9414}"/>
                  </a:ext>
                </a:extLst>
              </p:cNvPr>
              <p:cNvSpPr txBox="1"/>
              <p:nvPr/>
            </p:nvSpPr>
            <p:spPr>
              <a:xfrm>
                <a:off x="334229" y="0"/>
                <a:ext cx="10695327" cy="6916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ts val="240"/>
                  </a:spcBef>
                </a:pPr>
                <a:r>
                  <a:rPr lang="en-US" altLang="zh-CN" sz="2000" b="1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[</a:t>
                </a:r>
                <a:r>
                  <a:rPr lang="zh-CN" altLang="zh-CN" sz="2000" b="1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补充</a:t>
                </a:r>
                <a:r>
                  <a:rPr lang="en-US" altLang="zh-CN" sz="2000" b="1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3.35</a:t>
                </a:r>
                <a:r>
                  <a:rPr lang="en-US" altLang="zh-CN" sz="2000" b="1" kern="100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*</a:t>
                </a:r>
                <a:r>
                  <a:rPr lang="zh-CN" altLang="zh-CN" sz="2000" b="1" kern="100"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选做</a:t>
                </a:r>
                <a:r>
                  <a:rPr lang="en-US" altLang="zh-CN" sz="2000" b="1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] </a:t>
                </a:r>
                <a:r>
                  <a:rPr lang="zh-CN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某品牌的内存芯片标称了“</a:t>
                </a:r>
                <a:r>
                  <a:rPr lang="en-US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DDR5-3200 22-22-22</a:t>
                </a:r>
                <a:r>
                  <a:rPr lang="zh-CN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”，已知芯片共有</a:t>
                </a:r>
                <a:r>
                  <a:rPr lang="en-US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64</a:t>
                </a:r>
                <a:r>
                  <a:rPr lang="zh-CN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根数据线，下列说法正确的是（</a:t>
                </a:r>
                <a:r>
                  <a:rPr lang="en-US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  </a:t>
                </a:r>
                <a:r>
                  <a:rPr lang="en-US" altLang="zh-CN" sz="2000" kern="100">
                    <a:solidFill>
                      <a:srgbClr val="FF0000"/>
                    </a:solidFill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endParaRPr lang="zh-CN" altLang="zh-CN" sz="2000" kern="1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lvl="0" indent="-342900" algn="l">
                  <a:buFont typeface="+mj-lt"/>
                  <a:buAutoNum type="romanUcPeriod"/>
                </a:pPr>
                <a:r>
                  <a:rPr lang="zh-CN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该芯片的工作时钟是</a:t>
                </a:r>
                <a:r>
                  <a:rPr lang="en-US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1600 MHz</a:t>
                </a:r>
                <a:r>
                  <a:rPr lang="zh-CN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、时钟周期是 </a:t>
                </a:r>
                <a:r>
                  <a:rPr lang="en-US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0.625ns  </a:t>
                </a:r>
                <a:r>
                  <a:rPr lang="zh-CN" altLang="zh-CN" sz="2000" kern="100">
                    <a:solidFill>
                      <a:srgbClr val="000000"/>
                    </a:solidFill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√</a:t>
                </a:r>
                <a:endParaRPr lang="zh-CN" altLang="zh-CN" sz="2000" kern="1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lvl="0" indent="-342900" algn="l">
                  <a:buFont typeface="+mj-lt"/>
                  <a:buAutoNum type="romanUcPeriod"/>
                </a:pPr>
                <a:r>
                  <a:rPr lang="zh-CN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该芯片的理论最高数据传输速率是 </a:t>
                </a:r>
                <a:r>
                  <a:rPr lang="en-US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3200 MT/s </a:t>
                </a:r>
                <a14:m>
                  <m:oMath xmlns:m="http://schemas.openxmlformats.org/officeDocument/2006/math">
                    <m:r>
                      <a:rPr lang="en-US" altLang="zh-CN" sz="20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 64 bits = 25.60 GB </a:t>
                </a:r>
                <a:r>
                  <a:rPr lang="zh-CN" altLang="zh-CN" sz="2000" kern="100">
                    <a:solidFill>
                      <a:srgbClr val="000000"/>
                    </a:solidFill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√</a:t>
                </a:r>
                <a:endParaRPr lang="zh-CN" altLang="zh-CN" sz="2000" kern="1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lvl="0" indent="-342900" algn="l">
                  <a:buFont typeface="+mj-lt"/>
                  <a:buAutoNum type="romanUcPeriod"/>
                </a:pPr>
                <a:r>
                  <a:rPr lang="zh-CN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“</a:t>
                </a:r>
                <a:r>
                  <a:rPr lang="en-US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tCL-tRCD-tRP</a:t>
                </a:r>
                <a:r>
                  <a:rPr lang="zh-CN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”（本题中“</a:t>
                </a:r>
                <a:r>
                  <a:rPr lang="en-US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22-22-22</a:t>
                </a:r>
                <a:r>
                  <a:rPr lang="zh-CN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”）数值对应的是时钟周期的个数 </a:t>
                </a:r>
                <a:r>
                  <a:rPr lang="zh-CN" altLang="zh-CN" sz="2000" kern="100">
                    <a:solidFill>
                      <a:srgbClr val="000000"/>
                    </a:solidFill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√</a:t>
                </a:r>
                <a:endParaRPr lang="zh-CN" altLang="zh-CN" sz="2000" kern="1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lvl="0" indent="-342900" algn="l">
                  <a:buFont typeface="+mj-lt"/>
                  <a:buAutoNum type="romanUcPeriod"/>
                </a:pPr>
                <a:r>
                  <a:rPr lang="zh-CN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“</a:t>
                </a:r>
                <a:r>
                  <a:rPr lang="en-US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tCL-tRCD-tRP</a:t>
                </a:r>
                <a:r>
                  <a:rPr lang="zh-CN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”（本题中“</a:t>
                </a:r>
                <a:r>
                  <a:rPr lang="en-US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22-22-22</a:t>
                </a:r>
                <a:r>
                  <a:rPr lang="zh-CN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”）数值对应的是</a:t>
                </a:r>
                <a:r>
                  <a:rPr lang="en-US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ns </a:t>
                </a:r>
                <a:r>
                  <a:rPr lang="zh-CN" altLang="zh-CN" sz="2000" kern="100">
                    <a:solidFill>
                      <a:srgbClr val="000000"/>
                    </a:solidFill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×</a:t>
                </a:r>
                <a:endParaRPr lang="zh-CN" altLang="zh-CN" sz="2000" kern="1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lvl="0" indent="-342900" algn="l">
                  <a:buFont typeface="+mj-lt"/>
                  <a:buAutoNum type="romanUcPeriod"/>
                </a:pPr>
                <a:r>
                  <a:rPr lang="zh-CN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该芯片的</a:t>
                </a:r>
                <a:r>
                  <a:rPr lang="en-US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tCL (CAS Latency) </a:t>
                </a:r>
                <a:r>
                  <a:rPr lang="zh-CN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是 </a:t>
                </a:r>
                <a:r>
                  <a:rPr lang="en-US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13.75 ns </a:t>
                </a:r>
                <a:r>
                  <a:rPr lang="zh-CN" altLang="zh-CN" sz="2000" kern="100">
                    <a:solidFill>
                      <a:srgbClr val="000000"/>
                    </a:solidFill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√</a:t>
                </a:r>
                <a:endParaRPr lang="zh-CN" altLang="zh-CN" sz="2000" kern="1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lvl="0" indent="-342900" algn="l">
                  <a:buFont typeface="+mj-lt"/>
                  <a:buAutoNum type="romanUcPeriod"/>
                </a:pPr>
                <a:r>
                  <a:rPr lang="zh-CN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该芯片的理论最高数据传输速率是 </a:t>
                </a:r>
                <a:r>
                  <a:rPr lang="en-US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1 / (13.75 ns) </a:t>
                </a:r>
                <a14:m>
                  <m:oMath xmlns:m="http://schemas.openxmlformats.org/officeDocument/2006/math">
                    <m:r>
                      <a:rPr lang="en-US" altLang="zh-CN" sz="20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 64 bits </a:t>
                </a:r>
                <a14:m>
                  <m:oMath xmlns:m="http://schemas.openxmlformats.org/officeDocument/2006/math">
                    <m:r>
                      <a:rPr lang="en-US" altLang="zh-CN" sz="20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≈</m:t>
                    </m:r>
                  </m:oMath>
                </a14:m>
                <a:r>
                  <a:rPr lang="en-US" altLang="zh-CN" sz="2000" kern="1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 0.58 GB </a:t>
                </a:r>
                <a:r>
                  <a:rPr lang="zh-CN" altLang="zh-CN" sz="2000" kern="100">
                    <a:solidFill>
                      <a:srgbClr val="000000"/>
                    </a:solidFill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×</a:t>
                </a:r>
                <a:endParaRPr lang="zh-CN" altLang="zh-CN" sz="2000" kern="1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lvl="0" indent="-342900" algn="l">
                  <a:spcAft>
                    <a:spcPts val="240"/>
                  </a:spcAft>
                  <a:buFont typeface="+mj-lt"/>
                  <a:buAutoNum type="alphaUcParenR"/>
                </a:pPr>
                <a:r>
                  <a:rPr lang="en-US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lang="zh-CN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II</a:t>
                </a:r>
                <a:r>
                  <a:rPr lang="zh-CN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III</a:t>
                </a:r>
                <a:r>
                  <a:rPr lang="zh-CN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IV</a:t>
                </a:r>
                <a:endParaRPr lang="zh-CN" altLang="zh-CN" sz="2000" kern="1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lvl="0" indent="-342900" algn="l">
                  <a:spcAft>
                    <a:spcPts val="240"/>
                  </a:spcAft>
                  <a:buFont typeface="+mj-lt"/>
                  <a:buAutoNum type="alphaUcParenR"/>
                </a:pPr>
                <a:r>
                  <a:rPr lang="en-US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lang="zh-CN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II</a:t>
                </a:r>
                <a:r>
                  <a:rPr lang="zh-CN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IV</a:t>
                </a:r>
                <a:r>
                  <a:rPr lang="zh-CN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V</a:t>
                </a:r>
                <a:endParaRPr lang="zh-CN" altLang="zh-CN" sz="2000" kern="1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lvl="0" indent="-342900" algn="l">
                  <a:spcAft>
                    <a:spcPts val="240"/>
                  </a:spcAft>
                  <a:buFont typeface="+mj-lt"/>
                  <a:buAutoNum type="alphaUcParenR"/>
                </a:pPr>
                <a:r>
                  <a:rPr lang="en-US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lang="zh-CN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II</a:t>
                </a:r>
                <a:r>
                  <a:rPr lang="zh-CN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III</a:t>
                </a:r>
                <a:r>
                  <a:rPr lang="zh-CN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V</a:t>
                </a:r>
                <a:endParaRPr lang="zh-CN" altLang="zh-CN" sz="2000" kern="1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lvl="0" indent="-342900" algn="l">
                  <a:spcAft>
                    <a:spcPts val="240"/>
                  </a:spcAft>
                  <a:buFont typeface="+mj-lt"/>
                  <a:buAutoNum type="alphaUcParenR"/>
                </a:pPr>
                <a:r>
                  <a:rPr lang="en-US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lang="zh-CN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II</a:t>
                </a:r>
                <a:r>
                  <a:rPr lang="zh-CN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III</a:t>
                </a:r>
                <a:r>
                  <a:rPr lang="zh-CN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2000" kern="100"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VI</a:t>
                </a:r>
                <a:endParaRPr lang="zh-CN" altLang="zh-CN" sz="2000" kern="1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l">
                  <a:spcAft>
                    <a:spcPts val="240"/>
                  </a:spcAft>
                </a:pPr>
                <a:r>
                  <a:rPr lang="en-US" altLang="zh-CN" sz="2000" kern="100"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DDR5-3200 </a:t>
                </a:r>
                <a:r>
                  <a:rPr lang="zh-CN" altLang="zh-CN" sz="2000" kern="100"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表示内存的数据传输速率为</a:t>
                </a:r>
                <a:r>
                  <a:rPr lang="en-US" altLang="zh-CN" sz="2000" kern="100"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 3200 MT/s</a:t>
                </a:r>
                <a:r>
                  <a:rPr lang="zh-CN" altLang="en-US" sz="2000" kern="1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（每秒百万次传输）</a:t>
                </a:r>
                <a:r>
                  <a:rPr lang="zh-CN" altLang="zh-CN" sz="2000" kern="100"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，物理时钟频率为</a:t>
                </a:r>
                <a:r>
                  <a:rPr lang="en-US" altLang="zh-CN" sz="2000" kern="100"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 3200/2=1600 MHz</a:t>
                </a:r>
                <a:r>
                  <a:rPr lang="zh-CN" altLang="zh-CN" sz="2000" kern="100"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2000" kern="100">
                  <a:effectLst/>
                  <a:highlight>
                    <a:srgbClr val="FFFF00"/>
                  </a:highlight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Aft>
                    <a:spcPts val="240"/>
                  </a:spcAft>
                </a:pPr>
                <a:r>
                  <a:rPr lang="zh-CN" altLang="en-US" sz="2000" kern="100"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时钟周期为</a:t>
                </a:r>
                <a:r>
                  <a:rPr lang="en-US" altLang="zh-CN" sz="2000" kern="100"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1/</a:t>
                </a:r>
                <a:r>
                  <a:rPr lang="zh-CN" altLang="en-US" sz="2000" kern="100"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000" kern="100"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1600*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kern="100" smtClean="0">
                            <a:effectLst/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kern="100" smtClean="0">
                            <a:effectLst/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000" b="0" i="1" kern="100" smtClean="0">
                            <a:effectLst/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zh-CN" altLang="en-US" sz="2000" kern="100"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r>
                  <a:rPr lang="en-US" altLang="zh-CN" sz="2000" kern="100"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=1/1.6 ns=0.625ns</a:t>
                </a:r>
                <a:r>
                  <a:rPr lang="zh-CN" altLang="en-US" sz="2000" kern="100"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，最高传输速率为</a:t>
                </a:r>
                <a:r>
                  <a:rPr lang="en-US" altLang="zh-CN" sz="2000" kern="100"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3200</a:t>
                </a:r>
                <a:r>
                  <a:rPr lang="en-US" altLang="zh-CN" sz="2000" kern="1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*</a:t>
                </a:r>
                <a:r>
                  <a:rPr lang="en-US" altLang="zh-CN" sz="2000" kern="100">
                    <a:effectLst/>
                    <a:highlight>
                      <a:srgbClr val="FFFF00"/>
                    </a:highlight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kern="100" smtClean="0">
                            <a:effectLst/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kern="100" smtClean="0">
                            <a:effectLst/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000" b="0" i="1" kern="100" smtClean="0">
                            <a:effectLst/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6</m:t>
                        </m:r>
                      </m:sup>
                    </m:sSup>
                    <m:r>
                      <a:rPr lang="en-US" altLang="zh-CN" sz="2000" b="0" i="1" kern="100" smtClean="0">
                        <a:effectLst/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∗</m:t>
                    </m:r>
                    <m:f>
                      <m:fPr>
                        <m:ctrlPr>
                          <a:rPr lang="en-US" altLang="zh-CN" sz="2000" b="0" i="1" kern="100" smtClean="0">
                            <a:effectLst/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kern="100" smtClean="0">
                            <a:effectLst/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64</m:t>
                        </m:r>
                      </m:num>
                      <m:den>
                        <m:r>
                          <a:rPr lang="en-US" altLang="zh-CN" sz="2000" b="0" i="1" kern="100" smtClean="0">
                            <a:effectLst/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8</m:t>
                        </m:r>
                      </m:den>
                    </m:f>
                    <m:r>
                      <a:rPr lang="en-US" altLang="zh-CN" sz="2000" b="0" i="1" kern="100" smtClean="0">
                        <a:effectLst/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=25.6</m:t>
                    </m:r>
                    <m:r>
                      <m:rPr>
                        <m:sty m:val="p"/>
                      </m:rPr>
                      <a:rPr lang="en-US" altLang="zh-CN" sz="2000" i="1" kern="100"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GB</m:t>
                    </m:r>
                    <m:r>
                      <a:rPr lang="en-US" altLang="zh-CN" sz="2000" b="0" i="1" kern="10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000" i="1" kern="100"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s</m:t>
                    </m:r>
                  </m:oMath>
                </a14:m>
                <a:endParaRPr lang="en-US" altLang="zh-CN" sz="2000" kern="1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l">
                  <a:spcAft>
                    <a:spcPts val="240"/>
                  </a:spcAft>
                </a:pPr>
                <a:r>
                  <a:rPr lang="en-US" altLang="zh-CN" sz="2000" kern="100"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22-22-22 </a:t>
                </a:r>
                <a:r>
                  <a:rPr lang="zh-CN" altLang="zh-CN" sz="2000" kern="100"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表示内存的主要时序参数，分别是：</a:t>
                </a:r>
                <a:endParaRPr lang="zh-CN" altLang="zh-CN" sz="2000" kern="1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l">
                  <a:spcAft>
                    <a:spcPts val="240"/>
                  </a:spcAft>
                </a:pPr>
                <a:r>
                  <a:rPr lang="en-US" altLang="zh-CN" sz="2000" kern="100"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CAS </a:t>
                </a:r>
                <a:r>
                  <a:rPr lang="zh-CN" altLang="zh-CN" sz="2000" kern="100"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延迟</a:t>
                </a:r>
                <a:r>
                  <a:rPr lang="zh-CN" altLang="en-US" sz="2000" kern="100"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，从发出读取命令到数据开始输出之间的延迟周期数。</a:t>
                </a:r>
                <a:r>
                  <a:rPr lang="zh-CN" altLang="zh-CN" sz="2000" kern="100"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000" kern="100"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CL</a:t>
                </a:r>
                <a:r>
                  <a:rPr lang="zh-CN" altLang="zh-CN" sz="2000" kern="100"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）：</a:t>
                </a:r>
                <a:r>
                  <a:rPr lang="en-US" altLang="zh-CN" sz="2000" kern="100"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22 </a:t>
                </a:r>
                <a:r>
                  <a:rPr lang="zh-CN" altLang="zh-CN" sz="2000" kern="100"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个时钟周期</a:t>
                </a:r>
                <a:r>
                  <a:rPr lang="en-US" altLang="zh-CN" sz="2000" kern="100"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=22*0.625=13.75</a:t>
                </a:r>
                <a:endParaRPr lang="zh-CN" altLang="zh-CN" sz="2000" kern="1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l">
                  <a:spcAft>
                    <a:spcPts val="240"/>
                  </a:spcAft>
                </a:pPr>
                <a:r>
                  <a:rPr lang="en-US" altLang="zh-CN" sz="2000" kern="100"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RAS </a:t>
                </a:r>
                <a:r>
                  <a:rPr lang="zh-CN" altLang="zh-CN" sz="2000" kern="100"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到</a:t>
                </a:r>
                <a:r>
                  <a:rPr lang="en-US" altLang="zh-CN" sz="2000" kern="100"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 CAS </a:t>
                </a:r>
                <a:r>
                  <a:rPr lang="zh-CN" altLang="zh-CN" sz="2000" kern="100"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延迟</a:t>
                </a:r>
                <a:r>
                  <a:rPr lang="zh-CN" altLang="en-US" sz="2000" kern="1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2000" kern="100"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从激活行地址（</a:t>
                </a:r>
                <a:r>
                  <a:rPr lang="en-US" altLang="zh-CN" sz="2000" kern="100"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RAS</a:t>
                </a:r>
                <a:r>
                  <a:rPr lang="zh-CN" altLang="en-US" sz="2000" kern="100"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）到可以发送列地址（</a:t>
                </a:r>
                <a:r>
                  <a:rPr lang="en-US" altLang="zh-CN" sz="2000" kern="100"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CAS</a:t>
                </a:r>
                <a:r>
                  <a:rPr lang="zh-CN" altLang="en-US" sz="2000" kern="100"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）之间的延迟周期数</a:t>
                </a:r>
                <a:r>
                  <a:rPr lang="zh-CN" altLang="zh-CN" sz="2000" kern="100"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000" kern="100"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tRCD</a:t>
                </a:r>
                <a:r>
                  <a:rPr lang="zh-CN" altLang="zh-CN" sz="2000" kern="100"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）：</a:t>
                </a:r>
                <a:r>
                  <a:rPr lang="en-US" altLang="zh-CN" sz="2000" kern="100"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22 </a:t>
                </a:r>
                <a:r>
                  <a:rPr lang="zh-CN" altLang="zh-CN" sz="2000" kern="100"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个时钟周期</a:t>
                </a:r>
                <a:endParaRPr lang="zh-CN" altLang="zh-CN" sz="2000" kern="10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zh-CN" altLang="zh-CN" sz="2000"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行预充电时间</a:t>
                </a:r>
                <a:r>
                  <a:rPr lang="zh-CN" altLang="en-US" sz="2000"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，关闭当前行并打开下一行所需的时间周期数</a:t>
                </a:r>
                <a:r>
                  <a:rPr lang="zh-CN" altLang="zh-CN" sz="2000"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000"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tRP</a:t>
                </a:r>
                <a:r>
                  <a:rPr lang="zh-CN" altLang="zh-CN" sz="2000"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）：</a:t>
                </a:r>
                <a:r>
                  <a:rPr lang="en-US" altLang="zh-CN" sz="2000"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22 </a:t>
                </a:r>
                <a:r>
                  <a:rPr lang="zh-CN" altLang="zh-CN" sz="2000">
                    <a:effectLst/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个时钟周期</a:t>
                </a:r>
                <a:endParaRPr lang="zh-CN" altLang="en-US" sz="20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5CAA5DA-E49E-4E0B-A81F-7E85F5AE94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229" y="0"/>
                <a:ext cx="10695327" cy="6916060"/>
              </a:xfrm>
              <a:prstGeom prst="rect">
                <a:avLst/>
              </a:prstGeom>
              <a:blipFill>
                <a:blip r:embed="rId2"/>
                <a:stretch>
                  <a:fillRect l="-627" t="-441" b="-6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28754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AC023AD-B09F-41CC-96CE-87046BB4C5FE}"/>
              </a:ext>
            </a:extLst>
          </p:cNvPr>
          <p:cNvSpPr txBox="1"/>
          <p:nvPr/>
        </p:nvSpPr>
        <p:spPr>
          <a:xfrm>
            <a:off x="296393" y="262777"/>
            <a:ext cx="110673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40"/>
              </a:spcBef>
            </a:pPr>
            <a:r>
              <a:rPr lang="en-US" altLang="zh-CN" sz="2400" b="1" kern="1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zh-CN" altLang="zh-CN" sz="2400" b="1" kern="1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补充</a:t>
            </a:r>
            <a:r>
              <a:rPr lang="en-US" altLang="zh-CN" sz="2400" b="1" kern="1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3.36] </a:t>
            </a:r>
            <a:r>
              <a:rPr lang="zh-CN" altLang="zh-CN" sz="24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某按字节编址的计算机系统，有</a:t>
            </a:r>
            <a:r>
              <a:rPr lang="en-US" altLang="zh-CN" sz="24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14</a:t>
            </a:r>
            <a:r>
              <a:rPr lang="zh-CN" altLang="zh-CN" sz="24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根地址线，</a:t>
            </a:r>
            <a:r>
              <a:rPr lang="en-US" altLang="zh-CN" sz="24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zh-CN" sz="24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根数据线，用</a:t>
            </a:r>
            <a:r>
              <a:rPr lang="en-US" altLang="zh-CN" sz="24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24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片</a:t>
            </a:r>
            <a:r>
              <a:rPr lang="en-US" altLang="zh-CN" sz="24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4K×8</a:t>
            </a:r>
            <a:r>
              <a:rPr lang="zh-CN" altLang="zh-CN" sz="24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位的</a:t>
            </a:r>
            <a:r>
              <a:rPr lang="en-US" altLang="zh-CN" sz="24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SRAM</a:t>
            </a:r>
            <a:r>
              <a:rPr lang="zh-CN" altLang="zh-CN" sz="24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芯片构成</a:t>
            </a:r>
            <a:r>
              <a:rPr lang="en-US" altLang="zh-CN" sz="24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16K×8</a:t>
            </a:r>
            <a:r>
              <a:rPr lang="zh-CN" altLang="zh-CN" sz="24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位的存储器。请</a:t>
            </a:r>
            <a:r>
              <a:rPr lang="zh-CN" altLang="zh-CN" sz="24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sz="24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画出</a:t>
            </a:r>
            <a:r>
              <a:rPr lang="en-US" altLang="zh-CN" sz="24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24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片</a:t>
            </a:r>
            <a:r>
              <a:rPr lang="en-US" altLang="zh-CN" sz="24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SRAM</a:t>
            </a:r>
            <a:r>
              <a:rPr lang="zh-CN" altLang="zh-CN" sz="24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芯片与</a:t>
            </a:r>
            <a:r>
              <a:rPr lang="en-US" altLang="zh-CN" sz="24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CPU</a:t>
            </a:r>
            <a:r>
              <a:rPr lang="zh-CN" altLang="zh-CN" sz="24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的连接图；并</a:t>
            </a:r>
            <a:r>
              <a:rPr lang="zh-CN" altLang="zh-CN" sz="24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sz="24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列出</a:t>
            </a:r>
            <a:r>
              <a:rPr lang="en-US" altLang="zh-CN" sz="24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24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片</a:t>
            </a:r>
            <a:r>
              <a:rPr lang="en-US" altLang="zh-CN" sz="24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SRAM</a:t>
            </a:r>
            <a:r>
              <a:rPr lang="zh-CN" altLang="zh-CN" sz="24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芯片的地址范围。</a:t>
            </a:r>
            <a:endParaRPr lang="en-US" altLang="zh-CN" sz="2400" kern="10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3812D90-699F-471C-968D-D3B8F056320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3" r="15724"/>
          <a:stretch/>
        </p:blipFill>
        <p:spPr>
          <a:xfrm rot="16200000">
            <a:off x="3475784" y="632960"/>
            <a:ext cx="3598189" cy="846976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51CA02E-FD2C-4951-B728-04D3D87AF008}"/>
              </a:ext>
            </a:extLst>
          </p:cNvPr>
          <p:cNvSpPr txBox="1"/>
          <p:nvPr/>
        </p:nvSpPr>
        <p:spPr>
          <a:xfrm>
            <a:off x="493461" y="1694011"/>
            <a:ext cx="11067392" cy="1374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40"/>
              </a:spcBef>
            </a:pPr>
            <a:r>
              <a:rPr lang="en-US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16K</a:t>
            </a:r>
            <a:r>
              <a:rPr lang="zh-CN" altLang="en-US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对应</a:t>
            </a:r>
            <a:r>
              <a:rPr lang="en-US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14</a:t>
            </a:r>
            <a:r>
              <a:rPr lang="zh-CN" altLang="en-US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位，与</a:t>
            </a:r>
            <a:r>
              <a:rPr lang="en-US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CPU</a:t>
            </a:r>
            <a:r>
              <a:rPr lang="zh-CN" altLang="en-US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地址线数目相同，因此在字扩展后直接相连即可。</a:t>
            </a:r>
          </a:p>
          <a:p>
            <a:pPr algn="l">
              <a:spcBef>
                <a:spcPts val="240"/>
              </a:spcBef>
            </a:pPr>
            <a:r>
              <a:rPr lang="en-US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14</a:t>
            </a:r>
            <a:r>
              <a:rPr lang="zh-CN" altLang="en-US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位</a:t>
            </a:r>
            <a:r>
              <a:rPr lang="en-US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=12+2</a:t>
            </a:r>
            <a:r>
              <a:rPr lang="zh-CN" altLang="en-US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位，其中最高的</a:t>
            </a:r>
            <a:r>
              <a:rPr lang="en-US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位译码出</a:t>
            </a:r>
            <a:r>
              <a:rPr lang="en-US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000" kern="1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种</a:t>
            </a:r>
            <a:r>
              <a:rPr lang="zh-CN" altLang="en-US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状态即，即</a:t>
            </a:r>
            <a:r>
              <a:rPr lang="en-US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00</a:t>
            </a:r>
            <a:r>
              <a:rPr lang="zh-CN" altLang="en-US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01</a:t>
            </a:r>
            <a:r>
              <a:rPr lang="zh-CN" altLang="en-US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en-US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11</a:t>
            </a:r>
            <a:r>
              <a:rPr lang="zh-CN" altLang="en-US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，对应</a:t>
            </a:r>
            <a:r>
              <a:rPr lang="en-US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进制位</a:t>
            </a:r>
            <a:r>
              <a:rPr lang="en-US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</a:p>
          <a:p>
            <a:pPr algn="l">
              <a:spcBef>
                <a:spcPts val="240"/>
              </a:spcBef>
            </a:pPr>
            <a:r>
              <a:rPr lang="zh-CN" altLang="en-US" sz="2000" kern="1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剩余</a:t>
            </a:r>
            <a:r>
              <a:rPr lang="en-US" altLang="zh-CN" sz="2000" kern="1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  <a:r>
              <a:rPr lang="zh-CN" altLang="en-US" sz="2000" kern="1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位，从</a:t>
            </a:r>
            <a:r>
              <a:rPr lang="en-US" altLang="zh-CN" sz="2000" kern="1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000 H-FFF H</a:t>
            </a:r>
            <a:endParaRPr lang="zh-CN" altLang="zh-CN" sz="2000" kern="10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2000" kern="1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因此地址范围为</a:t>
            </a:r>
            <a:r>
              <a:rPr lang="en-US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0 000H~0 FFFH</a:t>
            </a:r>
            <a:r>
              <a:rPr lang="zh-CN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r>
              <a:rPr lang="en-US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1 000H ~1 FFFH</a:t>
            </a:r>
            <a:r>
              <a:rPr lang="zh-CN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r>
              <a:rPr lang="en-US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2 000H~2 FFFH</a:t>
            </a:r>
            <a:r>
              <a:rPr lang="zh-CN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r>
              <a:rPr lang="en-US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3 000H ~ 3 FFFH</a:t>
            </a:r>
            <a:endParaRPr lang="zh-CN" altLang="zh-CN" sz="2000" kern="10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229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5BC409F-1FC7-460D-BEC3-D8E6A3E94D9D}"/>
              </a:ext>
            </a:extLst>
          </p:cNvPr>
          <p:cNvSpPr txBox="1"/>
          <p:nvPr/>
        </p:nvSpPr>
        <p:spPr>
          <a:xfrm>
            <a:off x="770408" y="254507"/>
            <a:ext cx="10651184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40"/>
              </a:spcBef>
            </a:pPr>
            <a:r>
              <a:rPr lang="en-US" altLang="zh-CN" sz="2000" b="1" kern="1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zh-CN" altLang="zh-CN" sz="2000" b="1" kern="1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补充</a:t>
            </a:r>
            <a:r>
              <a:rPr lang="en-US" altLang="zh-CN" sz="2000" b="1" kern="1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3.37]</a:t>
            </a:r>
            <a:r>
              <a:rPr lang="en-US" altLang="zh-CN" sz="2000" b="1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以下关于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说法正确的是（ </a:t>
            </a:r>
            <a:r>
              <a:rPr lang="en-US" altLang="zh-CN" sz="2000" kern="10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zh-CN" sz="2000" kern="10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lphaUcParenR"/>
            </a:pPr>
            <a:r>
              <a:rPr lang="zh-CN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贯穿读出（</a:t>
            </a:r>
            <a:r>
              <a:rPr lang="en-US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Look Through</a:t>
            </a:r>
            <a:r>
              <a:rPr lang="zh-CN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）方式下，</a:t>
            </a:r>
            <a:r>
              <a:rPr lang="en-US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CPU</a:t>
            </a:r>
            <a:r>
              <a:rPr lang="zh-CN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得到的所有数据都是从</a:t>
            </a:r>
            <a:r>
              <a:rPr lang="en-US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中读出的</a:t>
            </a:r>
          </a:p>
          <a:p>
            <a:pPr marL="342900" lvl="0" indent="-342900" algn="l">
              <a:spcAft>
                <a:spcPts val="240"/>
              </a:spcAft>
              <a:buFont typeface="+mj-lt"/>
              <a:buAutoNum type="alphaUcParenR"/>
            </a:pPr>
            <a:r>
              <a:rPr lang="zh-CN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旁路读出（</a:t>
            </a:r>
            <a:r>
              <a:rPr lang="en-US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Look Aside</a:t>
            </a:r>
            <a:r>
              <a:rPr lang="zh-CN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）方式下，</a:t>
            </a:r>
            <a:r>
              <a:rPr lang="en-US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CPU</a:t>
            </a:r>
            <a:r>
              <a:rPr lang="zh-CN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得到的所有数据都是从</a:t>
            </a:r>
            <a:r>
              <a:rPr lang="en-US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中读出的</a:t>
            </a:r>
          </a:p>
          <a:p>
            <a:pPr marL="342900" lvl="0" indent="-342900" algn="l">
              <a:spcAft>
                <a:spcPts val="240"/>
              </a:spcAft>
              <a:buFont typeface="+mj-lt"/>
              <a:buAutoNum type="alphaUcParenR"/>
            </a:pPr>
            <a:r>
              <a:rPr lang="zh-CN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写通方式（</a:t>
            </a:r>
            <a:r>
              <a:rPr lang="en-US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Write Through</a:t>
            </a:r>
            <a:r>
              <a:rPr lang="zh-CN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）方式下，</a:t>
            </a:r>
            <a:r>
              <a:rPr lang="en-US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CPU</a:t>
            </a:r>
            <a:r>
              <a:rPr lang="zh-CN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写入存储器的数据可能不经过</a:t>
            </a:r>
            <a:r>
              <a:rPr lang="en-US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Cache</a:t>
            </a:r>
            <a:endParaRPr lang="zh-CN" altLang="zh-CN" sz="2000" kern="10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spcAft>
                <a:spcPts val="240"/>
              </a:spcAft>
              <a:buFont typeface="+mj-lt"/>
              <a:buAutoNum type="alphaUcParenR"/>
            </a:pPr>
            <a:r>
              <a:rPr lang="zh-CN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写回方式（</a:t>
            </a:r>
            <a:r>
              <a:rPr lang="en-US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Write Back</a:t>
            </a:r>
            <a:r>
              <a:rPr lang="zh-CN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）方式下，</a:t>
            </a:r>
            <a:r>
              <a:rPr lang="en-US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CPU</a:t>
            </a:r>
            <a:r>
              <a:rPr lang="zh-CN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写入存储器的数据可能不经过</a:t>
            </a:r>
            <a:r>
              <a:rPr lang="en-US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Cache</a:t>
            </a:r>
            <a:endParaRPr lang="zh-CN" altLang="zh-CN" sz="2000" kern="10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2000" kern="10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书</a:t>
            </a:r>
            <a:r>
              <a:rPr lang="en-US" altLang="zh-CN" sz="2000" kern="10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P135</a:t>
            </a:r>
            <a:r>
              <a:rPr lang="zh-CN" altLang="en-US" sz="2000" kern="10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136</a:t>
            </a:r>
            <a:r>
              <a:rPr lang="zh-CN" altLang="en-US" sz="2000" kern="10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2000" kern="100">
                <a:effectLst/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对于</a:t>
            </a:r>
            <a:r>
              <a:rPr lang="en-US" altLang="zh-CN" sz="2000" kern="100">
                <a:effectLst/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sz="2000" kern="100">
                <a:effectLst/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，如果</a:t>
            </a:r>
            <a:r>
              <a:rPr lang="en-US" altLang="zh-CN" sz="2000" kern="100">
                <a:effectLst/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zh-CN" sz="2000" kern="100">
                <a:effectLst/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未命中时，则可能直接写入主存而不经过</a:t>
            </a:r>
            <a:r>
              <a:rPr lang="en-US" altLang="zh-CN" sz="2000" kern="100">
                <a:effectLst/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Cache</a:t>
            </a:r>
            <a:endParaRPr lang="zh-CN" altLang="zh-CN" sz="2000" kern="10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7B551ED-3CE9-4496-BEEE-C069A42F4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53" y="2833765"/>
            <a:ext cx="5703494" cy="336290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41AEB5C-667E-4528-9B24-DDFC8F6A0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721437"/>
            <a:ext cx="5993347" cy="3587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9889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C999571-3FCF-4E88-97B5-719652817A3C}"/>
              </a:ext>
            </a:extLst>
          </p:cNvPr>
          <p:cNvSpPr txBox="1"/>
          <p:nvPr/>
        </p:nvSpPr>
        <p:spPr>
          <a:xfrm>
            <a:off x="575442" y="475443"/>
            <a:ext cx="6094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highlight>
                  <a:srgbClr val="FFFF00"/>
                </a:highlight>
              </a:rPr>
              <a:t>https://www.cnblogs.com/fmomos/p/18272217</a:t>
            </a:r>
            <a:endParaRPr lang="zh-CN" altLang="en-US">
              <a:highlight>
                <a:srgbClr val="FFFF00"/>
              </a:highlight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C1C2DD3-8D68-453D-80C0-F5AEBF446D77}"/>
              </a:ext>
            </a:extLst>
          </p:cNvPr>
          <p:cNvSpPr txBox="1"/>
          <p:nvPr/>
        </p:nvSpPr>
        <p:spPr>
          <a:xfrm>
            <a:off x="328974" y="1043954"/>
            <a:ext cx="11016943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0" i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CPU</a:t>
            </a:r>
            <a:r>
              <a:rPr lang="zh-CN" altLang="en-US" sz="2000" b="0" i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发来的访存请求可能是读</a:t>
            </a:r>
            <a:r>
              <a:rPr lang="en-US" altLang="zh-CN" sz="2000" b="0" i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(load</a:t>
            </a:r>
            <a:r>
              <a:rPr lang="zh-CN" altLang="en-US" sz="2000" b="0" i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类指令</a:t>
            </a:r>
            <a:r>
              <a:rPr lang="en-US" altLang="zh-CN" sz="2000" b="0" i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000" b="0" i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，也可能是写</a:t>
            </a:r>
            <a:r>
              <a:rPr lang="en-US" altLang="zh-CN" sz="2000" b="0" i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(store</a:t>
            </a:r>
            <a:r>
              <a:rPr lang="zh-CN" altLang="en-US" sz="2000" b="0" i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类指令</a:t>
            </a:r>
            <a:r>
              <a:rPr lang="en-US" altLang="zh-CN" sz="2000" b="0" i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000" b="0" i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。如果是读请求的话，判断是否命中</a:t>
            </a:r>
            <a:r>
              <a:rPr lang="en-US" altLang="zh-CN" sz="2000" b="0" i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b="0" i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。如果命中了的话，便立刻返回数据。而如果缺失了，则需要从内存读取数据。再将数据写入</a:t>
            </a:r>
            <a:r>
              <a:rPr lang="en-US" altLang="zh-CN" sz="2000" b="0" i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b="0" i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，并返回数据给</a:t>
            </a:r>
            <a:r>
              <a:rPr lang="en-US" altLang="zh-CN" sz="2000" b="0" i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CPU</a:t>
            </a:r>
            <a:r>
              <a:rPr lang="zh-CN" altLang="en-US" sz="2000" b="0" i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，这两个操作可以同时进行。如果是写请求的话，判断是否命中</a:t>
            </a:r>
            <a:r>
              <a:rPr lang="en-US" altLang="zh-CN" sz="2000" b="0" i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b="0" i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。如果缺失的话，将数据写入内存。如果命中了的话，则既需要将数据写入内存，也需要写入</a:t>
            </a:r>
            <a:r>
              <a:rPr lang="en-US" altLang="zh-CN" sz="2000" b="0" i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b="0" i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000" b="0" i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b="0" i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原本常用的数据变了，比如喜欢读一本书但是书的内容有更新）。</a:t>
            </a:r>
            <a:endParaRPr lang="en-US" altLang="zh-CN" sz="20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b="0" i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当</a:t>
            </a:r>
            <a:r>
              <a:rPr lang="en-US" altLang="zh-CN" sz="2000" b="0" i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b="0" i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写命中时，最简单的想法是将数据同时写入到</a:t>
            </a:r>
            <a:r>
              <a:rPr lang="en-US" altLang="zh-CN" sz="2000" b="0" i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b="0" i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和内存。这样保证了</a:t>
            </a:r>
            <a:r>
              <a:rPr lang="en-US" altLang="zh-CN" sz="2000" b="0" i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b="0" i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和内存中的数据都是修改后最新的数据，保持了一致性。但也导致了大量的写内存操作，因此效率非常低。而另一种想法是只写入</a:t>
            </a:r>
            <a:r>
              <a:rPr lang="en-US" altLang="zh-CN" sz="2000" b="0" i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b="0" i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，同时标记该</a:t>
            </a:r>
            <a:r>
              <a:rPr lang="en-US" altLang="zh-CN" sz="2000" b="0" i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Cacheline</a:t>
            </a:r>
            <a:r>
              <a:rPr lang="zh-CN" altLang="en-US" sz="2000" b="0" i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为已修改，等到万不得已的时候（该</a:t>
            </a:r>
            <a:r>
              <a:rPr lang="en-US" altLang="zh-CN" sz="2000" b="0" i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cacheline</a:t>
            </a:r>
            <a:r>
              <a:rPr lang="zh-CN" altLang="en-US" sz="2000" b="0" i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被替换时）再写入内存。这可以大大减少写内存的次数。这两种策略分别为写直达和写回。</a:t>
            </a:r>
            <a:endParaRPr lang="en-US" altLang="zh-CN" sz="2000" b="0" i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b="0" i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上面讨论的是写命中的情况，当写缺失时。针对是否需要将数据写入</a:t>
            </a:r>
            <a:r>
              <a:rPr lang="en-US" altLang="zh-CN" sz="2000" b="0" i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b="0" i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，可以分为写分配和写不分配。</a:t>
            </a:r>
            <a:r>
              <a:rPr lang="zh-CN" altLang="en-US" sz="2000" b="0" i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写不分配：写缺失的情况下，</a:t>
            </a:r>
            <a:r>
              <a:rPr lang="en-US" altLang="zh-CN" sz="2000" b="0" i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CPU</a:t>
            </a:r>
            <a:r>
              <a:rPr lang="zh-CN" altLang="en-US" sz="2000" b="0" i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直接将数据写入到内存中。写分配：在写缺失的情况下，同时将数据写入到</a:t>
            </a:r>
            <a:r>
              <a:rPr lang="en-US" altLang="zh-CN" sz="2000" b="0" i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b="0" i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跟内存中。</a:t>
            </a:r>
            <a:r>
              <a:rPr lang="zh-CN" altLang="en-US" sz="2000" b="0" i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写直达通常结合写不分配策略一起使用，即写缺失时，直接写入内存，而不写入</a:t>
            </a:r>
            <a:r>
              <a:rPr lang="en-US" altLang="zh-CN" sz="2000" b="0" i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b="0" i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。而写回通常结合写分配策略一起使用，即写缺失时，只写入</a:t>
            </a:r>
            <a:r>
              <a:rPr lang="en-US" altLang="zh-CN" sz="2000" b="0" i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b="0" i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，而不写入内存。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267892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62ABD81-A8B1-4C38-A43D-798AB328F4CF}"/>
              </a:ext>
            </a:extLst>
          </p:cNvPr>
          <p:cNvSpPr txBox="1"/>
          <p:nvPr/>
        </p:nvSpPr>
        <p:spPr>
          <a:xfrm>
            <a:off x="157656" y="518744"/>
            <a:ext cx="11634952" cy="4837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000" b="1" kern="1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zh-CN" altLang="zh-CN" sz="2000" b="1" kern="1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补充</a:t>
            </a:r>
            <a:r>
              <a:rPr lang="en-US" altLang="zh-CN" sz="2000" b="1" kern="1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3.38]</a:t>
            </a:r>
            <a:r>
              <a:rPr lang="en-US" altLang="zh-CN" sz="2000" b="1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假定主存地址为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32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位，按字节编址，指令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和数据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与主存之间均采用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路组相联映射方式、直写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(Write Through)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写策略和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LRU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替换算法，主存块大小为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64B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，指令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和数据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容量均为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32KB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，开始时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均为空。请回答下列向题。</a:t>
            </a:r>
            <a:endParaRPr lang="zh-CN" altLang="zh-CN" sz="2000" kern="10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spcBef>
                <a:spcPts val="240"/>
              </a:spcBef>
            </a:pP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(1)Cache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每一行中标记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(Tag)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LRU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位各占几位？是否有修改位？</a:t>
            </a:r>
            <a:endParaRPr lang="zh-CN" altLang="zh-CN" sz="2000" kern="10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spcBef>
                <a:spcPts val="240"/>
              </a:spcBef>
            </a:pP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有如下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语言程序段：</a:t>
            </a:r>
            <a:endParaRPr lang="zh-CN" altLang="zh-CN" sz="2000" kern="10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66700" algn="l">
              <a:spcBef>
                <a:spcPts val="240"/>
              </a:spcBef>
              <a:spcAft>
                <a:spcPts val="0"/>
              </a:spcAft>
            </a:pP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for(k=0; k&lt;1024; k++)  s[k]=2*s[k];</a:t>
            </a:r>
            <a:endParaRPr lang="zh-CN" altLang="zh-CN" sz="2000" kern="10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spcBef>
                <a:spcPts val="240"/>
              </a:spcBef>
            </a:pP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若数组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及变量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均为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型，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型数据占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4B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，变量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分配在寄存器中，数组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在主存中的起始地址为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0080 00C0H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，则该程序段执行过程中，访问数组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的数据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缺失次数为多少？</a:t>
            </a:r>
            <a:endParaRPr lang="en-US" altLang="zh-CN" sz="2000" kern="10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spcBef>
                <a:spcPts val="240"/>
              </a:spcBef>
            </a:pPr>
            <a:endParaRPr lang="zh-CN" altLang="zh-CN" sz="2000" kern="10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arenBoth"/>
            </a:pP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路组相连，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v=3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共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000" kern="100" baseline="300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块，故组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u+v=10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，即组数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u=6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，块大小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64B,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对应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W=6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位，</a:t>
            </a:r>
            <a:r>
              <a:rPr lang="zh-CN" altLang="en-US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因此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M=32-6=26</a:t>
            </a:r>
            <a:r>
              <a:rPr lang="zh-CN" altLang="en-US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s=</a:t>
            </a:r>
            <a:r>
              <a:rPr lang="en-US" altLang="zh-CN" sz="2000" kern="1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M-u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=26-6=20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因此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Tag</a:t>
            </a:r>
            <a:r>
              <a:rPr lang="zh-CN" altLang="en-US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对应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占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zh-CN" altLang="en-US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位，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LRU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对应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，占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位，直写策略下，每次都是同步更新，无修改位</a:t>
            </a:r>
            <a:endParaRPr lang="en-US" altLang="zh-CN" sz="2000" kern="10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just"/>
            <a:endParaRPr lang="en-US" altLang="zh-CN" sz="2000" kern="1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just"/>
            <a:r>
              <a:rPr lang="en-US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(2)1024*4B/64B=64</a:t>
            </a:r>
            <a:r>
              <a:rPr lang="zh-CN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，故访问</a:t>
            </a:r>
            <a:r>
              <a:rPr lang="en-US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64</a:t>
            </a:r>
            <a:r>
              <a:rPr lang="zh-CN" altLang="zh-CN" sz="2000" kern="10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个主存块，由于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开始时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Cache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均为空，因此每次第一次访问时均会缺失，所以缺失次数位</a:t>
            </a:r>
            <a:r>
              <a:rPr lang="en-US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64</a:t>
            </a:r>
            <a:r>
              <a:rPr lang="zh-CN" altLang="zh-CN" sz="2000" kern="10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次</a:t>
            </a:r>
            <a:endParaRPr lang="zh-CN" altLang="zh-CN" sz="2000" kern="10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55003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3FFA28D-4AC3-422F-ADC8-C7FAE6445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29" y="1200379"/>
            <a:ext cx="5664855" cy="345974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78A1B2C-6109-4A86-A9A1-28B875E53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512" y="1200379"/>
            <a:ext cx="5395481" cy="3459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5733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696D10B-EA1C-49E3-82D1-8D512A82887E}"/>
                  </a:ext>
                </a:extLst>
              </p:cNvPr>
              <p:cNvSpPr txBox="1"/>
              <p:nvPr/>
            </p:nvSpPr>
            <p:spPr>
              <a:xfrm>
                <a:off x="983768" y="223199"/>
                <a:ext cx="10600734" cy="61863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200">
                    <a:latin typeface="宋体" panose="02010600030101010101" pitchFamily="2" charset="-122"/>
                    <a:ea typeface="宋体" panose="02010600030101010101" pitchFamily="2" charset="-122"/>
                  </a:rPr>
                  <a:t>[</a:t>
                </a:r>
                <a:r>
                  <a:rPr lang="zh-CN" altLang="en-US" sz="2200">
                    <a:latin typeface="宋体" panose="02010600030101010101" pitchFamily="2" charset="-122"/>
                    <a:ea typeface="宋体" panose="02010600030101010101" pitchFamily="2" charset="-122"/>
                  </a:rPr>
                  <a:t>补充</a:t>
                </a:r>
                <a:r>
                  <a:rPr lang="en-US" altLang="zh-CN" sz="2200">
                    <a:latin typeface="宋体" panose="02010600030101010101" pitchFamily="2" charset="-122"/>
                    <a:ea typeface="宋体" panose="02010600030101010101" pitchFamily="2" charset="-122"/>
                  </a:rPr>
                  <a:t>3.39] </a:t>
                </a:r>
                <a:r>
                  <a:rPr lang="zh-CN" altLang="en-US" sz="2200">
                    <a:latin typeface="宋体" panose="02010600030101010101" pitchFamily="2" charset="-122"/>
                    <a:ea typeface="宋体" panose="02010600030101010101" pitchFamily="2" charset="-122"/>
                  </a:rPr>
                  <a:t>某计算机主存地址为</a:t>
                </a:r>
                <a:r>
                  <a:rPr lang="en-US" altLang="zh-CN" sz="2200">
                    <a:latin typeface="宋体" panose="02010600030101010101" pitchFamily="2" charset="-122"/>
                    <a:ea typeface="宋体" panose="02010600030101010101" pitchFamily="2" charset="-122"/>
                  </a:rPr>
                  <a:t>24</a:t>
                </a:r>
                <a:r>
                  <a:rPr lang="zh-CN" altLang="en-US" sz="2200">
                    <a:latin typeface="宋体" panose="02010600030101010101" pitchFamily="2" charset="-122"/>
                    <a:ea typeface="宋体" panose="02010600030101010101" pitchFamily="2" charset="-122"/>
                  </a:rPr>
                  <a:t>位，采用分页虚拟存储管理方式，虚存空间大小为</a:t>
                </a:r>
                <a:r>
                  <a:rPr lang="en-US" altLang="zh-CN" sz="2200">
                    <a:latin typeface="宋体" panose="02010600030101010101" pitchFamily="2" charset="-122"/>
                    <a:ea typeface="宋体" panose="02010600030101010101" pitchFamily="2" charset="-122"/>
                  </a:rPr>
                  <a:t>4GB</a:t>
                </a:r>
                <a:r>
                  <a:rPr lang="zh-CN" altLang="en-US" sz="2200">
                    <a:latin typeface="宋体" panose="02010600030101010101" pitchFamily="2" charset="-122"/>
                    <a:ea typeface="宋体" panose="02010600030101010101" pitchFamily="2" charset="-122"/>
                  </a:rPr>
                  <a:t>，页大小为</a:t>
                </a:r>
                <a:r>
                  <a:rPr lang="en-US" altLang="zh-CN" sz="2200">
                    <a:latin typeface="宋体" panose="02010600030101010101" pitchFamily="2" charset="-122"/>
                    <a:ea typeface="宋体" panose="02010600030101010101" pitchFamily="2" charset="-122"/>
                  </a:rPr>
                  <a:t>4KB</a:t>
                </a:r>
                <a:r>
                  <a:rPr lang="zh-CN" altLang="en-US" sz="2200">
                    <a:latin typeface="宋体" panose="02010600030101010101" pitchFamily="2" charset="-122"/>
                    <a:ea typeface="宋体" panose="02010600030101010101" pitchFamily="2" charset="-122"/>
                  </a:rPr>
                  <a:t>，按字节编址。某进程的页表部分内容如下表所示。</a:t>
                </a:r>
              </a:p>
              <a:p>
                <a:endParaRPr lang="en-US" altLang="zh-CN" sz="22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endParaRPr lang="en-US" altLang="zh-CN" sz="22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endParaRPr lang="en-US" altLang="zh-CN" sz="22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endParaRPr lang="en-US" altLang="zh-CN" sz="22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endParaRPr lang="en-US" altLang="zh-CN" sz="22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endParaRPr lang="en-US" altLang="zh-CN" sz="22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endParaRPr lang="en-US" altLang="zh-CN" sz="22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endParaRPr lang="zh-CN" altLang="en-US" sz="22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r>
                  <a:rPr lang="zh-CN" altLang="en-US" sz="2200">
                    <a:latin typeface="宋体" panose="02010600030101010101" pitchFamily="2" charset="-122"/>
                    <a:ea typeface="宋体" panose="02010600030101010101" pitchFamily="2" charset="-122"/>
                  </a:rPr>
                  <a:t>当</a:t>
                </a:r>
                <a:r>
                  <a:rPr lang="en-US" altLang="zh-CN" sz="2200">
                    <a:latin typeface="宋体" panose="02010600030101010101" pitchFamily="2" charset="-122"/>
                    <a:ea typeface="宋体" panose="02010600030101010101" pitchFamily="2" charset="-122"/>
                  </a:rPr>
                  <a:t>CPU</a:t>
                </a:r>
                <a:r>
                  <a:rPr lang="zh-CN" altLang="en-US" sz="2200">
                    <a:latin typeface="宋体" panose="02010600030101010101" pitchFamily="2" charset="-122"/>
                    <a:ea typeface="宋体" panose="02010600030101010101" pitchFamily="2" charset="-122"/>
                  </a:rPr>
                  <a:t>访问虚拟地址</a:t>
                </a:r>
                <a:r>
                  <a:rPr lang="en-US" altLang="zh-CN" sz="2200">
                    <a:latin typeface="宋体" panose="02010600030101010101" pitchFamily="2" charset="-122"/>
                    <a:ea typeface="宋体" panose="02010600030101010101" pitchFamily="2" charset="-122"/>
                  </a:rPr>
                  <a:t>0008 2840H</a:t>
                </a:r>
                <a:r>
                  <a:rPr lang="zh-CN" altLang="en-US" sz="2200">
                    <a:latin typeface="宋体" panose="02010600030101010101" pitchFamily="2" charset="-122"/>
                    <a:ea typeface="宋体" panose="02010600030101010101" pitchFamily="2" charset="-122"/>
                  </a:rPr>
                  <a:t>时，虚实地址转换的结果是。（ </a:t>
                </a:r>
                <a:r>
                  <a:rPr lang="en-US" altLang="zh-CN" sz="2200" b="1">
                    <a:solidFill>
                      <a:srgbClr val="FF0000"/>
                    </a:solidFill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C</a:t>
                </a:r>
                <a:r>
                  <a:rPr lang="en-US" altLang="zh-CN" sz="2200">
                    <a:latin typeface="宋体" panose="02010600030101010101" pitchFamily="2" charset="-122"/>
                    <a:ea typeface="宋体" panose="02010600030101010101" pitchFamily="2" charset="-122"/>
                  </a:rPr>
                  <a:t> </a:t>
                </a:r>
                <a:r>
                  <a:rPr lang="zh-CN" altLang="en-US" sz="2200">
                    <a:latin typeface="宋体" panose="02010600030101010101" pitchFamily="2" charset="-122"/>
                    <a:ea typeface="宋体" panose="02010600030101010101" pitchFamily="2" charset="-122"/>
                  </a:rPr>
                  <a:t>）</a:t>
                </a:r>
              </a:p>
              <a:p>
                <a:r>
                  <a:rPr lang="en-US" altLang="zh-CN" sz="2200">
                    <a:latin typeface="宋体" panose="02010600030101010101" pitchFamily="2" charset="-122"/>
                    <a:ea typeface="宋体" panose="02010600030101010101" pitchFamily="2" charset="-122"/>
                  </a:rPr>
                  <a:t>A)	</a:t>
                </a:r>
                <a:r>
                  <a:rPr lang="zh-CN" altLang="en-US" sz="2200">
                    <a:latin typeface="宋体" panose="02010600030101010101" pitchFamily="2" charset="-122"/>
                    <a:ea typeface="宋体" panose="02010600030101010101" pitchFamily="2" charset="-122"/>
                  </a:rPr>
                  <a:t>得到主存地址</a:t>
                </a:r>
                <a:r>
                  <a:rPr lang="en-US" altLang="zh-CN" sz="2200">
                    <a:latin typeface="宋体" panose="02010600030101010101" pitchFamily="2" charset="-122"/>
                    <a:ea typeface="宋体" panose="02010600030101010101" pitchFamily="2" charset="-122"/>
                  </a:rPr>
                  <a:t>02 4840H</a:t>
                </a:r>
              </a:p>
              <a:p>
                <a:r>
                  <a:rPr lang="en-US" altLang="zh-CN" sz="2200">
                    <a:latin typeface="宋体" panose="02010600030101010101" pitchFamily="2" charset="-122"/>
                    <a:ea typeface="宋体" panose="02010600030101010101" pitchFamily="2" charset="-122"/>
                  </a:rPr>
                  <a:t>B)	</a:t>
                </a:r>
                <a:r>
                  <a:rPr lang="zh-CN" altLang="en-US" sz="2200">
                    <a:latin typeface="宋体" panose="02010600030101010101" pitchFamily="2" charset="-122"/>
                    <a:ea typeface="宋体" panose="02010600030101010101" pitchFamily="2" charset="-122"/>
                  </a:rPr>
                  <a:t>得到主存地址</a:t>
                </a:r>
                <a:r>
                  <a:rPr lang="en-US" altLang="zh-CN" sz="2200">
                    <a:latin typeface="宋体" panose="02010600030101010101" pitchFamily="2" charset="-122"/>
                    <a:ea typeface="宋体" panose="02010600030101010101" pitchFamily="2" charset="-122"/>
                  </a:rPr>
                  <a:t>18 0840H</a:t>
                </a:r>
              </a:p>
              <a:p>
                <a:r>
                  <a:rPr lang="en-US" altLang="zh-CN" sz="2200">
                    <a:latin typeface="宋体" panose="02010600030101010101" pitchFamily="2" charset="-122"/>
                    <a:ea typeface="宋体" panose="02010600030101010101" pitchFamily="2" charset="-122"/>
                  </a:rPr>
                  <a:t>C)	</a:t>
                </a:r>
                <a:r>
                  <a:rPr lang="zh-CN" altLang="en-US" sz="2200">
                    <a:latin typeface="宋体" panose="02010600030101010101" pitchFamily="2" charset="-122"/>
                    <a:ea typeface="宋体" panose="02010600030101010101" pitchFamily="2" charset="-122"/>
                  </a:rPr>
                  <a:t>得到主存地址</a:t>
                </a:r>
                <a:r>
                  <a:rPr lang="en-US" altLang="zh-CN" sz="2200">
                    <a:latin typeface="宋体" panose="02010600030101010101" pitchFamily="2" charset="-122"/>
                    <a:ea typeface="宋体" panose="02010600030101010101" pitchFamily="2" charset="-122"/>
                  </a:rPr>
                  <a:t>01 8840H</a:t>
                </a:r>
              </a:p>
              <a:p>
                <a:r>
                  <a:rPr lang="en-US" altLang="zh-CN" sz="2200">
                    <a:latin typeface="宋体" panose="02010600030101010101" pitchFamily="2" charset="-122"/>
                    <a:ea typeface="宋体" panose="02010600030101010101" pitchFamily="2" charset="-122"/>
                  </a:rPr>
                  <a:t>D)	</a:t>
                </a:r>
                <a:r>
                  <a:rPr lang="zh-CN" altLang="en-US" sz="2200">
                    <a:latin typeface="宋体" panose="02010600030101010101" pitchFamily="2" charset="-122"/>
                    <a:ea typeface="宋体" panose="02010600030101010101" pitchFamily="2" charset="-122"/>
                  </a:rPr>
                  <a:t>检测到缺页异常</a:t>
                </a:r>
              </a:p>
              <a:p>
                <a:r>
                  <a:rPr lang="zh-CN" altLang="en-US" sz="22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虚拟地址有虚页号</a:t>
                </a:r>
                <a:r>
                  <a:rPr lang="en-US" altLang="zh-CN" sz="22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P</a:t>
                </a:r>
                <a:r>
                  <a:rPr lang="zh-CN" altLang="en-US" sz="22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和页内偏移地址</a:t>
                </a:r>
                <a:r>
                  <a:rPr lang="en-US" altLang="zh-CN" sz="22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D</a:t>
                </a:r>
                <a:r>
                  <a:rPr lang="zh-CN" altLang="en-US" sz="22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组成。虚拟地址一共</a:t>
                </a:r>
                <a:r>
                  <a:rPr lang="en-US" altLang="zh-CN" sz="22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32</a:t>
                </a:r>
                <a:r>
                  <a:rPr lang="zh-CN" altLang="en-US" sz="22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位，页大小位</a:t>
                </a:r>
                <a:r>
                  <a:rPr lang="en-US" altLang="zh-CN" sz="22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4KB=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pPr>
                      <m:e>
                        <m:r>
                          <a:rPr lang="en-US" altLang="zh-CN" sz="22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e>
                      <m:sup>
                        <m:r>
                          <a:rPr lang="en-US" altLang="zh-CN" sz="22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12</m:t>
                        </m:r>
                      </m:sup>
                    </m:sSup>
                  </m:oMath>
                </a14:m>
                <a:r>
                  <a:rPr lang="en-US" altLang="zh-CN" sz="22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,</a:t>
                </a:r>
                <a:r>
                  <a:rPr lang="zh-CN" altLang="en-US" sz="22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对应</a:t>
                </a:r>
                <a:r>
                  <a:rPr lang="en-US" altLang="zh-CN" sz="22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12</a:t>
                </a:r>
                <a:r>
                  <a:rPr lang="zh-CN" altLang="en-US" sz="22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位，因此偏移占</a:t>
                </a:r>
                <a:r>
                  <a:rPr lang="en-US" altLang="zh-CN" sz="22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12</a:t>
                </a:r>
                <a:r>
                  <a:rPr lang="zh-CN" altLang="en-US" sz="22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位，</a:t>
                </a:r>
                <a:r>
                  <a:rPr lang="en-US" altLang="zh-CN" sz="22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16</a:t>
                </a:r>
                <a:r>
                  <a:rPr lang="zh-CN" altLang="en-US" sz="22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进制下对应</a:t>
                </a:r>
                <a:r>
                  <a:rPr lang="en-US" altLang="zh-CN" sz="22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12/4=3</a:t>
                </a:r>
                <a:r>
                  <a:rPr lang="zh-CN" altLang="en-US" sz="22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位，所以偏移量</a:t>
                </a:r>
                <a:r>
                  <a:rPr lang="en-US" altLang="zh-CN" sz="22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D</a:t>
                </a:r>
                <a:r>
                  <a:rPr lang="zh-CN" altLang="en-US" sz="22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为</a:t>
                </a:r>
                <a:r>
                  <a:rPr lang="en-US" altLang="zh-CN" sz="22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840</a:t>
                </a:r>
                <a:r>
                  <a:rPr lang="zh-CN" altLang="en-US" sz="22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，虚页号</a:t>
                </a:r>
                <a:r>
                  <a:rPr lang="en-US" altLang="zh-CN" sz="22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P</a:t>
                </a:r>
                <a:r>
                  <a:rPr lang="zh-CN" altLang="en-US" sz="22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为</a:t>
                </a:r>
                <a:r>
                  <a:rPr lang="en-US" altLang="zh-CN" sz="22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00082</a:t>
                </a:r>
                <a:r>
                  <a:rPr lang="zh-CN" altLang="en-US" sz="22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。</a:t>
                </a:r>
                <a:r>
                  <a:rPr lang="en-US" altLang="zh-CN" sz="22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P</a:t>
                </a:r>
                <a:r>
                  <a:rPr lang="zh-CN" altLang="en-US" sz="22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对应</a:t>
                </a:r>
                <a:r>
                  <a:rPr lang="en-US" altLang="zh-CN" sz="22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10</a:t>
                </a:r>
                <a:r>
                  <a:rPr lang="zh-CN" altLang="en-US" sz="22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进制</a:t>
                </a:r>
                <a:r>
                  <a:rPr lang="en-US" altLang="zh-CN" sz="22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16*8+2=130,</a:t>
                </a:r>
                <a:r>
                  <a:rPr lang="zh-CN" altLang="en-US" sz="22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因此实页号对应</a:t>
                </a:r>
                <a:r>
                  <a:rPr lang="en-US" altLang="zh-CN" sz="22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018</a:t>
                </a:r>
                <a:r>
                  <a:rPr lang="zh-CN" altLang="en-US" sz="22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，故实地址为</a:t>
                </a:r>
                <a:r>
                  <a:rPr lang="en-US" altLang="zh-CN" sz="220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01 8840H</a:t>
                </a:r>
              </a:p>
            </p:txBody>
          </p:sp>
        </mc:Choice>
        <mc:Fallback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696D10B-EA1C-49E3-82D1-8D512A828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768" y="223199"/>
                <a:ext cx="10600734" cy="6186309"/>
              </a:xfrm>
              <a:prstGeom prst="rect">
                <a:avLst/>
              </a:prstGeom>
              <a:blipFill>
                <a:blip r:embed="rId2"/>
                <a:stretch>
                  <a:fillRect l="-748" t="-789" b="-9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表格 13">
            <a:extLst>
              <a:ext uri="{FF2B5EF4-FFF2-40B4-BE49-F238E27FC236}">
                <a16:creationId xmlns:a16="http://schemas.microsoft.com/office/drawing/2014/main" id="{169A29F4-B320-4B0D-A079-025DC2DC7E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7877908"/>
              </p:ext>
            </p:extLst>
          </p:nvPr>
        </p:nvGraphicFramePr>
        <p:xfrm>
          <a:off x="3184633" y="1182753"/>
          <a:ext cx="6716112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8704">
                  <a:extLst>
                    <a:ext uri="{9D8B030D-6E8A-4147-A177-3AD203B41FA5}">
                      <a16:colId xmlns:a16="http://schemas.microsoft.com/office/drawing/2014/main" val="2000375602"/>
                    </a:ext>
                  </a:extLst>
                </a:gridCol>
                <a:gridCol w="2238704">
                  <a:extLst>
                    <a:ext uri="{9D8B030D-6E8A-4147-A177-3AD203B41FA5}">
                      <a16:colId xmlns:a16="http://schemas.microsoft.com/office/drawing/2014/main" val="2023268988"/>
                    </a:ext>
                  </a:extLst>
                </a:gridCol>
                <a:gridCol w="2238704">
                  <a:extLst>
                    <a:ext uri="{9D8B030D-6E8A-4147-A177-3AD203B41FA5}">
                      <a16:colId xmlns:a16="http://schemas.microsoft.com/office/drawing/2014/main" val="3893840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2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虚页号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实页号（页框号）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存在位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9984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82</a:t>
                      </a:r>
                      <a:endParaRPr lang="zh-CN" altLang="en-US" sz="22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024H</a:t>
                      </a:r>
                      <a:endParaRPr lang="zh-CN" altLang="en-US" sz="22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lang="zh-CN" altLang="en-US" sz="22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0989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…</a:t>
                      </a:r>
                      <a:endParaRPr lang="zh-CN" altLang="en-US" sz="22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…</a:t>
                      </a:r>
                      <a:endParaRPr lang="zh-CN" altLang="en-US" sz="22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…</a:t>
                      </a:r>
                      <a:endParaRPr lang="zh-CN" altLang="en-US" sz="22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8884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129</a:t>
                      </a:r>
                      <a:endParaRPr lang="zh-CN" altLang="en-US" sz="22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180H</a:t>
                      </a:r>
                      <a:endParaRPr lang="zh-CN" altLang="en-US" sz="22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zh-CN" altLang="en-US" sz="22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3757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130</a:t>
                      </a:r>
                      <a:endParaRPr lang="zh-CN" altLang="en-US" sz="22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018H</a:t>
                      </a:r>
                      <a:endParaRPr lang="zh-CN" altLang="en-US" sz="22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2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zh-CN" altLang="en-US" sz="22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469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4578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3549</Words>
  <Application>Microsoft Office PowerPoint</Application>
  <PresentationFormat>宽屏</PresentationFormat>
  <Paragraphs>211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3" baseType="lpstr">
      <vt:lpstr>等线</vt:lpstr>
      <vt:lpstr>等线 Light</vt:lpstr>
      <vt:lpstr>宋体</vt:lpstr>
      <vt:lpstr>微软雅黑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lali he</dc:creator>
  <cp:lastModifiedBy>lali he</cp:lastModifiedBy>
  <cp:revision>31</cp:revision>
  <dcterms:created xsi:type="dcterms:W3CDTF">2025-06-04T06:19:27Z</dcterms:created>
  <dcterms:modified xsi:type="dcterms:W3CDTF">2025-06-04T11:58:17Z</dcterms:modified>
</cp:coreProperties>
</file>