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012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27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7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192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91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64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12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08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18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155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649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F81FF-8A22-4622-9E27-0AE9EC12E29E}" type="datetimeFigureOut">
              <a:rPr lang="zh-CN" altLang="en-US" smtClean="0"/>
              <a:t>2025-06-04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19422-5E06-4D33-8735-348EB0156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78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第四章总线和接口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501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4.2 	</a:t>
            </a:r>
            <a:r>
              <a:rPr lang="zh-CN" altLang="zh-CN" sz="3600" dirty="0"/>
              <a:t>举例说明何为总线复用？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解析：</a:t>
            </a:r>
            <a:r>
              <a:rPr lang="zh-CN" altLang="zh-CN" dirty="0" smtClean="0"/>
              <a:t>一</a:t>
            </a:r>
            <a:r>
              <a:rPr lang="zh-CN" altLang="zh-CN" dirty="0"/>
              <a:t>条或一套物理信号线在不同时间用作不同功能。</a:t>
            </a:r>
          </a:p>
          <a:p>
            <a:r>
              <a:rPr lang="zh-CN" altLang="zh-CN" dirty="0"/>
              <a:t>例如，第</a:t>
            </a:r>
            <a:r>
              <a:rPr lang="en-US" altLang="zh-CN" dirty="0"/>
              <a:t>3</a:t>
            </a:r>
            <a:r>
              <a:rPr lang="zh-CN" altLang="zh-CN" dirty="0"/>
              <a:t>章</a:t>
            </a:r>
            <a:r>
              <a:rPr lang="en-US" altLang="zh-CN" dirty="0"/>
              <a:t>DRAM</a:t>
            </a:r>
            <a:r>
              <a:rPr lang="zh-CN" altLang="zh-CN" dirty="0"/>
              <a:t>芯片</a:t>
            </a:r>
            <a:r>
              <a:rPr lang="en-US" altLang="zh-CN" dirty="0"/>
              <a:t>Intel 2164A</a:t>
            </a:r>
            <a:r>
              <a:rPr lang="zh-CN" altLang="zh-CN" dirty="0"/>
              <a:t>，行地址</a:t>
            </a:r>
            <a:r>
              <a:rPr lang="en-US" altLang="zh-CN" dirty="0"/>
              <a:t>A7~A0</a:t>
            </a:r>
            <a:r>
              <a:rPr lang="zh-CN" altLang="zh-CN" dirty="0"/>
              <a:t>和列地址</a:t>
            </a:r>
            <a:r>
              <a:rPr lang="en-US" altLang="zh-CN" dirty="0"/>
              <a:t>A15~A8</a:t>
            </a:r>
            <a:r>
              <a:rPr lang="zh-CN" altLang="zh-CN" dirty="0"/>
              <a:t>，分时复用。</a:t>
            </a:r>
          </a:p>
          <a:p>
            <a:r>
              <a:rPr lang="zh-CN" altLang="zh-CN" dirty="0"/>
              <a:t>再如，</a:t>
            </a:r>
            <a:r>
              <a:rPr lang="en-US" altLang="zh-CN" dirty="0"/>
              <a:t>8086</a:t>
            </a:r>
            <a:r>
              <a:rPr lang="zh-CN" altLang="zh-CN" dirty="0"/>
              <a:t>的</a:t>
            </a:r>
            <a:r>
              <a:rPr lang="en-US" altLang="zh-CN" dirty="0"/>
              <a:t>16</a:t>
            </a:r>
            <a:r>
              <a:rPr lang="zh-CN" altLang="zh-CN" dirty="0"/>
              <a:t>根数据线和低</a:t>
            </a:r>
            <a:r>
              <a:rPr lang="en-US" altLang="zh-CN" dirty="0"/>
              <a:t>16</a:t>
            </a:r>
            <a:r>
              <a:rPr lang="zh-CN" altLang="zh-CN" dirty="0"/>
              <a:t>位的地址总线复用。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276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16" y="3967586"/>
            <a:ext cx="7893709" cy="26575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321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4.5</a:t>
            </a:r>
            <a:r>
              <a:rPr lang="zh-CN" altLang="zh-CN" sz="2800" dirty="0"/>
              <a:t>请给出典型的</a:t>
            </a:r>
            <a:r>
              <a:rPr lang="en-US" altLang="zh-CN" sz="2800" dirty="0"/>
              <a:t>PC</a:t>
            </a:r>
            <a:r>
              <a:rPr lang="zh-CN" altLang="zh-CN" sz="2800" dirty="0"/>
              <a:t>总线示意图和典型基于</a:t>
            </a:r>
            <a:r>
              <a:rPr lang="en-US" altLang="zh-CN" sz="2800" dirty="0"/>
              <a:t>AMBA2</a:t>
            </a:r>
            <a:r>
              <a:rPr lang="zh-CN" altLang="zh-CN" sz="2800" dirty="0"/>
              <a:t>的</a:t>
            </a:r>
            <a:r>
              <a:rPr lang="en-US" altLang="zh-CN" sz="2800" dirty="0"/>
              <a:t>MCU</a:t>
            </a:r>
            <a:r>
              <a:rPr lang="zh-CN" altLang="zh-CN" sz="2800" dirty="0"/>
              <a:t>系统的总线示意图。 </a:t>
            </a:r>
            <a:br>
              <a:rPr lang="zh-CN" altLang="zh-CN" sz="2800" dirty="0"/>
            </a:br>
            <a:endParaRPr lang="zh-CN" altLang="en-US" sz="28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7097" y="1337005"/>
            <a:ext cx="96297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4.8 	</a:t>
            </a:r>
            <a:r>
              <a:rPr lang="zh-CN" altLang="zh-CN" dirty="0"/>
              <a:t>计算机系统什么情况下需要总线仲裁（</a:t>
            </a:r>
            <a:r>
              <a:rPr lang="en-US" altLang="zh-CN" dirty="0"/>
              <a:t>arbitration</a:t>
            </a:r>
            <a:r>
              <a:rPr lang="zh-CN" altLang="zh-CN" dirty="0"/>
              <a:t>）？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3309" y="1373390"/>
            <a:ext cx="10515600" cy="1221769"/>
          </a:xfrm>
        </p:spPr>
        <p:txBody>
          <a:bodyPr/>
          <a:lstStyle/>
          <a:p>
            <a:r>
              <a:rPr lang="zh-CN" altLang="zh-CN" dirty="0"/>
              <a:t>当多个主设备同时申请总线时，需要判定哪个主设备能优先使用总线，这时需要总线仲裁。</a:t>
            </a: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838200" y="34763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4.13 	</a:t>
            </a:r>
            <a:r>
              <a:rPr lang="zh-CN" altLang="zh-CN" dirty="0"/>
              <a:t>异步总线有哪些可能的握手方式？</a:t>
            </a:r>
          </a:p>
          <a:p>
            <a:r>
              <a:rPr lang="zh-CN" altLang="zh-CN" dirty="0" smtClean="0"/>
              <a:t/>
            </a:r>
            <a:br>
              <a:rPr lang="zh-CN" altLang="zh-CN" dirty="0" smtClean="0"/>
            </a:b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838200" y="4646013"/>
            <a:ext cx="10515600" cy="211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不互锁方式 半互锁方式 全互锁</a:t>
            </a:r>
            <a:r>
              <a:rPr lang="zh-CN" altLang="zh-CN" dirty="0" smtClean="0"/>
              <a:t>方式。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63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4.15 </a:t>
            </a:r>
            <a:r>
              <a:rPr lang="zh-CN" altLang="zh-CN" sz="3600" dirty="0" smtClean="0"/>
              <a:t>周期</a:t>
            </a:r>
            <a:r>
              <a:rPr lang="zh-CN" altLang="zh-CN" sz="3600" dirty="0"/>
              <a:t>分裂式总线操作时序有哪些特点？适用于什么样的场景？</a:t>
            </a:r>
            <a:br>
              <a:rPr lang="zh-CN" altLang="zh-CN" sz="3600" dirty="0"/>
            </a:b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76700"/>
          </a:xfrm>
        </p:spPr>
        <p:txBody>
          <a:bodyPr>
            <a:normAutofit/>
          </a:bodyPr>
          <a:lstStyle/>
          <a:p>
            <a:r>
              <a:rPr lang="zh-CN" altLang="zh-CN" dirty="0"/>
              <a:t>特点：将一个总线读周期或写周期分解成两个分离的子周期：寻址子周期</a:t>
            </a:r>
            <a:r>
              <a:rPr lang="zh-CN" altLang="zh-CN" dirty="0" smtClean="0"/>
              <a:t>，数据</a:t>
            </a:r>
            <a:r>
              <a:rPr lang="zh-CN" altLang="zh-CN" dirty="0"/>
              <a:t>传送子周期。</a:t>
            </a:r>
          </a:p>
          <a:p>
            <a:r>
              <a:rPr lang="zh-CN" altLang="zh-CN" dirty="0"/>
              <a:t>适用场景：多主模块系统，从模块不能随时及时响应。</a:t>
            </a:r>
          </a:p>
          <a:p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838200" y="3637263"/>
            <a:ext cx="10515600" cy="1228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4.19 </a:t>
            </a:r>
            <a:r>
              <a:rPr lang="zh-CN" altLang="zh-CN" sz="3600" dirty="0" smtClean="0"/>
              <a:t>为什么</a:t>
            </a:r>
            <a:r>
              <a:rPr lang="en-US" altLang="zh-CN" sz="3600" dirty="0"/>
              <a:t>AMBA</a:t>
            </a:r>
            <a:r>
              <a:rPr lang="zh-CN" altLang="zh-CN" sz="3600" dirty="0"/>
              <a:t>总线中没有定义电气特性和机械特性？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05928" y="4988525"/>
            <a:ext cx="10515600" cy="1676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AMBA</a:t>
            </a:r>
            <a:r>
              <a:rPr lang="zh-CN" altLang="zh-CN" dirty="0"/>
              <a:t>是片内总线，是一种与工艺无关的片上协议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930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4.21 	</a:t>
            </a:r>
            <a:r>
              <a:rPr lang="zh-CN" altLang="zh-CN" sz="3600" dirty="0"/>
              <a:t>简述</a:t>
            </a:r>
            <a:r>
              <a:rPr lang="en-US" altLang="zh-CN" sz="3600" dirty="0"/>
              <a:t>AHB</a:t>
            </a:r>
            <a:r>
              <a:rPr lang="zh-CN" altLang="zh-CN" sz="3600" dirty="0"/>
              <a:t>总线的流水线机制。</a:t>
            </a:r>
            <a:br>
              <a:rPr lang="zh-CN" altLang="zh-CN" sz="3600" dirty="0"/>
            </a:br>
            <a:r>
              <a:rPr lang="zh-CN" altLang="zh-CN" sz="3600" dirty="0"/>
              <a:t/>
            </a:r>
            <a:br>
              <a:rPr lang="zh-CN" altLang="zh-CN" sz="3600" dirty="0"/>
            </a:b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75564"/>
            <a:ext cx="10515600" cy="1025764"/>
          </a:xfrm>
        </p:spPr>
        <p:txBody>
          <a:bodyPr>
            <a:normAutofit/>
          </a:bodyPr>
          <a:lstStyle/>
          <a:p>
            <a:r>
              <a:rPr lang="zh-CN" altLang="zh-CN" dirty="0"/>
              <a:t>本次数据传输操作的地址阶段和上次操作的数据阶段重复。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05928" y="2301127"/>
            <a:ext cx="10515600" cy="1228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4.22 	</a:t>
            </a:r>
            <a:r>
              <a:rPr lang="zh-CN" altLang="zh-CN" sz="3600" dirty="0"/>
              <a:t>定性分析</a:t>
            </a:r>
            <a:r>
              <a:rPr lang="en-US" altLang="zh-CN" sz="3600" dirty="0"/>
              <a:t>AHB</a:t>
            </a:r>
            <a:r>
              <a:rPr lang="zh-CN" altLang="zh-CN" sz="3600" dirty="0"/>
              <a:t>中</a:t>
            </a:r>
            <a:r>
              <a:rPr lang="en-US" altLang="zh-CN" sz="3600" dirty="0"/>
              <a:t>SPLIT</a:t>
            </a:r>
            <a:r>
              <a:rPr lang="zh-CN" altLang="zh-CN" sz="3600" dirty="0"/>
              <a:t>操作的优点。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05928" y="3642804"/>
            <a:ext cx="10515600" cy="1676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从机不能响应时，可以把总线的使用权让给其他主机。这样做支持多个主机同时访问</a:t>
            </a:r>
            <a:r>
              <a:rPr lang="en-US" altLang="zh-CN" dirty="0"/>
              <a:t>AHB</a:t>
            </a:r>
            <a:r>
              <a:rPr lang="zh-CN" altLang="zh-CN" dirty="0"/>
              <a:t>总线，降低总线冲突的发生。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674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03479"/>
            <a:ext cx="10515600" cy="54927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4.23 	</a:t>
            </a:r>
            <a:r>
              <a:rPr lang="zh-CN" altLang="zh-CN" sz="3600" dirty="0"/>
              <a:t>解释图</a:t>
            </a:r>
            <a:r>
              <a:rPr lang="en-US" altLang="zh-CN" sz="3600" dirty="0"/>
              <a:t> 4.21</a:t>
            </a:r>
            <a:r>
              <a:rPr lang="zh-CN" altLang="zh-CN" sz="3600" dirty="0"/>
              <a:t>中</a:t>
            </a:r>
            <a:r>
              <a:rPr lang="en-US" altLang="zh-CN" sz="3600" dirty="0"/>
              <a:t>HREADY</a:t>
            </a:r>
            <a:r>
              <a:rPr lang="zh-CN" altLang="zh-CN" sz="3600" dirty="0"/>
              <a:t>信号的作用</a:t>
            </a:r>
            <a:r>
              <a:rPr lang="zh-CN" altLang="zh-CN" sz="3600" dirty="0" smtClean="0"/>
              <a:t>。</a:t>
            </a:r>
            <a:r>
              <a:rPr lang="zh-CN" altLang="zh-CN" sz="3600" dirty="0"/>
              <a:t/>
            </a:r>
            <a:br>
              <a:rPr lang="zh-CN" altLang="zh-CN" sz="3600" dirty="0"/>
            </a:br>
            <a:r>
              <a:rPr lang="zh-CN" altLang="zh-CN" sz="3600" dirty="0"/>
              <a:t/>
            </a:r>
            <a:br>
              <a:rPr lang="zh-CN" altLang="zh-CN" sz="3600" dirty="0"/>
            </a:b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5998"/>
            <a:ext cx="10515600" cy="1025764"/>
          </a:xfrm>
        </p:spPr>
        <p:txBody>
          <a:bodyPr>
            <a:normAutofit/>
          </a:bodyPr>
          <a:lstStyle/>
          <a:p>
            <a:r>
              <a:rPr lang="en-US" altLang="zh-CN" dirty="0"/>
              <a:t>HREADY </a:t>
            </a:r>
            <a:r>
              <a:rPr lang="zh-CN" altLang="zh-CN" dirty="0"/>
              <a:t>用于插入等待周期</a:t>
            </a:r>
            <a:r>
              <a:rPr lang="en-US" altLang="zh-CN" dirty="0"/>
              <a:t>, </a:t>
            </a:r>
            <a:r>
              <a:rPr lang="zh-CN" altLang="zh-CN" dirty="0"/>
              <a:t>当</a:t>
            </a:r>
            <a:r>
              <a:rPr lang="en-US" altLang="zh-CN" dirty="0"/>
              <a:t>HREADY </a:t>
            </a:r>
            <a:r>
              <a:rPr lang="zh-CN" altLang="zh-CN" dirty="0"/>
              <a:t>为低电平时</a:t>
            </a:r>
            <a:r>
              <a:rPr lang="en-US" altLang="zh-CN" dirty="0"/>
              <a:t>, </a:t>
            </a:r>
            <a:r>
              <a:rPr lang="zh-CN" altLang="zh-CN" dirty="0"/>
              <a:t>数据和地址的传输暂停</a:t>
            </a:r>
            <a:r>
              <a:rPr lang="en-US" altLang="zh-CN" dirty="0"/>
              <a:t>, </a:t>
            </a:r>
            <a:r>
              <a:rPr lang="zh-CN" altLang="zh-CN" dirty="0"/>
              <a:t>为从机准备数据提供时间</a:t>
            </a:r>
            <a:r>
              <a:rPr lang="en-US" altLang="zh-CN" dirty="0"/>
              <a:t>, </a:t>
            </a:r>
            <a:r>
              <a:rPr lang="zh-CN" altLang="zh-CN" dirty="0"/>
              <a:t>恢复高电平后传输继续。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90" y="2731069"/>
            <a:ext cx="9418608" cy="354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1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36203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4.25 	AHB</a:t>
            </a:r>
            <a:r>
              <a:rPr lang="zh-CN" altLang="zh-CN" sz="3600" dirty="0"/>
              <a:t>中突发传输定义了哪些类型？各自有什么特点？</a:t>
            </a:r>
            <a:br>
              <a:rPr lang="zh-CN" altLang="zh-CN" sz="3600" dirty="0"/>
            </a:br>
            <a:r>
              <a:rPr lang="zh-CN" altLang="zh-CN" sz="3600" dirty="0"/>
              <a:t/>
            </a:r>
            <a:br>
              <a:rPr lang="zh-CN" altLang="zh-CN" sz="3600" dirty="0"/>
            </a:b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5713"/>
            <a:ext cx="10515600" cy="2045238"/>
          </a:xfrm>
        </p:spPr>
        <p:txBody>
          <a:bodyPr>
            <a:normAutofit/>
          </a:bodyPr>
          <a:lstStyle/>
          <a:p>
            <a:pPr lvl="0"/>
            <a:r>
              <a:rPr lang="zh-CN" altLang="zh-CN" dirty="0"/>
              <a:t>单次传输，每次传输单个数据</a:t>
            </a:r>
          </a:p>
          <a:p>
            <a:pPr lvl="0"/>
            <a:r>
              <a:rPr lang="zh-CN" altLang="zh-CN" dirty="0"/>
              <a:t>不确定长度传输，地址顺序递增</a:t>
            </a:r>
          </a:p>
          <a:p>
            <a:pPr lvl="0"/>
            <a:r>
              <a:rPr lang="zh-CN" altLang="zh-CN" dirty="0"/>
              <a:t>指定长度的地址顺序递增式传输</a:t>
            </a:r>
          </a:p>
          <a:p>
            <a:pPr lvl="0"/>
            <a:r>
              <a:rPr lang="zh-CN" altLang="zh-CN" dirty="0"/>
              <a:t>指定长度的地址循环递增式传输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14554" y="3449938"/>
            <a:ext cx="10515600" cy="1228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4.30 	</a:t>
            </a:r>
            <a:r>
              <a:rPr lang="en-US" altLang="zh-CN" sz="3600" dirty="0" err="1"/>
              <a:t>PCIe</a:t>
            </a:r>
            <a:r>
              <a:rPr lang="en-US" altLang="zh-CN" sz="3600" dirty="0"/>
              <a:t> 5.0</a:t>
            </a:r>
            <a:r>
              <a:rPr lang="zh-CN" altLang="zh-CN" sz="3600" dirty="0"/>
              <a:t>版本中</a:t>
            </a:r>
            <a:r>
              <a:rPr lang="en-US" altLang="zh-CN" sz="3600" dirty="0"/>
              <a:t>X16</a:t>
            </a:r>
            <a:r>
              <a:rPr lang="zh-CN" altLang="zh-CN" sz="3600" dirty="0"/>
              <a:t>的吞吐量</a:t>
            </a:r>
            <a:r>
              <a:rPr lang="en-US" altLang="zh-CN" sz="3600" dirty="0"/>
              <a:t>63.0 GB/s</a:t>
            </a:r>
            <a:r>
              <a:rPr lang="zh-CN" altLang="zh-CN" sz="3600" dirty="0"/>
              <a:t>是如何计算得到的？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36917" y="4677974"/>
            <a:ext cx="10515600" cy="1676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32.0 GT/s * 16 * (128b/130b) / 8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1444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421255" y="292670"/>
            <a:ext cx="10515600" cy="1228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4.30 	</a:t>
            </a:r>
            <a:r>
              <a:rPr lang="en-US" altLang="zh-CN" sz="3600" dirty="0" err="1"/>
              <a:t>PCIe</a:t>
            </a:r>
            <a:r>
              <a:rPr lang="en-US" altLang="zh-CN" sz="3600" dirty="0"/>
              <a:t> 5.0</a:t>
            </a:r>
            <a:r>
              <a:rPr lang="zh-CN" altLang="zh-CN" sz="3600" dirty="0"/>
              <a:t>版本中</a:t>
            </a:r>
            <a:r>
              <a:rPr lang="en-US" altLang="zh-CN" sz="3600" dirty="0"/>
              <a:t>X16</a:t>
            </a:r>
            <a:r>
              <a:rPr lang="zh-CN" altLang="zh-CN" sz="3600" dirty="0"/>
              <a:t>的吞吐量</a:t>
            </a:r>
            <a:r>
              <a:rPr lang="en-US" altLang="zh-CN" sz="3600" dirty="0"/>
              <a:t>63.0 GB/s</a:t>
            </a:r>
            <a:r>
              <a:rPr lang="zh-CN" altLang="zh-CN" sz="3600" dirty="0"/>
              <a:t>是如何计算得到的？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21255" y="1520706"/>
            <a:ext cx="10515600" cy="644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32.0 GT/s * 16 * (128b/130b) / 8</a:t>
            </a:r>
            <a:endParaRPr lang="zh-CN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46" y="2165230"/>
            <a:ext cx="5746450" cy="19446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120" y="2165229"/>
            <a:ext cx="4994695" cy="188055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46" y="4690311"/>
            <a:ext cx="78200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3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421255" y="292670"/>
            <a:ext cx="10515600" cy="1228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4.35 	</a:t>
            </a:r>
            <a:r>
              <a:rPr lang="zh-CN" altLang="zh-CN" sz="3600" dirty="0"/>
              <a:t>异步串行通信中的起始位和停止位有什么作用？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21255" y="1425815"/>
            <a:ext cx="10515600" cy="644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标识传输的开始和结束。</a:t>
            </a: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421255" y="1960444"/>
            <a:ext cx="10515600" cy="1386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4.41 	CPU</a:t>
            </a:r>
            <a:r>
              <a:rPr lang="zh-CN" altLang="zh-CN" sz="3200" dirty="0"/>
              <a:t>与</a:t>
            </a:r>
            <a:r>
              <a:rPr lang="en-US" altLang="zh-CN" sz="3200" dirty="0"/>
              <a:t>I/O</a:t>
            </a:r>
            <a:r>
              <a:rPr lang="zh-CN" altLang="zh-CN" sz="3200" dirty="0"/>
              <a:t>设备之间的数据传送有哪几种方式？每种工作方式的特点是什么？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306236" y="3364303"/>
            <a:ext cx="10515600" cy="4037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000" dirty="0"/>
              <a:t>无条件传送方式、状态查询传送方式、中断传送方式和</a:t>
            </a:r>
            <a:r>
              <a:rPr lang="en-US" altLang="zh-CN" sz="2000" dirty="0"/>
              <a:t>DMA</a:t>
            </a:r>
            <a:r>
              <a:rPr lang="zh-CN" altLang="zh-CN" sz="2000" dirty="0"/>
              <a:t>传送方式。</a:t>
            </a:r>
          </a:p>
          <a:p>
            <a:pPr lvl="0"/>
            <a:r>
              <a:rPr lang="zh-CN" altLang="zh-CN" sz="2000" dirty="0"/>
              <a:t>无条件传送方式：外设工作时始终处于“准备好”的状态，</a:t>
            </a:r>
            <a:r>
              <a:rPr lang="en-US" altLang="zh-CN" sz="2000" dirty="0"/>
              <a:t>CPU</a:t>
            </a:r>
            <a:r>
              <a:rPr lang="zh-CN" altLang="zh-CN" sz="2000" dirty="0"/>
              <a:t>对无条件外设进行输入输出操作时不需要考虑其状态。 </a:t>
            </a:r>
          </a:p>
          <a:p>
            <a:pPr lvl="0"/>
            <a:r>
              <a:rPr lang="zh-CN" altLang="zh-CN" sz="2000" dirty="0"/>
              <a:t>状态查询传送方式：</a:t>
            </a:r>
            <a:r>
              <a:rPr lang="en-US" altLang="zh-CN" sz="2000" dirty="0"/>
              <a:t>CPU</a:t>
            </a:r>
            <a:r>
              <a:rPr lang="zh-CN" altLang="zh-CN" sz="2000" dirty="0"/>
              <a:t>访问数据端口前，先查询该设备的状态；设备“准备好”时，</a:t>
            </a:r>
            <a:r>
              <a:rPr lang="en-US" altLang="zh-CN" sz="2000" dirty="0"/>
              <a:t>CPU</a:t>
            </a:r>
            <a:r>
              <a:rPr lang="zh-CN" altLang="zh-CN" sz="2000" dirty="0"/>
              <a:t>才对数据端口进行输入</a:t>
            </a:r>
            <a:r>
              <a:rPr lang="en-US" altLang="zh-CN" sz="2000" dirty="0"/>
              <a:t>/</a:t>
            </a:r>
            <a:r>
              <a:rPr lang="zh-CN" altLang="zh-CN" sz="2000" dirty="0"/>
              <a:t>输出。 </a:t>
            </a:r>
          </a:p>
          <a:p>
            <a:pPr lvl="0"/>
            <a:r>
              <a:rPr lang="zh-CN" altLang="zh-CN" sz="2000" dirty="0"/>
              <a:t>中断传送方式：在中断传输方式中，平时</a:t>
            </a:r>
            <a:r>
              <a:rPr lang="en-US" altLang="zh-CN" sz="2000" dirty="0"/>
              <a:t>CPU</a:t>
            </a:r>
            <a:r>
              <a:rPr lang="zh-CN" altLang="zh-CN" sz="2000" dirty="0"/>
              <a:t>执行正常的处理任务，当外设状态改变或者需要与</a:t>
            </a:r>
            <a:r>
              <a:rPr lang="en-US" altLang="zh-CN" sz="2000" dirty="0"/>
              <a:t>CPU</a:t>
            </a:r>
            <a:r>
              <a:rPr lang="zh-CN" altLang="zh-CN" sz="2000" dirty="0"/>
              <a:t>进行数据交换时，由</a:t>
            </a:r>
            <a:r>
              <a:rPr lang="en-US" altLang="zh-CN" sz="2000" dirty="0"/>
              <a:t>I/O</a:t>
            </a:r>
            <a:r>
              <a:rPr lang="zh-CN" altLang="zh-CN" sz="2000" dirty="0"/>
              <a:t>接口主动向</a:t>
            </a:r>
            <a:r>
              <a:rPr lang="en-US" altLang="zh-CN" sz="2000" dirty="0"/>
              <a:t>CPU</a:t>
            </a:r>
            <a:r>
              <a:rPr lang="zh-CN" altLang="zh-CN" sz="2000" dirty="0"/>
              <a:t>发出数据传送请求，</a:t>
            </a:r>
            <a:r>
              <a:rPr lang="en-US" altLang="zh-CN" sz="2000" dirty="0"/>
              <a:t>CPU</a:t>
            </a:r>
            <a:r>
              <a:rPr lang="zh-CN" altLang="zh-CN" sz="2000" dirty="0"/>
              <a:t>中断当前的任务执行，转而执行相应的中断服务 程序，为外设（</a:t>
            </a:r>
            <a:r>
              <a:rPr lang="en-US" altLang="zh-CN" sz="2000" dirty="0"/>
              <a:t>I/O</a:t>
            </a:r>
            <a:r>
              <a:rPr lang="zh-CN" altLang="zh-CN" sz="2000" dirty="0"/>
              <a:t>接口）进行服务。 </a:t>
            </a:r>
          </a:p>
          <a:p>
            <a:pPr lvl="0"/>
            <a:r>
              <a:rPr lang="en-US" altLang="zh-CN" sz="2000" dirty="0"/>
              <a:t>DMA</a:t>
            </a:r>
            <a:r>
              <a:rPr lang="zh-CN" altLang="zh-CN" sz="2000" dirty="0"/>
              <a:t>传送方式：在内存与</a:t>
            </a:r>
            <a:r>
              <a:rPr lang="en-US" altLang="zh-CN" sz="2000" dirty="0"/>
              <a:t>I/O</a:t>
            </a:r>
            <a:r>
              <a:rPr lang="zh-CN" altLang="zh-CN" sz="2000" dirty="0"/>
              <a:t>接口之间直接进行传输，无需</a:t>
            </a:r>
            <a:r>
              <a:rPr lang="en-US" altLang="zh-CN" sz="2000" dirty="0"/>
              <a:t>CPU</a:t>
            </a:r>
            <a:r>
              <a:rPr lang="zh-CN" altLang="zh-CN" sz="2000" dirty="0"/>
              <a:t>干预。适合大数据量的快速传送。</a:t>
            </a:r>
          </a:p>
        </p:txBody>
      </p:sp>
    </p:spTree>
    <p:extLst>
      <p:ext uri="{BB962C8B-B14F-4D97-AF65-F5344CB8AC3E}">
        <p14:creationId xmlns:p14="http://schemas.microsoft.com/office/powerpoint/2010/main" val="4230127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4.46 </a:t>
            </a:r>
            <a:r>
              <a:rPr lang="zh-CN" altLang="zh-CN" sz="3600" dirty="0" smtClean="0"/>
              <a:t>数据</a:t>
            </a:r>
            <a:r>
              <a:rPr lang="zh-CN" altLang="zh-CN" sz="3600" dirty="0"/>
              <a:t>块传送方式的</a:t>
            </a:r>
            <a:r>
              <a:rPr lang="en-US" altLang="zh-CN" sz="3600" dirty="0"/>
              <a:t>DMA</a:t>
            </a:r>
            <a:r>
              <a:rPr lang="zh-CN" altLang="zh-CN" sz="3600" dirty="0"/>
              <a:t>适用于什么场景</a:t>
            </a:r>
            <a:r>
              <a:rPr lang="zh-CN" altLang="zh-CN" sz="3600" dirty="0" smtClean="0"/>
              <a:t>？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84085"/>
            <a:ext cx="10515600" cy="676035"/>
          </a:xfrm>
        </p:spPr>
        <p:txBody>
          <a:bodyPr/>
          <a:lstStyle/>
          <a:p>
            <a:r>
              <a:rPr lang="zh-CN" altLang="zh-CN" dirty="0"/>
              <a:t>适合大数据量的快速传送。</a:t>
            </a:r>
          </a:p>
          <a:p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777814" y="2488493"/>
            <a:ext cx="109799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4.58 	</a:t>
            </a:r>
            <a:r>
              <a:rPr lang="zh-CN" altLang="zh-CN" sz="3200" dirty="0"/>
              <a:t>异步串行通信系统中，采样数据时为什么要在数据位的中间？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74297" y="4042430"/>
            <a:ext cx="10515600" cy="1446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提高采样的准确率，避免因为干扰而误采样，靠近传送波形的上升沿或者下降沿都有可能采样到相邻位的信号。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0649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047781" y="1230402"/>
            <a:ext cx="4935944" cy="289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4.61 </a:t>
            </a:r>
            <a:r>
              <a:rPr lang="zh-CN" altLang="zh-CN" dirty="0" smtClean="0"/>
              <a:t>描述</a:t>
            </a:r>
            <a:r>
              <a:rPr lang="en-US" altLang="zh-CN" dirty="0"/>
              <a:t>I</a:t>
            </a:r>
            <a:r>
              <a:rPr lang="en-US" altLang="zh-CN" baseline="30000" dirty="0"/>
              <a:t>2</a:t>
            </a:r>
            <a:r>
              <a:rPr lang="en-US" altLang="zh-CN" dirty="0"/>
              <a:t>C</a:t>
            </a:r>
            <a:r>
              <a:rPr lang="zh-CN" altLang="zh-CN" dirty="0"/>
              <a:t>总线协议中的状态，并画出状态转移图。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0781" y="2049912"/>
            <a:ext cx="10515600" cy="4351338"/>
          </a:xfrm>
        </p:spPr>
        <p:txBody>
          <a:bodyPr/>
          <a:lstStyle/>
          <a:p>
            <a:r>
              <a:rPr lang="zh-CN" altLang="zh-CN" dirty="0"/>
              <a:t>总线空闲</a:t>
            </a:r>
            <a:r>
              <a:rPr lang="en-US" altLang="zh-CN" dirty="0"/>
              <a:t>I</a:t>
            </a:r>
            <a:r>
              <a:rPr lang="zh-CN" altLang="zh-CN" dirty="0"/>
              <a:t>：</a:t>
            </a:r>
            <a:r>
              <a:rPr lang="en-US" altLang="zh-CN" dirty="0"/>
              <a:t>SDA</a:t>
            </a:r>
            <a:r>
              <a:rPr lang="zh-CN" altLang="zh-CN" dirty="0"/>
              <a:t>与</a:t>
            </a:r>
            <a:r>
              <a:rPr lang="en-US" altLang="zh-CN" dirty="0"/>
              <a:t>SCL</a:t>
            </a:r>
            <a:r>
              <a:rPr lang="zh-CN" altLang="zh-CN" dirty="0"/>
              <a:t>均为高电平</a:t>
            </a:r>
          </a:p>
          <a:p>
            <a:r>
              <a:rPr lang="zh-CN" altLang="zh-CN" dirty="0"/>
              <a:t>启动数据传输</a:t>
            </a:r>
            <a:r>
              <a:rPr lang="en-US" altLang="zh-CN" dirty="0"/>
              <a:t>S</a:t>
            </a:r>
            <a:r>
              <a:rPr lang="zh-CN" altLang="zh-CN" dirty="0"/>
              <a:t>：</a:t>
            </a:r>
            <a:r>
              <a:rPr lang="en-US" altLang="zh-CN" dirty="0"/>
              <a:t>SCL</a:t>
            </a:r>
            <a:r>
              <a:rPr lang="zh-CN" altLang="zh-CN" dirty="0"/>
              <a:t>为高电平，</a:t>
            </a:r>
            <a:r>
              <a:rPr lang="en-US" altLang="zh-CN" dirty="0"/>
              <a:t>SDA</a:t>
            </a:r>
            <a:r>
              <a:rPr lang="zh-CN" altLang="zh-CN" dirty="0"/>
              <a:t>负跳变</a:t>
            </a:r>
          </a:p>
          <a:p>
            <a:r>
              <a:rPr lang="zh-CN" altLang="zh-CN" dirty="0"/>
              <a:t>停止数据传输</a:t>
            </a:r>
            <a:r>
              <a:rPr lang="en-US" altLang="zh-CN" dirty="0"/>
              <a:t>P</a:t>
            </a:r>
            <a:r>
              <a:rPr lang="zh-CN" altLang="zh-CN" dirty="0"/>
              <a:t>：</a:t>
            </a:r>
            <a:r>
              <a:rPr lang="en-US" altLang="zh-CN" dirty="0"/>
              <a:t>SCL</a:t>
            </a:r>
            <a:r>
              <a:rPr lang="zh-CN" altLang="zh-CN" dirty="0"/>
              <a:t>为高电平，</a:t>
            </a:r>
            <a:r>
              <a:rPr lang="en-US" altLang="zh-CN" dirty="0"/>
              <a:t>SDA</a:t>
            </a:r>
            <a:r>
              <a:rPr lang="zh-CN" altLang="zh-CN" dirty="0"/>
              <a:t>正跳变</a:t>
            </a:r>
          </a:p>
          <a:p>
            <a:r>
              <a:rPr lang="zh-CN" altLang="zh-CN" dirty="0"/>
              <a:t>重新启动</a:t>
            </a:r>
            <a:r>
              <a:rPr lang="en-US" altLang="zh-CN" dirty="0" err="1"/>
              <a:t>Sr</a:t>
            </a:r>
            <a:r>
              <a:rPr lang="zh-CN" altLang="zh-CN" dirty="0"/>
              <a:t>：</a:t>
            </a:r>
            <a:r>
              <a:rPr lang="en-US" altLang="zh-CN" dirty="0"/>
              <a:t>SCL</a:t>
            </a:r>
            <a:r>
              <a:rPr lang="zh-CN" altLang="zh-CN" dirty="0"/>
              <a:t>为高电平，</a:t>
            </a:r>
            <a:r>
              <a:rPr lang="en-US" altLang="zh-CN" dirty="0"/>
              <a:t>SDA</a:t>
            </a:r>
            <a:r>
              <a:rPr lang="zh-CN" altLang="zh-CN" dirty="0"/>
              <a:t>负跳变</a:t>
            </a:r>
          </a:p>
          <a:p>
            <a:r>
              <a:rPr lang="zh-CN" altLang="zh-CN" dirty="0"/>
              <a:t>数据有效</a:t>
            </a:r>
            <a:r>
              <a:rPr lang="en-US" altLang="zh-CN" dirty="0"/>
              <a:t>D</a:t>
            </a:r>
            <a:r>
              <a:rPr lang="zh-CN" altLang="zh-CN" dirty="0"/>
              <a:t>：</a:t>
            </a:r>
            <a:r>
              <a:rPr lang="en-US" altLang="zh-CN" dirty="0"/>
              <a:t>SCL</a:t>
            </a:r>
            <a:r>
              <a:rPr lang="zh-CN" altLang="zh-CN" dirty="0"/>
              <a:t>为高电平期间，</a:t>
            </a:r>
            <a:r>
              <a:rPr lang="en-US" altLang="zh-CN" dirty="0"/>
              <a:t>SDA</a:t>
            </a:r>
            <a:r>
              <a:rPr lang="zh-CN" altLang="zh-CN" dirty="0"/>
              <a:t>电平稳定</a:t>
            </a:r>
          </a:p>
          <a:p>
            <a:r>
              <a:rPr lang="zh-CN" altLang="zh-CN" dirty="0"/>
              <a:t>等待</a:t>
            </a:r>
            <a:r>
              <a:rPr lang="en-US" altLang="zh-CN" dirty="0"/>
              <a:t>/ </a:t>
            </a:r>
            <a:r>
              <a:rPr lang="zh-CN" altLang="zh-CN" dirty="0"/>
              <a:t>数据无效</a:t>
            </a:r>
            <a:r>
              <a:rPr lang="en-US" altLang="zh-CN" dirty="0"/>
              <a:t>Q</a:t>
            </a:r>
            <a:r>
              <a:rPr lang="zh-CN" altLang="zh-CN" dirty="0"/>
              <a:t>：</a:t>
            </a:r>
            <a:r>
              <a:rPr lang="en-US" altLang="zh-CN" dirty="0"/>
              <a:t>SCL</a:t>
            </a:r>
            <a:r>
              <a:rPr lang="zh-CN" altLang="zh-CN" dirty="0"/>
              <a:t>保持低电平，此时可修改线上数据</a:t>
            </a:r>
          </a:p>
          <a:p>
            <a:r>
              <a:rPr lang="zh-CN" altLang="zh-CN" dirty="0"/>
              <a:t>应答</a:t>
            </a:r>
            <a:r>
              <a:rPr lang="en-US" altLang="zh-CN" dirty="0"/>
              <a:t>A /</a:t>
            </a:r>
            <a:r>
              <a:rPr lang="zh-CN" altLang="zh-CN" dirty="0"/>
              <a:t>不应答</a:t>
            </a:r>
            <a:r>
              <a:rPr lang="en-US" altLang="zh-CN" dirty="0"/>
              <a:t>N</a:t>
            </a:r>
            <a:r>
              <a:rPr lang="zh-CN" altLang="zh-CN" dirty="0"/>
              <a:t>：接收方将</a:t>
            </a:r>
            <a:r>
              <a:rPr lang="en-US" altLang="zh-CN" dirty="0"/>
              <a:t>SDA</a:t>
            </a:r>
            <a:r>
              <a:rPr lang="zh-CN" altLang="zh-CN" dirty="0"/>
              <a:t>拉低发出</a:t>
            </a:r>
            <a:r>
              <a:rPr lang="en-US" altLang="zh-CN" dirty="0"/>
              <a:t>ACK</a:t>
            </a:r>
            <a:r>
              <a:rPr lang="zh-CN" altLang="zh-CN" dirty="0"/>
              <a:t>或释放</a:t>
            </a:r>
            <a:r>
              <a:rPr lang="en-US" altLang="zh-CN" dirty="0"/>
              <a:t>SDA</a:t>
            </a:r>
            <a:r>
              <a:rPr lang="zh-CN" altLang="zh-CN" dirty="0"/>
              <a:t>发出</a:t>
            </a:r>
            <a:r>
              <a:rPr lang="en-US" altLang="zh-CN" dirty="0" smtClean="0"/>
              <a:t>NACK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09422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400" dirty="0" smtClean="0"/>
              <a:t>4.62</a:t>
            </a:r>
            <a:r>
              <a:rPr lang="zh-CN" altLang="zh-CN" sz="2400" dirty="0" smtClean="0"/>
              <a:t>下</a:t>
            </a:r>
            <a:r>
              <a:rPr lang="zh-CN" altLang="zh-CN" sz="2400" dirty="0"/>
              <a:t>图中</a:t>
            </a:r>
            <a:r>
              <a:rPr lang="en-US" altLang="zh-CN" sz="2400" dirty="0"/>
              <a:t>HTRANS[1:0]</a:t>
            </a:r>
            <a:r>
              <a:rPr lang="zh-CN" altLang="zh-CN" sz="2400" dirty="0"/>
              <a:t>信号“</a:t>
            </a:r>
            <a:r>
              <a:rPr lang="en-US" altLang="zh-CN" sz="2400" dirty="0"/>
              <a:t>???</a:t>
            </a:r>
            <a:r>
              <a:rPr lang="zh-CN" altLang="zh-CN" sz="2400" dirty="0"/>
              <a:t>”应该为什么取值？</a:t>
            </a:r>
            <a:r>
              <a:rPr lang="en-US" altLang="zh-CN" sz="2400" dirty="0"/>
              <a:t>HADDR[31:0]</a:t>
            </a:r>
            <a:r>
              <a:rPr lang="zh-CN" altLang="zh-CN" sz="2400" dirty="0"/>
              <a:t>信号“</a:t>
            </a:r>
            <a:r>
              <a:rPr lang="en-US" altLang="zh-CN" sz="2400" dirty="0"/>
              <a:t>???</a:t>
            </a:r>
            <a:r>
              <a:rPr lang="zh-CN" altLang="zh-CN" sz="2400" dirty="0"/>
              <a:t>”应该为什么取值？</a:t>
            </a:r>
            <a:r>
              <a:rPr lang="en-US" altLang="zh-CN" sz="2400" dirty="0"/>
              <a:t>HWDATA[31:0]</a:t>
            </a:r>
            <a:r>
              <a:rPr lang="zh-CN" altLang="zh-CN" sz="2400" dirty="0"/>
              <a:t>中数据</a:t>
            </a:r>
            <a:r>
              <a:rPr lang="en-US" altLang="zh-CN" sz="2400" dirty="0"/>
              <a:t>1</a:t>
            </a:r>
            <a:r>
              <a:rPr lang="zh-CN" altLang="zh-CN" sz="2400" dirty="0"/>
              <a:t>、数据</a:t>
            </a:r>
            <a:r>
              <a:rPr lang="en-US" altLang="zh-CN" sz="2400" dirty="0"/>
              <a:t>2</a:t>
            </a:r>
            <a:r>
              <a:rPr lang="zh-CN" altLang="zh-CN" sz="2400" dirty="0"/>
              <a:t>、数据</a:t>
            </a:r>
            <a:r>
              <a:rPr lang="en-US" altLang="zh-CN" sz="2400" dirty="0"/>
              <a:t>3</a:t>
            </a:r>
            <a:r>
              <a:rPr lang="zh-CN" altLang="zh-CN" sz="2400" dirty="0"/>
              <a:t>、数据</a:t>
            </a:r>
            <a:r>
              <a:rPr lang="en-US" altLang="zh-CN" sz="2400" dirty="0"/>
              <a:t>4</a:t>
            </a:r>
            <a:r>
              <a:rPr lang="zh-CN" altLang="zh-CN" sz="2400" dirty="0"/>
              <a:t>对应的地址分别是什么？</a:t>
            </a:r>
            <a:br>
              <a:rPr lang="zh-CN" altLang="zh-CN" sz="2400" dirty="0"/>
            </a:br>
            <a:endParaRPr lang="zh-CN" altLang="en-US" sz="2400" dirty="0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928" y="1376496"/>
            <a:ext cx="5206929" cy="248914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1615" y="4087219"/>
            <a:ext cx="6096000" cy="182357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单次传输，每次传输单个数据</a:t>
            </a:r>
          </a:p>
          <a:p>
            <a:pPr lvl="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HTRANS[1:0]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信号“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”是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endParaRPr lang="zh-CN" altLang="zh-CN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HADDR[31:0]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信号“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”是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0x40</a:t>
            </a:r>
            <a:endParaRPr lang="zh-CN" altLang="zh-CN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HWDATA[31:0]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中数据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、数据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、数据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对应的地址分别是：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0x38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0x3C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0x40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0x44</a:t>
            </a:r>
            <a:endParaRPr lang="zh-CN" altLang="zh-CN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98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31" y="747532"/>
            <a:ext cx="102679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29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60" y="582462"/>
            <a:ext cx="11332500" cy="440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55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7" y="301295"/>
            <a:ext cx="1040130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39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64" y="557842"/>
            <a:ext cx="10262918" cy="581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7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782</Words>
  <Application>Microsoft Office PowerPoint</Application>
  <PresentationFormat>宽屏</PresentationFormat>
  <Paragraphs>56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宋体</vt:lpstr>
      <vt:lpstr>Arial</vt:lpstr>
      <vt:lpstr>Calibri</vt:lpstr>
      <vt:lpstr>Calibri Light</vt:lpstr>
      <vt:lpstr>Times New Roman</vt:lpstr>
      <vt:lpstr>Office 主题</vt:lpstr>
      <vt:lpstr>第四章总线和接口</vt:lpstr>
      <vt:lpstr>4.2  举例说明何为总线复用？</vt:lpstr>
      <vt:lpstr>4.5请给出典型的PC总线示意图和典型基于AMBA2的MCU系统的总线示意图。  </vt:lpstr>
      <vt:lpstr>4.8  计算机系统什么情况下需要总线仲裁（arbitration）？ </vt:lpstr>
      <vt:lpstr>4.15 周期分裂式总线操作时序有哪些特点？适用于什么样的场景？ </vt:lpstr>
      <vt:lpstr>4.21  简述AHB总线的流水线机制。  </vt:lpstr>
      <vt:lpstr>4.23  解释图 4.21中HREADY信号的作用。  </vt:lpstr>
      <vt:lpstr>4.25  AHB中突发传输定义了哪些类型？各自有什么特点？  </vt:lpstr>
      <vt:lpstr>PowerPoint 演示文稿</vt:lpstr>
      <vt:lpstr>PowerPoint 演示文稿</vt:lpstr>
      <vt:lpstr>4.46 数据块传送方式的DMA适用于什么场景？</vt:lpstr>
      <vt:lpstr>4.61 描述I2C总线协议中的状态，并画出状态转移图。</vt:lpstr>
      <vt:lpstr>4.62下图中HTRANS[1:0]信号“???”应该为什么取值？HADDR[31:0]信号“???”应该为什么取值？HWDATA[31:0]中数据1、数据2、数据3、数据4对应的地址分别是什么？ 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</dc:title>
  <dc:creator>USTC</dc:creator>
  <cp:lastModifiedBy>USTC</cp:lastModifiedBy>
  <cp:revision>8</cp:revision>
  <dcterms:created xsi:type="dcterms:W3CDTF">2025-06-04T00:13:13Z</dcterms:created>
  <dcterms:modified xsi:type="dcterms:W3CDTF">2025-06-04T08:04:15Z</dcterms:modified>
</cp:coreProperties>
</file>