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36"/>
  </p:notesMasterIdLst>
  <p:sldIdLst>
    <p:sldId id="256" r:id="rId2"/>
    <p:sldId id="270" r:id="rId3"/>
    <p:sldId id="257" r:id="rId4"/>
    <p:sldId id="280" r:id="rId5"/>
    <p:sldId id="274" r:id="rId6"/>
    <p:sldId id="275" r:id="rId7"/>
    <p:sldId id="276" r:id="rId8"/>
    <p:sldId id="278" r:id="rId9"/>
    <p:sldId id="302" r:id="rId10"/>
    <p:sldId id="279" r:id="rId11"/>
    <p:sldId id="273" r:id="rId12"/>
    <p:sldId id="281" r:id="rId13"/>
    <p:sldId id="282" r:id="rId14"/>
    <p:sldId id="283" r:id="rId15"/>
    <p:sldId id="284" r:id="rId16"/>
    <p:sldId id="287" r:id="rId17"/>
    <p:sldId id="289" r:id="rId18"/>
    <p:sldId id="285" r:id="rId19"/>
    <p:sldId id="288" r:id="rId20"/>
    <p:sldId id="291" r:id="rId21"/>
    <p:sldId id="296" r:id="rId22"/>
    <p:sldId id="297" r:id="rId23"/>
    <p:sldId id="299" r:id="rId24"/>
    <p:sldId id="303" r:id="rId25"/>
    <p:sldId id="292" r:id="rId26"/>
    <p:sldId id="293" r:id="rId27"/>
    <p:sldId id="294" r:id="rId28"/>
    <p:sldId id="295" r:id="rId29"/>
    <p:sldId id="304" r:id="rId30"/>
    <p:sldId id="305" r:id="rId31"/>
    <p:sldId id="300" r:id="rId32"/>
    <p:sldId id="301" r:id="rId33"/>
    <p:sldId id="306" r:id="rId34"/>
    <p:sldId id="271"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5" autoAdjust="0"/>
    <p:restoredTop sz="87733" autoAdjust="0"/>
  </p:normalViewPr>
  <p:slideViewPr>
    <p:cSldViewPr snapToGrid="0">
      <p:cViewPr varScale="1">
        <p:scale>
          <a:sx n="59" d="100"/>
          <a:sy n="59" d="100"/>
        </p:scale>
        <p:origin x="964" y="4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3AC749-4FB1-4504-8A01-4799D4DFEFF9}" type="datetimeFigureOut">
              <a:rPr lang="zh-CN" altLang="en-US" smtClean="0"/>
              <a:t>2025/6/16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8296D-1E8C-4FA1-8ED8-C999B297FEA1}" type="slidenum">
              <a:rPr lang="zh-CN" altLang="en-US" smtClean="0"/>
              <a:t>‹#›</a:t>
            </a:fld>
            <a:endParaRPr lang="zh-CN" altLang="en-US"/>
          </a:p>
        </p:txBody>
      </p:sp>
    </p:spTree>
    <p:extLst>
      <p:ext uri="{BB962C8B-B14F-4D97-AF65-F5344CB8AC3E}">
        <p14:creationId xmlns:p14="http://schemas.microsoft.com/office/powerpoint/2010/main" val="31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18296D-1E8C-4FA1-8ED8-C999B297FEA1}" type="slidenum">
              <a:rPr lang="zh-CN" altLang="en-US" smtClean="0"/>
              <a:t>1</a:t>
            </a:fld>
            <a:endParaRPr lang="zh-CN" altLang="en-US"/>
          </a:p>
        </p:txBody>
      </p:sp>
    </p:spTree>
    <p:extLst>
      <p:ext uri="{BB962C8B-B14F-4D97-AF65-F5344CB8AC3E}">
        <p14:creationId xmlns:p14="http://schemas.microsoft.com/office/powerpoint/2010/main" val="2086190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18296D-1E8C-4FA1-8ED8-C999B297FEA1}" type="slidenum">
              <a:rPr lang="zh-CN" altLang="en-US" smtClean="0"/>
              <a:t>2</a:t>
            </a:fld>
            <a:endParaRPr lang="zh-CN" altLang="en-US"/>
          </a:p>
        </p:txBody>
      </p:sp>
    </p:spTree>
    <p:extLst>
      <p:ext uri="{BB962C8B-B14F-4D97-AF65-F5344CB8AC3E}">
        <p14:creationId xmlns:p14="http://schemas.microsoft.com/office/powerpoint/2010/main" val="3491891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3</a:t>
            </a:fld>
            <a:endParaRPr lang="zh-CN" altLang="en-US"/>
          </a:p>
        </p:txBody>
      </p:sp>
    </p:spTree>
    <p:extLst>
      <p:ext uri="{BB962C8B-B14F-4D97-AF65-F5344CB8AC3E}">
        <p14:creationId xmlns:p14="http://schemas.microsoft.com/office/powerpoint/2010/main" val="3846224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4</a:t>
            </a:fld>
            <a:endParaRPr lang="zh-CN" altLang="en-US"/>
          </a:p>
        </p:txBody>
      </p:sp>
    </p:spTree>
    <p:extLst>
      <p:ext uri="{BB962C8B-B14F-4D97-AF65-F5344CB8AC3E}">
        <p14:creationId xmlns:p14="http://schemas.microsoft.com/office/powerpoint/2010/main" val="1206755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5</a:t>
            </a:fld>
            <a:endParaRPr lang="zh-CN" altLang="en-US"/>
          </a:p>
        </p:txBody>
      </p:sp>
    </p:spTree>
    <p:extLst>
      <p:ext uri="{BB962C8B-B14F-4D97-AF65-F5344CB8AC3E}">
        <p14:creationId xmlns:p14="http://schemas.microsoft.com/office/powerpoint/2010/main" val="881965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6</a:t>
            </a:fld>
            <a:endParaRPr lang="zh-CN" altLang="en-US"/>
          </a:p>
        </p:txBody>
      </p:sp>
    </p:spTree>
    <p:extLst>
      <p:ext uri="{BB962C8B-B14F-4D97-AF65-F5344CB8AC3E}">
        <p14:creationId xmlns:p14="http://schemas.microsoft.com/office/powerpoint/2010/main" val="1468889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7</a:t>
            </a:fld>
            <a:endParaRPr lang="zh-CN" altLang="en-US"/>
          </a:p>
        </p:txBody>
      </p:sp>
    </p:spTree>
    <p:extLst>
      <p:ext uri="{BB962C8B-B14F-4D97-AF65-F5344CB8AC3E}">
        <p14:creationId xmlns:p14="http://schemas.microsoft.com/office/powerpoint/2010/main" val="2274376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8</a:t>
            </a:fld>
            <a:endParaRPr lang="zh-CN" altLang="en-US"/>
          </a:p>
        </p:txBody>
      </p:sp>
    </p:spTree>
    <p:extLst>
      <p:ext uri="{BB962C8B-B14F-4D97-AF65-F5344CB8AC3E}">
        <p14:creationId xmlns:p14="http://schemas.microsoft.com/office/powerpoint/2010/main" val="1007346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PPT 2-9</a:t>
            </a:r>
          </a:p>
        </p:txBody>
      </p:sp>
      <p:sp>
        <p:nvSpPr>
          <p:cNvPr id="4" name="灯片编号占位符 3"/>
          <p:cNvSpPr>
            <a:spLocks noGrp="1"/>
          </p:cNvSpPr>
          <p:nvPr>
            <p:ph type="sldNum" sz="quarter" idx="10"/>
          </p:nvPr>
        </p:nvSpPr>
        <p:spPr/>
        <p:txBody>
          <a:bodyPr/>
          <a:lstStyle/>
          <a:p>
            <a:fld id="{8A18296D-1E8C-4FA1-8ED8-C999B297FEA1}" type="slidenum">
              <a:rPr lang="zh-CN" altLang="en-US" smtClean="0"/>
              <a:t>9</a:t>
            </a:fld>
            <a:endParaRPr lang="zh-CN" altLang="en-US"/>
          </a:p>
        </p:txBody>
      </p:sp>
    </p:spTree>
    <p:extLst>
      <p:ext uri="{BB962C8B-B14F-4D97-AF65-F5344CB8AC3E}">
        <p14:creationId xmlns:p14="http://schemas.microsoft.com/office/powerpoint/2010/main" val="348731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18296D-1E8C-4FA1-8ED8-C999B297FEA1}" type="slidenum">
              <a:rPr lang="zh-CN" altLang="en-US" smtClean="0"/>
              <a:t>10</a:t>
            </a:fld>
            <a:endParaRPr lang="zh-CN" altLang="en-US"/>
          </a:p>
        </p:txBody>
      </p:sp>
    </p:spTree>
    <p:extLst>
      <p:ext uri="{BB962C8B-B14F-4D97-AF65-F5344CB8AC3E}">
        <p14:creationId xmlns:p14="http://schemas.microsoft.com/office/powerpoint/2010/main" val="2704299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highlight>
                  <a:srgbClr val="FFFF00"/>
                </a:highlight>
                <a:latin typeface="宋体" panose="02010600030101010101" pitchFamily="2" charset="-122"/>
              </a:rPr>
              <a:t>理想可调比由结构设计决定，通常</a:t>
            </a:r>
            <a:r>
              <a:rPr lang="en-US" altLang="zh-CN" sz="1200" i="1" dirty="0">
                <a:highlight>
                  <a:srgbClr val="FFFF00"/>
                </a:highlight>
                <a:latin typeface="Times New Roman" panose="02020603050405020304" pitchFamily="18" charset="0"/>
              </a:rPr>
              <a:t>R=30 </a:t>
            </a:r>
            <a:r>
              <a:rPr lang="zh-CN" altLang="en-US" sz="1200" i="1" dirty="0">
                <a:highlight>
                  <a:srgbClr val="FFFF00"/>
                </a:highlight>
                <a:latin typeface="Times New Roman" panose="02020603050405020304" pitchFamily="18" charset="0"/>
              </a:rPr>
              <a:t>或 </a:t>
            </a:r>
            <a:r>
              <a:rPr lang="en-US" altLang="zh-CN" sz="1200" i="1" dirty="0">
                <a:highlight>
                  <a:srgbClr val="FFFF00"/>
                </a:highlight>
                <a:latin typeface="Times New Roman" panose="02020603050405020304" pitchFamily="18" charset="0"/>
              </a:rPr>
              <a:t>50</a:t>
            </a:r>
            <a:r>
              <a:rPr lang="zh-CN" altLang="en-US" sz="1200" i="1" dirty="0">
                <a:highlight>
                  <a:srgbClr val="FFFF00"/>
                </a:highlight>
                <a:latin typeface="Times New Roman" panose="02020603050405020304" pitchFamily="18" charset="0"/>
              </a:rPr>
              <a:t>，</a:t>
            </a:r>
            <a:r>
              <a:rPr lang="en-US" altLang="zh-CN" sz="1200" i="1" dirty="0">
                <a:highlight>
                  <a:srgbClr val="FFFF00"/>
                </a:highlight>
                <a:latin typeface="Times New Roman" panose="02020603050405020304" pitchFamily="18" charset="0"/>
              </a:rPr>
              <a:t>PPT</a:t>
            </a:r>
            <a:r>
              <a:rPr lang="zh-CN" altLang="en-US" sz="1200" i="1" dirty="0">
                <a:highlight>
                  <a:srgbClr val="FFFF00"/>
                </a:highlight>
                <a:latin typeface="Times New Roman" panose="02020603050405020304" pitchFamily="18" charset="0"/>
              </a:rPr>
              <a:t>上面表格给的是</a:t>
            </a:r>
            <a:r>
              <a:rPr lang="en-US" altLang="zh-CN" sz="1200" i="1" dirty="0">
                <a:highlight>
                  <a:srgbClr val="FFFF00"/>
                </a:highlight>
                <a:latin typeface="Times New Roman" panose="02020603050405020304" pitchFamily="18" charset="0"/>
              </a:rPr>
              <a:t>30</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highlight>
                <a:srgbClr val="FFFF00"/>
              </a:highlight>
              <a:latin typeface="Times New Roman" panose="02020603050405020304" pitchFamily="18" charset="0"/>
            </a:endParaRPr>
          </a:p>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11</a:t>
            </a:fld>
            <a:endParaRPr lang="zh-CN" altLang="en-US"/>
          </a:p>
        </p:txBody>
      </p:sp>
    </p:spTree>
    <p:extLst>
      <p:ext uri="{BB962C8B-B14F-4D97-AF65-F5344CB8AC3E}">
        <p14:creationId xmlns:p14="http://schemas.microsoft.com/office/powerpoint/2010/main" val="4231909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12</a:t>
            </a:fld>
            <a:endParaRPr lang="zh-CN" altLang="en-US"/>
          </a:p>
        </p:txBody>
      </p:sp>
    </p:spTree>
    <p:extLst>
      <p:ext uri="{BB962C8B-B14F-4D97-AF65-F5344CB8AC3E}">
        <p14:creationId xmlns:p14="http://schemas.microsoft.com/office/powerpoint/2010/main" val="31807344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13</a:t>
            </a:fld>
            <a:endParaRPr lang="zh-CN" altLang="en-US"/>
          </a:p>
        </p:txBody>
      </p:sp>
    </p:spTree>
    <p:extLst>
      <p:ext uri="{BB962C8B-B14F-4D97-AF65-F5344CB8AC3E}">
        <p14:creationId xmlns:p14="http://schemas.microsoft.com/office/powerpoint/2010/main" val="3447410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14</a:t>
            </a:fld>
            <a:endParaRPr lang="zh-CN" altLang="en-US"/>
          </a:p>
        </p:txBody>
      </p:sp>
    </p:spTree>
    <p:extLst>
      <p:ext uri="{BB962C8B-B14F-4D97-AF65-F5344CB8AC3E}">
        <p14:creationId xmlns:p14="http://schemas.microsoft.com/office/powerpoint/2010/main" val="854357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15</a:t>
            </a:fld>
            <a:endParaRPr lang="zh-CN" altLang="en-US"/>
          </a:p>
        </p:txBody>
      </p:sp>
    </p:spTree>
    <p:extLst>
      <p:ext uri="{BB962C8B-B14F-4D97-AF65-F5344CB8AC3E}">
        <p14:creationId xmlns:p14="http://schemas.microsoft.com/office/powerpoint/2010/main" val="34778679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PPT 5-27</a:t>
            </a:r>
          </a:p>
        </p:txBody>
      </p:sp>
      <p:sp>
        <p:nvSpPr>
          <p:cNvPr id="4" name="灯片编号占位符 3"/>
          <p:cNvSpPr>
            <a:spLocks noGrp="1"/>
          </p:cNvSpPr>
          <p:nvPr>
            <p:ph type="sldNum" sz="quarter" idx="10"/>
          </p:nvPr>
        </p:nvSpPr>
        <p:spPr/>
        <p:txBody>
          <a:bodyPr/>
          <a:lstStyle/>
          <a:p>
            <a:fld id="{8A18296D-1E8C-4FA1-8ED8-C999B297FEA1}" type="slidenum">
              <a:rPr lang="zh-CN" altLang="en-US" smtClean="0"/>
              <a:t>16</a:t>
            </a:fld>
            <a:endParaRPr lang="zh-CN" altLang="en-US"/>
          </a:p>
        </p:txBody>
      </p:sp>
    </p:spTree>
    <p:extLst>
      <p:ext uri="{BB962C8B-B14F-4D97-AF65-F5344CB8AC3E}">
        <p14:creationId xmlns:p14="http://schemas.microsoft.com/office/powerpoint/2010/main" val="30930343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PPT 4-32</a:t>
            </a:r>
          </a:p>
        </p:txBody>
      </p:sp>
      <p:sp>
        <p:nvSpPr>
          <p:cNvPr id="4" name="灯片编号占位符 3"/>
          <p:cNvSpPr>
            <a:spLocks noGrp="1"/>
          </p:cNvSpPr>
          <p:nvPr>
            <p:ph type="sldNum" sz="quarter" idx="10"/>
          </p:nvPr>
        </p:nvSpPr>
        <p:spPr/>
        <p:txBody>
          <a:bodyPr/>
          <a:lstStyle/>
          <a:p>
            <a:fld id="{8A18296D-1E8C-4FA1-8ED8-C999B297FEA1}" type="slidenum">
              <a:rPr lang="zh-CN" altLang="en-US" smtClean="0"/>
              <a:t>17</a:t>
            </a:fld>
            <a:endParaRPr lang="zh-CN" altLang="en-US"/>
          </a:p>
        </p:txBody>
      </p:sp>
    </p:spTree>
    <p:extLst>
      <p:ext uri="{BB962C8B-B14F-4D97-AF65-F5344CB8AC3E}">
        <p14:creationId xmlns:p14="http://schemas.microsoft.com/office/powerpoint/2010/main" val="19885520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18296D-1E8C-4FA1-8ED8-C999B297FEA1}" type="slidenum">
              <a:rPr lang="zh-CN" altLang="en-US" smtClean="0"/>
              <a:t>18</a:t>
            </a:fld>
            <a:endParaRPr lang="zh-CN" altLang="en-US"/>
          </a:p>
        </p:txBody>
      </p:sp>
    </p:spTree>
    <p:extLst>
      <p:ext uri="{BB962C8B-B14F-4D97-AF65-F5344CB8AC3E}">
        <p14:creationId xmlns:p14="http://schemas.microsoft.com/office/powerpoint/2010/main" val="28673758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PPT 6-39</a:t>
            </a:r>
          </a:p>
        </p:txBody>
      </p:sp>
      <p:sp>
        <p:nvSpPr>
          <p:cNvPr id="4" name="灯片编号占位符 3"/>
          <p:cNvSpPr>
            <a:spLocks noGrp="1"/>
          </p:cNvSpPr>
          <p:nvPr>
            <p:ph type="sldNum" sz="quarter" idx="10"/>
          </p:nvPr>
        </p:nvSpPr>
        <p:spPr/>
        <p:txBody>
          <a:bodyPr/>
          <a:lstStyle/>
          <a:p>
            <a:fld id="{8A18296D-1E8C-4FA1-8ED8-C999B297FEA1}" type="slidenum">
              <a:rPr lang="zh-CN" altLang="en-US" smtClean="0"/>
              <a:t>19</a:t>
            </a:fld>
            <a:endParaRPr lang="zh-CN" altLang="en-US"/>
          </a:p>
        </p:txBody>
      </p:sp>
    </p:spTree>
    <p:extLst>
      <p:ext uri="{BB962C8B-B14F-4D97-AF65-F5344CB8AC3E}">
        <p14:creationId xmlns:p14="http://schemas.microsoft.com/office/powerpoint/2010/main" val="13820299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PPT 5-56</a:t>
            </a:r>
          </a:p>
        </p:txBody>
      </p:sp>
      <p:sp>
        <p:nvSpPr>
          <p:cNvPr id="4" name="灯片编号占位符 3"/>
          <p:cNvSpPr>
            <a:spLocks noGrp="1"/>
          </p:cNvSpPr>
          <p:nvPr>
            <p:ph type="sldNum" sz="quarter" idx="10"/>
          </p:nvPr>
        </p:nvSpPr>
        <p:spPr/>
        <p:txBody>
          <a:bodyPr/>
          <a:lstStyle/>
          <a:p>
            <a:fld id="{8A18296D-1E8C-4FA1-8ED8-C999B297FEA1}" type="slidenum">
              <a:rPr lang="zh-CN" altLang="en-US" smtClean="0"/>
              <a:t>20</a:t>
            </a:fld>
            <a:endParaRPr lang="zh-CN" altLang="en-US"/>
          </a:p>
        </p:txBody>
      </p:sp>
    </p:spTree>
    <p:extLst>
      <p:ext uri="{BB962C8B-B14F-4D97-AF65-F5344CB8AC3E}">
        <p14:creationId xmlns:p14="http://schemas.microsoft.com/office/powerpoint/2010/main" val="19249191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21</a:t>
            </a:fld>
            <a:endParaRPr lang="zh-CN" altLang="en-US"/>
          </a:p>
        </p:txBody>
      </p:sp>
    </p:spTree>
    <p:extLst>
      <p:ext uri="{BB962C8B-B14F-4D97-AF65-F5344CB8AC3E}">
        <p14:creationId xmlns:p14="http://schemas.microsoft.com/office/powerpoint/2010/main" val="15734139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22</a:t>
            </a:fld>
            <a:endParaRPr lang="zh-CN" altLang="en-US"/>
          </a:p>
        </p:txBody>
      </p:sp>
    </p:spTree>
    <p:extLst>
      <p:ext uri="{BB962C8B-B14F-4D97-AF65-F5344CB8AC3E}">
        <p14:creationId xmlns:p14="http://schemas.microsoft.com/office/powerpoint/2010/main" val="11922248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18296D-1E8C-4FA1-8ED8-C999B297FEA1}" type="slidenum">
              <a:rPr lang="zh-CN" altLang="en-US" smtClean="0"/>
              <a:t>23</a:t>
            </a:fld>
            <a:endParaRPr lang="zh-CN" altLang="en-US"/>
          </a:p>
        </p:txBody>
      </p:sp>
    </p:spTree>
    <p:extLst>
      <p:ext uri="{BB962C8B-B14F-4D97-AF65-F5344CB8AC3E}">
        <p14:creationId xmlns:p14="http://schemas.microsoft.com/office/powerpoint/2010/main" val="21494559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25</a:t>
            </a:fld>
            <a:endParaRPr lang="zh-CN" altLang="en-US"/>
          </a:p>
        </p:txBody>
      </p:sp>
    </p:spTree>
    <p:extLst>
      <p:ext uri="{BB962C8B-B14F-4D97-AF65-F5344CB8AC3E}">
        <p14:creationId xmlns:p14="http://schemas.microsoft.com/office/powerpoint/2010/main" val="37071207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26</a:t>
            </a:fld>
            <a:endParaRPr lang="zh-CN" altLang="en-US"/>
          </a:p>
        </p:txBody>
      </p:sp>
    </p:spTree>
    <p:extLst>
      <p:ext uri="{BB962C8B-B14F-4D97-AF65-F5344CB8AC3E}">
        <p14:creationId xmlns:p14="http://schemas.microsoft.com/office/powerpoint/2010/main" val="34862676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27</a:t>
            </a:fld>
            <a:endParaRPr lang="zh-CN" altLang="en-US"/>
          </a:p>
        </p:txBody>
      </p:sp>
    </p:spTree>
    <p:extLst>
      <p:ext uri="{BB962C8B-B14F-4D97-AF65-F5344CB8AC3E}">
        <p14:creationId xmlns:p14="http://schemas.microsoft.com/office/powerpoint/2010/main" val="19072980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28</a:t>
            </a:fld>
            <a:endParaRPr lang="zh-CN" altLang="en-US"/>
          </a:p>
        </p:txBody>
      </p:sp>
    </p:spTree>
    <p:extLst>
      <p:ext uri="{BB962C8B-B14F-4D97-AF65-F5344CB8AC3E}">
        <p14:creationId xmlns:p14="http://schemas.microsoft.com/office/powerpoint/2010/main" val="6891786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A18296D-1E8C-4FA1-8ED8-C999B297FEA1}" type="slidenum">
              <a:rPr lang="zh-CN" altLang="en-US" smtClean="0"/>
              <a:t>30</a:t>
            </a:fld>
            <a:endParaRPr lang="zh-CN" altLang="en-US"/>
          </a:p>
        </p:txBody>
      </p:sp>
    </p:spTree>
    <p:extLst>
      <p:ext uri="{BB962C8B-B14F-4D97-AF65-F5344CB8AC3E}">
        <p14:creationId xmlns:p14="http://schemas.microsoft.com/office/powerpoint/2010/main" val="15963028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31</a:t>
            </a:fld>
            <a:endParaRPr lang="zh-CN" altLang="en-US"/>
          </a:p>
        </p:txBody>
      </p:sp>
    </p:spTree>
    <p:extLst>
      <p:ext uri="{BB962C8B-B14F-4D97-AF65-F5344CB8AC3E}">
        <p14:creationId xmlns:p14="http://schemas.microsoft.com/office/powerpoint/2010/main" val="27941038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A18296D-1E8C-4FA1-8ED8-C999B297FEA1}" type="slidenum">
              <a:rPr lang="zh-CN" altLang="en-US" smtClean="0"/>
              <a:t>32</a:t>
            </a:fld>
            <a:endParaRPr lang="zh-CN" altLang="en-US"/>
          </a:p>
        </p:txBody>
      </p:sp>
    </p:spTree>
    <p:extLst>
      <p:ext uri="{BB962C8B-B14F-4D97-AF65-F5344CB8AC3E}">
        <p14:creationId xmlns:p14="http://schemas.microsoft.com/office/powerpoint/2010/main" val="3858547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a:prstGeom prst="rect">
            <a:avLst/>
          </a:prstGeom>
        </p:spPr>
        <p:txBody>
          <a:bodyPr anchor="b">
            <a:normAutofit/>
          </a:bodyPr>
          <a:lstStyle>
            <a:lvl1pPr algn="l">
              <a:lnSpc>
                <a:spcPct val="85000"/>
              </a:lnSpc>
              <a:defRPr sz="7200" baseline="0">
                <a:solidFill>
                  <a:schemeClr val="tx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261872" y="4800600"/>
            <a:ext cx="9418320" cy="522838"/>
          </a:xfrm>
          <a:prstGeom prst="rect">
            <a:avLst/>
          </a:prstGeom>
        </p:spPr>
        <p:txBody>
          <a:bodyPr>
            <a:noAutofit/>
          </a:bodyPr>
          <a:lstStyle>
            <a:lvl1pPr marL="0" indent="0" algn="l">
              <a:buNone/>
              <a:defRPr sz="3200" baseline="0">
                <a:solidFill>
                  <a:schemeClr val="bg2">
                    <a:lumMod val="60000"/>
                    <a:lumOff val="4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8" name="组合 7"/>
          <p:cNvGrpSpPr/>
          <p:nvPr userDrawn="1"/>
        </p:nvGrpSpPr>
        <p:grpSpPr>
          <a:xfrm>
            <a:off x="1344485" y="5505422"/>
            <a:ext cx="1764691" cy="297909"/>
            <a:chOff x="8729725" y="4570716"/>
            <a:chExt cx="2830513" cy="477838"/>
          </a:xfrm>
          <a:solidFill>
            <a:schemeClr val="bg2">
              <a:lumMod val="60000"/>
              <a:lumOff val="40000"/>
            </a:schemeClr>
          </a:solidFill>
        </p:grpSpPr>
        <p:sp>
          <p:nvSpPr>
            <p:cNvPr id="9" name="Freeform 34"/>
            <p:cNvSpPr>
              <a:spLocks noEditPoints="1"/>
            </p:cNvSpPr>
            <p:nvPr userDrawn="1"/>
          </p:nvSpPr>
          <p:spPr bwMode="auto">
            <a:xfrm>
              <a:off x="9304400" y="4945366"/>
              <a:ext cx="1363663"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Freeform 35"/>
            <p:cNvSpPr>
              <a:spLocks noEditPoints="1"/>
            </p:cNvSpPr>
            <p:nvPr userDrawn="1"/>
          </p:nvSpPr>
          <p:spPr bwMode="auto">
            <a:xfrm>
              <a:off x="10679175" y="4943779"/>
              <a:ext cx="873125" cy="103188"/>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Freeform 36"/>
            <p:cNvSpPr>
              <a:spLocks noEditPoints="1"/>
            </p:cNvSpPr>
            <p:nvPr userDrawn="1"/>
          </p:nvSpPr>
          <p:spPr bwMode="auto">
            <a:xfrm>
              <a:off x="9304400" y="4596116"/>
              <a:ext cx="2255838" cy="300038"/>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Freeform 37"/>
            <p:cNvSpPr>
              <a:spLocks noEditPoints="1"/>
            </p:cNvSpPr>
            <p:nvPr userDrawn="1"/>
          </p:nvSpPr>
          <p:spPr bwMode="auto">
            <a:xfrm>
              <a:off x="8797988" y="4643741"/>
              <a:ext cx="334963" cy="325438"/>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Freeform 38"/>
            <p:cNvSpPr>
              <a:spLocks noEditPoints="1"/>
            </p:cNvSpPr>
            <p:nvPr userDrawn="1"/>
          </p:nvSpPr>
          <p:spPr bwMode="auto">
            <a:xfrm>
              <a:off x="8872600" y="4775504"/>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39"/>
            <p:cNvSpPr>
              <a:spLocks noEditPoints="1"/>
            </p:cNvSpPr>
            <p:nvPr userDrawn="1"/>
          </p:nvSpPr>
          <p:spPr bwMode="auto">
            <a:xfrm>
              <a:off x="8729725" y="4570716"/>
              <a:ext cx="474663" cy="477838"/>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40"/>
            <p:cNvSpPr>
              <a:spLocks noEditPoints="1"/>
            </p:cNvSpPr>
            <p:nvPr userDrawn="1"/>
          </p:nvSpPr>
          <p:spPr bwMode="auto">
            <a:xfrm>
              <a:off x="8763063" y="4810429"/>
              <a:ext cx="407988" cy="204788"/>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Freeform 41"/>
            <p:cNvSpPr>
              <a:spLocks/>
            </p:cNvSpPr>
            <p:nvPr userDrawn="1"/>
          </p:nvSpPr>
          <p:spPr bwMode="auto">
            <a:xfrm>
              <a:off x="8913875" y="4712004"/>
              <a:ext cx="161925" cy="150813"/>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Freeform 42"/>
            <p:cNvSpPr>
              <a:spLocks/>
            </p:cNvSpPr>
            <p:nvPr userDrawn="1"/>
          </p:nvSpPr>
          <p:spPr bwMode="auto">
            <a:xfrm>
              <a:off x="8942450" y="4694541"/>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Freeform 43"/>
            <p:cNvSpPr>
              <a:spLocks/>
            </p:cNvSpPr>
            <p:nvPr userDrawn="1"/>
          </p:nvSpPr>
          <p:spPr bwMode="auto">
            <a:xfrm>
              <a:off x="8867838" y="4856466"/>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Freeform 44"/>
            <p:cNvSpPr>
              <a:spLocks noEditPoints="1"/>
            </p:cNvSpPr>
            <p:nvPr userDrawn="1"/>
          </p:nvSpPr>
          <p:spPr bwMode="auto">
            <a:xfrm>
              <a:off x="8840850" y="4681841"/>
              <a:ext cx="252413" cy="257175"/>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Freeform 45"/>
            <p:cNvSpPr>
              <a:spLocks noEditPoints="1"/>
            </p:cNvSpPr>
            <p:nvPr userDrawn="1"/>
          </p:nvSpPr>
          <p:spPr bwMode="auto">
            <a:xfrm>
              <a:off x="9091675" y="4667554"/>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Freeform 46"/>
            <p:cNvSpPr>
              <a:spLocks noEditPoints="1"/>
            </p:cNvSpPr>
            <p:nvPr userDrawn="1"/>
          </p:nvSpPr>
          <p:spPr bwMode="auto">
            <a:xfrm>
              <a:off x="9120250" y="4715179"/>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Freeform 47"/>
            <p:cNvSpPr>
              <a:spLocks noEditPoints="1"/>
            </p:cNvSpPr>
            <p:nvPr userDrawn="1"/>
          </p:nvSpPr>
          <p:spPr bwMode="auto">
            <a:xfrm>
              <a:off x="9037700" y="4621516"/>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Freeform 48"/>
            <p:cNvSpPr>
              <a:spLocks noEditPoints="1"/>
            </p:cNvSpPr>
            <p:nvPr userDrawn="1"/>
          </p:nvSpPr>
          <p:spPr bwMode="auto">
            <a:xfrm>
              <a:off x="8913875" y="4588179"/>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49"/>
            <p:cNvSpPr>
              <a:spLocks noEditPoints="1"/>
            </p:cNvSpPr>
            <p:nvPr userDrawn="1"/>
          </p:nvSpPr>
          <p:spPr bwMode="auto">
            <a:xfrm>
              <a:off x="8971025" y="4589766"/>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50"/>
            <p:cNvSpPr>
              <a:spLocks noEditPoints="1"/>
            </p:cNvSpPr>
            <p:nvPr userDrawn="1"/>
          </p:nvSpPr>
          <p:spPr bwMode="auto">
            <a:xfrm>
              <a:off x="8756713" y="4715179"/>
              <a:ext cx="52388"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51"/>
            <p:cNvSpPr>
              <a:spLocks noEditPoints="1"/>
            </p:cNvSpPr>
            <p:nvPr userDrawn="1"/>
          </p:nvSpPr>
          <p:spPr bwMode="auto">
            <a:xfrm>
              <a:off x="8791638" y="4653266"/>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52"/>
            <p:cNvSpPr>
              <a:spLocks noEditPoints="1"/>
            </p:cNvSpPr>
            <p:nvPr userDrawn="1"/>
          </p:nvSpPr>
          <p:spPr bwMode="auto">
            <a:xfrm>
              <a:off x="8847200" y="4611991"/>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目录页">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261872" y="758952"/>
            <a:ext cx="9418320" cy="1156208"/>
          </a:xfrm>
          <a:prstGeom prst="rect">
            <a:avLst/>
          </a:prstGeom>
        </p:spPr>
        <p:txBody>
          <a:bodyPr anchor="b">
            <a:normAutofit/>
          </a:bodyPr>
          <a:lstStyle>
            <a:lvl1pPr>
              <a:lnSpc>
                <a:spcPct val="85000"/>
              </a:lnSpc>
              <a:defRPr sz="7200" b="0">
                <a:solidFill>
                  <a:schemeClr val="tx2"/>
                </a:solidFill>
              </a:defRPr>
            </a:lvl1pPr>
          </a:lstStyle>
          <a:p>
            <a:r>
              <a:rPr lang="zh-CN" altLang="en-US" dirty="0"/>
              <a:t>目录</a:t>
            </a:r>
            <a:endParaRPr lang="en-US" dirty="0"/>
          </a:p>
        </p:txBody>
      </p:sp>
      <p:sp>
        <p:nvSpPr>
          <p:cNvPr id="3" name="Text Placeholder 2"/>
          <p:cNvSpPr>
            <a:spLocks noGrp="1"/>
          </p:cNvSpPr>
          <p:nvPr>
            <p:ph type="body" idx="1"/>
          </p:nvPr>
        </p:nvSpPr>
        <p:spPr>
          <a:xfrm>
            <a:off x="1261872" y="2042160"/>
            <a:ext cx="9418320" cy="4450080"/>
          </a:xfrm>
          <a:prstGeom prst="rect">
            <a:avLst/>
          </a:prstGeom>
        </p:spPr>
        <p:txBody>
          <a:bodyPr anchor="t">
            <a:normAutofit/>
          </a:bodyPr>
          <a:lstStyle>
            <a:lvl1pPr marL="625475" indent="-447675">
              <a:buFont typeface="Wingdings" panose="05000000000000000000" pitchFamily="2" charset="2"/>
              <a:buChar char="n"/>
              <a:defRPr sz="3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r>
              <a:rPr lang="en-US" altLang="zh-CN"/>
              <a:t>2017.1.2</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67361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2386" y="948906"/>
            <a:ext cx="9746088" cy="742416"/>
          </a:xfrm>
          <a:prstGeom prst="rect">
            <a:avLst/>
          </a:prstGeom>
        </p:spPr>
        <p:txBody>
          <a:bodyPr anchor="b"/>
          <a:lstStyle>
            <a:lvl1pPr>
              <a:defRPr lang="en-US" dirty="0">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822386" y="1828800"/>
            <a:ext cx="9746088" cy="4351337"/>
          </a:xfrm>
          <a:prstGeom prst="rect">
            <a:avLst/>
          </a:prstGeom>
        </p:spPr>
        <p:txBody>
          <a:bodyPr>
            <a:normAutofit/>
          </a:bodyPr>
          <a:lstStyle>
            <a:lvl1pPr marL="269875" indent="-269875">
              <a:lnSpc>
                <a:spcPct val="120000"/>
              </a:lnSpc>
              <a:buFont typeface="微软雅黑" panose="020B0503020204020204" pitchFamily="34" charset="-122"/>
              <a:buChar char="▪"/>
              <a:defRPr sz="3600"/>
            </a:lvl1pPr>
            <a:lvl2pPr marL="541338" indent="-266700">
              <a:lnSpc>
                <a:spcPct val="120000"/>
              </a:lnSpc>
              <a:buFont typeface="微软雅黑" panose="020B0503020204020204" pitchFamily="34" charset="-122"/>
              <a:buChar char="▫"/>
              <a:defRPr sz="3200"/>
            </a:lvl2pPr>
            <a:lvl3pPr marL="804863" indent="-257175">
              <a:lnSpc>
                <a:spcPct val="120000"/>
              </a:lnSpc>
              <a:buFont typeface="微软雅黑" panose="020B0503020204020204" pitchFamily="34" charset="-122"/>
              <a:buChar char="◦"/>
              <a:defRPr sz="2800"/>
            </a:lvl3pPr>
            <a:lvl4pPr marL="1074738" indent="-252413">
              <a:lnSpc>
                <a:spcPct val="120000"/>
              </a:lnSpc>
              <a:buFont typeface="微软雅黑" panose="020B0503020204020204" pitchFamily="34" charset="-122"/>
              <a:buChar char="◦"/>
              <a:defRPr sz="2800"/>
            </a:lvl4pPr>
            <a:lvl5pPr marL="1346200" indent="-249238">
              <a:lnSpc>
                <a:spcPct val="120000"/>
              </a:lnSpc>
              <a:buFont typeface="微软雅黑" panose="020B0503020204020204" pitchFamily="34" charset="-122"/>
              <a:buChar char="◦"/>
              <a:defRPr sz="28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r>
              <a:rPr lang="en-US" altLang="zh-CN"/>
              <a:t>2017.1.2</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
        <p:nvSpPr>
          <p:cNvPr id="7" name="Rectangle 6"/>
          <p:cNvSpPr/>
          <p:nvPr userDrawn="1"/>
        </p:nvSpPr>
        <p:spPr>
          <a:xfrm>
            <a:off x="0" y="503148"/>
            <a:ext cx="207034" cy="11881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文本占位符 8"/>
          <p:cNvSpPr>
            <a:spLocks noGrp="1"/>
          </p:cNvSpPr>
          <p:nvPr>
            <p:ph type="body" sz="quarter" idx="13" hasCustomPrompt="1"/>
          </p:nvPr>
        </p:nvSpPr>
        <p:spPr>
          <a:xfrm>
            <a:off x="822325" y="503149"/>
            <a:ext cx="9745413" cy="404813"/>
          </a:xfrm>
          <a:prstGeom prst="rect">
            <a:avLst/>
          </a:prstGeom>
        </p:spPr>
        <p:txBody>
          <a:bodyPr anchor="b"/>
          <a:lstStyle>
            <a:lvl1pPr marL="0" indent="0">
              <a:buNone/>
              <a:defRPr>
                <a:solidFill>
                  <a:schemeClr val="accent1"/>
                </a:solidFill>
              </a:defRPr>
            </a:lvl1pPr>
          </a:lstStyle>
          <a:p>
            <a:pPr lvl="0"/>
            <a:r>
              <a:rPr lang="zh-CN" altLang="en-US" dirty="0"/>
              <a:t>单击此处添加副标题</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2386" y="948906"/>
            <a:ext cx="9746088" cy="742416"/>
          </a:xfrm>
          <a:prstGeom prst="rect">
            <a:avLst/>
          </a:prstGeom>
        </p:spPr>
        <p:txBody>
          <a:bodyPr anchor="b"/>
          <a:lstStyle>
            <a:lvl1pPr>
              <a:defRPr lang="en-US" dirty="0">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822386" y="1828800"/>
            <a:ext cx="9746088" cy="4351337"/>
          </a:xfrm>
          <a:prstGeom prst="rect">
            <a:avLst/>
          </a:prstGeom>
        </p:spPr>
        <p:txBody>
          <a:bodyPr>
            <a:normAutofit/>
          </a:bodyPr>
          <a:lstStyle>
            <a:lvl1pPr marL="269875" indent="-269875">
              <a:lnSpc>
                <a:spcPct val="120000"/>
              </a:lnSpc>
              <a:buFont typeface="微软雅黑" panose="020B0503020204020204" pitchFamily="34" charset="-122"/>
              <a:buChar char="▪"/>
              <a:defRPr sz="3600"/>
            </a:lvl1pPr>
            <a:lvl2pPr marL="541338" indent="-266700">
              <a:lnSpc>
                <a:spcPct val="120000"/>
              </a:lnSpc>
              <a:buFont typeface="微软雅黑" panose="020B0503020204020204" pitchFamily="34" charset="-122"/>
              <a:buChar char="▫"/>
              <a:defRPr sz="3200"/>
            </a:lvl2pPr>
            <a:lvl3pPr marL="804863" indent="-257175">
              <a:lnSpc>
                <a:spcPct val="120000"/>
              </a:lnSpc>
              <a:buFont typeface="微软雅黑" panose="020B0503020204020204" pitchFamily="34" charset="-122"/>
              <a:buChar char="◦"/>
              <a:defRPr sz="2800"/>
            </a:lvl3pPr>
            <a:lvl4pPr marL="1074738" indent="-252413">
              <a:lnSpc>
                <a:spcPct val="120000"/>
              </a:lnSpc>
              <a:buFont typeface="微软雅黑" panose="020B0503020204020204" pitchFamily="34" charset="-122"/>
              <a:buChar char="◦"/>
              <a:defRPr sz="2800"/>
            </a:lvl4pPr>
            <a:lvl5pPr marL="1346200" indent="-249238">
              <a:lnSpc>
                <a:spcPct val="120000"/>
              </a:lnSpc>
              <a:buFont typeface="微软雅黑" panose="020B0503020204020204" pitchFamily="34" charset="-122"/>
              <a:buChar char="◦"/>
              <a:defRPr sz="28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r>
              <a:rPr lang="en-US" altLang="zh-CN"/>
              <a:t>2017.1.2</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
        <p:nvSpPr>
          <p:cNvPr id="7" name="Rectangle 6"/>
          <p:cNvSpPr/>
          <p:nvPr userDrawn="1"/>
        </p:nvSpPr>
        <p:spPr>
          <a:xfrm>
            <a:off x="0" y="503148"/>
            <a:ext cx="207034" cy="11881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93148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a:prstGeom prst="rect">
            <a:avLst/>
          </a:prstGeom>
        </p:spPr>
        <p:txBody>
          <a:bodyPr anchor="b">
            <a:normAutofit/>
          </a:bodyPr>
          <a:lstStyle>
            <a:lvl1pPr>
              <a:lnSpc>
                <a:spcPct val="85000"/>
              </a:lnSpc>
              <a:defRPr sz="7200" b="0">
                <a:solidFill>
                  <a:schemeClr val="tx2"/>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261872" y="4800600"/>
            <a:ext cx="9418320" cy="1691640"/>
          </a:xfrm>
          <a:prstGeom prst="rect">
            <a:avLst/>
          </a:prstGeo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r>
              <a:rPr lang="en-US" altLang="zh-CN"/>
              <a:t>2017.1.2</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zh-CN"/>
              <a:t>2017.1.2</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图片与标题">
    <p:spTree>
      <p:nvGrpSpPr>
        <p:cNvPr id="1" name=""/>
        <p:cNvGrpSpPr/>
        <p:nvPr/>
      </p:nvGrpSpPr>
      <p:grpSpPr>
        <a:xfrm>
          <a:off x="0" y="0"/>
          <a:ext cx="0" cy="0"/>
          <a:chOff x="0" y="0"/>
          <a:chExt cx="0" cy="0"/>
        </a:xfrm>
      </p:grpSpPr>
      <p:sp>
        <p:nvSpPr>
          <p:cNvPr id="8" name="Rectangle 7"/>
          <p:cNvSpPr/>
          <p:nvPr/>
        </p:nvSpPr>
        <p:spPr>
          <a:xfrm>
            <a:off x="0" y="6023292"/>
            <a:ext cx="12192000" cy="834708"/>
          </a:xfrm>
          <a:prstGeom prst="rect">
            <a:avLst/>
          </a:prstGeom>
          <a:solidFill>
            <a:srgbClr val="333F5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89171" y="6023295"/>
            <a:ext cx="9982200" cy="834703"/>
          </a:xfrm>
          <a:prstGeom prst="rect">
            <a:avLst/>
          </a:prstGeom>
        </p:spPr>
        <p:txBody>
          <a:bodyPr anchor="ctr">
            <a:normAutofit/>
          </a:bodyPr>
          <a:lstStyle>
            <a:lvl1pPr>
              <a:defRPr sz="2800" b="0">
                <a:solidFill>
                  <a:schemeClr val="bg1"/>
                </a:solidFill>
              </a:defRPr>
            </a:lvl1pPr>
          </a:lstStyle>
          <a:p>
            <a:r>
              <a:rPr lang="zh-CN" altLang="en-US"/>
              <a:t>单击此处编辑母版标题样式</a:t>
            </a:r>
            <a:endParaRPr lang="en-US" dirty="0"/>
          </a:p>
        </p:txBody>
      </p:sp>
      <p:sp>
        <p:nvSpPr>
          <p:cNvPr id="5" name="图片占位符 4"/>
          <p:cNvSpPr>
            <a:spLocks noGrp="1"/>
          </p:cNvSpPr>
          <p:nvPr>
            <p:ph type="pic" sz="quarter" idx="10"/>
          </p:nvPr>
        </p:nvSpPr>
        <p:spPr>
          <a:xfrm>
            <a:off x="0" y="-1"/>
            <a:ext cx="12192000" cy="6023293"/>
          </a:xfrm>
          <a:prstGeom prst="rect">
            <a:avLst/>
          </a:prstGeom>
        </p:spPr>
        <p:txBody>
          <a:bodyPr/>
          <a:lstStyle/>
          <a:p>
            <a:r>
              <a:rPr lang="zh-CN" altLang="en-US"/>
              <a:t>单击图标添加图片</a:t>
            </a:r>
          </a:p>
        </p:txBody>
      </p:sp>
      <p:sp>
        <p:nvSpPr>
          <p:cNvPr id="7" name="Slide Number Placeholder 3"/>
          <p:cNvSpPr>
            <a:spLocks noGrp="1"/>
          </p:cNvSpPr>
          <p:nvPr>
            <p:ph type="sldNum" sz="quarter" idx="12"/>
          </p:nvPr>
        </p:nvSpPr>
        <p:spPr>
          <a:xfrm>
            <a:off x="11292840" y="6172200"/>
            <a:ext cx="914400" cy="593725"/>
          </a:xfrm>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r>
              <a:rPr lang="en-US" altLang="zh-CN"/>
              <a:t>2017.1.2</a:t>
            </a:r>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2800">
                <a:solidFill>
                  <a:schemeClr val="tx2">
                    <a:lumMod val="60000"/>
                    <a:lumOff val="40000"/>
                  </a:schemeClr>
                </a:solidFill>
              </a:defRPr>
            </a:lvl1pPr>
          </a:lstStyle>
          <a:p>
            <a:fld id="{4FAB73BC-B049-4115-A692-8D63A059BFB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51" r:id="rId2"/>
    <p:sldLayoutId id="2147483842" r:id="rId3"/>
    <p:sldLayoutId id="2147483850" r:id="rId4"/>
    <p:sldLayoutId id="2147483843" r:id="rId5"/>
    <p:sldLayoutId id="2147483847" r:id="rId6"/>
    <p:sldLayoutId id="2147483849" r:id="rId7"/>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执行器技术</a:t>
            </a:r>
            <a:br>
              <a:rPr lang="en-US" altLang="zh-CN" dirty="0"/>
            </a:br>
            <a:r>
              <a:rPr lang="zh-CN" altLang="en-US" dirty="0"/>
              <a:t>第二次习题课</a:t>
            </a:r>
          </a:p>
        </p:txBody>
      </p:sp>
      <p:sp>
        <p:nvSpPr>
          <p:cNvPr id="3" name="副标题 2"/>
          <p:cNvSpPr>
            <a:spLocks noGrp="1"/>
          </p:cNvSpPr>
          <p:nvPr>
            <p:ph type="subTitle" idx="1"/>
          </p:nvPr>
        </p:nvSpPr>
        <p:spPr/>
        <p:txBody>
          <a:bodyPr/>
          <a:lstStyle/>
          <a:p>
            <a:r>
              <a:rPr lang="en-US" altLang="zh-CN" dirty="0"/>
              <a:t>By Wv</a:t>
            </a:r>
            <a:endParaRPr lang="zh-CN" altLang="en-US" dirty="0"/>
          </a:p>
        </p:txBody>
      </p:sp>
    </p:spTree>
    <p:extLst>
      <p:ext uri="{BB962C8B-B14F-4D97-AF65-F5344CB8AC3E}">
        <p14:creationId xmlns:p14="http://schemas.microsoft.com/office/powerpoint/2010/main" val="2510164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第一次作业</a:t>
            </a:r>
          </a:p>
        </p:txBody>
      </p:sp>
      <p:sp>
        <p:nvSpPr>
          <p:cNvPr id="5" name="灯片编号占位符 4"/>
          <p:cNvSpPr>
            <a:spLocks noGrp="1"/>
          </p:cNvSpPr>
          <p:nvPr>
            <p:ph type="sldNum" sz="quarter" idx="12"/>
          </p:nvPr>
        </p:nvSpPr>
        <p:spPr/>
        <p:txBody>
          <a:bodyPr/>
          <a:lstStyle/>
          <a:p>
            <a:fld id="{4FAB73BC-B049-4115-A692-8D63A059BFB8}" type="slidenum">
              <a:rPr lang="en-US" smtClean="0"/>
              <a:pPr/>
              <a:t>2</a:t>
            </a:fld>
            <a:endParaRPr lang="en-US" dirty="0"/>
          </a:p>
        </p:txBody>
      </p:sp>
    </p:spTree>
    <p:extLst>
      <p:ext uri="{BB962C8B-B14F-4D97-AF65-F5344CB8AC3E}">
        <p14:creationId xmlns:p14="http://schemas.microsoft.com/office/powerpoint/2010/main" val="1525735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手动、外螺纹连接、浮动直通式，阀座密封面材料为氟塑料，公称压力</a:t>
            </a:r>
            <a:r>
              <a:rPr lang="en-US" altLang="zh-CN" sz="1800" b="1" kern="100" dirty="0">
                <a:effectLst/>
                <a:latin typeface="Times New Roman" panose="02020603050405020304" pitchFamily="18" charset="0"/>
                <a:ea typeface="宋体" panose="02010600030101010101" pitchFamily="2" charset="-122"/>
              </a:rPr>
              <a:t>PN</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800" b="1" kern="100" dirty="0">
                <a:effectLst/>
                <a:latin typeface="Times New Roman" panose="02020603050405020304" pitchFamily="18" charset="0"/>
                <a:ea typeface="宋体" panose="02010600030101010101" pitchFamily="2" charset="-122"/>
              </a:rPr>
              <a:t>1.6MPa</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、阀体材料为</a:t>
            </a:r>
            <a:r>
              <a:rPr lang="en-US" altLang="zh-CN" sz="1800" b="1" kern="100" dirty="0">
                <a:effectLst/>
                <a:latin typeface="Times New Roman" panose="02020603050405020304" pitchFamily="18" charset="0"/>
                <a:ea typeface="宋体" panose="02010600030101010101" pitchFamily="2" charset="-122"/>
              </a:rPr>
              <a:t>1Cr18Ni9Ti</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的球阀编号是什么？</a:t>
            </a:r>
            <a:endParaRPr lang="zh-CN" altLang="en-US" b="1"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3</a:t>
            </a:fld>
            <a:endParaRPr lang="en-US" dirty="0"/>
          </a:p>
        </p:txBody>
      </p:sp>
      <p:pic>
        <p:nvPicPr>
          <p:cNvPr id="4" name="Picture 3">
            <a:extLst>
              <a:ext uri="{FF2B5EF4-FFF2-40B4-BE49-F238E27FC236}">
                <a16:creationId xmlns:a16="http://schemas.microsoft.com/office/drawing/2014/main" id="{134E5A7D-E35A-4B83-6235-2FE068317C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6462" y="2122906"/>
            <a:ext cx="7577137"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占位符 6">
            <a:extLst>
              <a:ext uri="{FF2B5EF4-FFF2-40B4-BE49-F238E27FC236}">
                <a16:creationId xmlns:a16="http://schemas.microsoft.com/office/drawing/2014/main" id="{AACD72D0-2D66-48A8-BB5E-F6CB43DDA525}"/>
              </a:ext>
            </a:extLst>
          </p:cNvPr>
          <p:cNvSpPr>
            <a:spLocks noGrp="1"/>
          </p:cNvSpPr>
          <p:nvPr>
            <p:ph type="body" sz="quarter" idx="13"/>
          </p:nvPr>
        </p:nvSpPr>
        <p:spPr>
          <a:xfrm>
            <a:off x="823061" y="412152"/>
            <a:ext cx="9745413" cy="907962"/>
          </a:xfrm>
        </p:spPr>
        <p:txBody>
          <a:bodyPr/>
          <a:lstStyle/>
          <a:p>
            <a:r>
              <a:rPr lang="en-US" altLang="zh-CN" sz="1800" kern="100" dirty="0">
                <a:effectLst/>
                <a:latin typeface="Times New Roman" panose="02020603050405020304" pitchFamily="18" charset="0"/>
                <a:ea typeface="宋体" panose="02010600030101010101" pitchFamily="2" charset="-122"/>
              </a:rPr>
              <a:t>2025-5-14</a:t>
            </a:r>
            <a:r>
              <a:rPr lang="zh-CN" altLang="zh-CN" sz="1800" kern="100" dirty="0">
                <a:effectLst/>
                <a:latin typeface="Times New Roman" panose="02020603050405020304" pitchFamily="18" charset="0"/>
                <a:ea typeface="宋体" panose="02010600030101010101" pitchFamily="2" charset="-122"/>
              </a:rPr>
              <a:t>作业</a:t>
            </a:r>
          </a:p>
          <a:p>
            <a:endParaRPr lang="zh-CN" altLang="en-US" dirty="0"/>
          </a:p>
        </p:txBody>
      </p:sp>
    </p:spTree>
    <p:extLst>
      <p:ext uri="{BB962C8B-B14F-4D97-AF65-F5344CB8AC3E}">
        <p14:creationId xmlns:p14="http://schemas.microsoft.com/office/powerpoint/2010/main" val="490570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手动、外螺纹连接、浮动直通式，阀座密封面材料为氟塑料，公称压力</a:t>
            </a:r>
            <a:r>
              <a:rPr lang="en-US" altLang="zh-CN" sz="1800" kern="100" dirty="0">
                <a:effectLst/>
                <a:latin typeface="Times New Roman" panose="02020603050405020304" pitchFamily="18" charset="0"/>
                <a:ea typeface="宋体" panose="02010600030101010101" pitchFamily="2" charset="-122"/>
              </a:rPr>
              <a:t>PN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800" kern="100" dirty="0">
                <a:effectLst/>
                <a:latin typeface="Times New Roman" panose="02020603050405020304" pitchFamily="18" charset="0"/>
                <a:ea typeface="宋体" panose="02010600030101010101" pitchFamily="2" charset="-122"/>
              </a:rPr>
              <a:t>1.6MPa</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、阀体材料为</a:t>
            </a:r>
            <a:r>
              <a:rPr lang="en-US" altLang="zh-CN" sz="1800" kern="100" dirty="0">
                <a:effectLst/>
                <a:latin typeface="Times New Roman" panose="02020603050405020304" pitchFamily="18" charset="0"/>
                <a:ea typeface="宋体" panose="02010600030101010101" pitchFamily="2" charset="-122"/>
              </a:rPr>
              <a:t>1Cr18Ni9Ti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的球阀编号是什么？</a:t>
            </a:r>
            <a:endParaRPr lang="zh-CN" altLang="en-US"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4</a:t>
            </a:fld>
            <a:endParaRPr lang="en-US" dirty="0"/>
          </a:p>
        </p:txBody>
      </p:sp>
      <p:pic>
        <p:nvPicPr>
          <p:cNvPr id="7" name="图片 6">
            <a:extLst>
              <a:ext uri="{FF2B5EF4-FFF2-40B4-BE49-F238E27FC236}">
                <a16:creationId xmlns:a16="http://schemas.microsoft.com/office/drawing/2014/main" id="{7FD498AB-B174-FC65-2136-5910228EECD5}"/>
              </a:ext>
            </a:extLst>
          </p:cNvPr>
          <p:cNvPicPr>
            <a:picLocks noChangeAspect="1"/>
          </p:cNvPicPr>
          <p:nvPr/>
        </p:nvPicPr>
        <p:blipFill>
          <a:blip r:embed="rId3"/>
          <a:stretch>
            <a:fillRect/>
          </a:stretch>
        </p:blipFill>
        <p:spPr>
          <a:xfrm>
            <a:off x="1542903" y="1778838"/>
            <a:ext cx="2629267" cy="390580"/>
          </a:xfrm>
          <a:prstGeom prst="rect">
            <a:avLst/>
          </a:prstGeom>
        </p:spPr>
      </p:pic>
      <p:pic>
        <p:nvPicPr>
          <p:cNvPr id="9" name="图片 8">
            <a:extLst>
              <a:ext uri="{FF2B5EF4-FFF2-40B4-BE49-F238E27FC236}">
                <a16:creationId xmlns:a16="http://schemas.microsoft.com/office/drawing/2014/main" id="{C929ADA6-1E72-FC86-3611-0C759AF4EB4A}"/>
              </a:ext>
            </a:extLst>
          </p:cNvPr>
          <p:cNvPicPr>
            <a:picLocks noChangeAspect="1"/>
          </p:cNvPicPr>
          <p:nvPr/>
        </p:nvPicPr>
        <p:blipFill>
          <a:blip r:embed="rId4"/>
          <a:stretch>
            <a:fillRect/>
          </a:stretch>
        </p:blipFill>
        <p:spPr>
          <a:xfrm>
            <a:off x="1542903" y="2538357"/>
            <a:ext cx="5792008" cy="771633"/>
          </a:xfrm>
          <a:prstGeom prst="rect">
            <a:avLst/>
          </a:prstGeom>
        </p:spPr>
      </p:pic>
      <p:sp>
        <p:nvSpPr>
          <p:cNvPr id="12" name="文本框 11">
            <a:extLst>
              <a:ext uri="{FF2B5EF4-FFF2-40B4-BE49-F238E27FC236}">
                <a16:creationId xmlns:a16="http://schemas.microsoft.com/office/drawing/2014/main" id="{263F8C6D-8FA2-340C-24CE-9AF56C2C2474}"/>
              </a:ext>
            </a:extLst>
          </p:cNvPr>
          <p:cNvSpPr txBox="1"/>
          <p:nvPr/>
        </p:nvSpPr>
        <p:spPr>
          <a:xfrm>
            <a:off x="1116507" y="1799890"/>
            <a:ext cx="319318" cy="369332"/>
          </a:xfrm>
          <a:prstGeom prst="rect">
            <a:avLst/>
          </a:prstGeom>
          <a:noFill/>
        </p:spPr>
        <p:txBody>
          <a:bodyPr wrap="none" rtlCol="0">
            <a:spAutoFit/>
          </a:bodyPr>
          <a:lstStyle/>
          <a:p>
            <a:r>
              <a:rPr lang="en-US" altLang="zh-CN" b="1" dirty="0"/>
              <a:t>1</a:t>
            </a:r>
            <a:endParaRPr lang="zh-CN" altLang="en-US" b="1" dirty="0"/>
          </a:p>
        </p:txBody>
      </p:sp>
      <p:sp>
        <p:nvSpPr>
          <p:cNvPr id="13" name="文本框 12">
            <a:extLst>
              <a:ext uri="{FF2B5EF4-FFF2-40B4-BE49-F238E27FC236}">
                <a16:creationId xmlns:a16="http://schemas.microsoft.com/office/drawing/2014/main" id="{0EA386B4-FB50-B63B-DAEB-EB8B97C99488}"/>
              </a:ext>
            </a:extLst>
          </p:cNvPr>
          <p:cNvSpPr txBox="1"/>
          <p:nvPr/>
        </p:nvSpPr>
        <p:spPr>
          <a:xfrm>
            <a:off x="1116507" y="2739507"/>
            <a:ext cx="319318" cy="369332"/>
          </a:xfrm>
          <a:prstGeom prst="rect">
            <a:avLst/>
          </a:prstGeom>
          <a:noFill/>
        </p:spPr>
        <p:txBody>
          <a:bodyPr wrap="none" rtlCol="0">
            <a:spAutoFit/>
          </a:bodyPr>
          <a:lstStyle/>
          <a:p>
            <a:r>
              <a:rPr lang="en-US" altLang="zh-CN" b="1" dirty="0"/>
              <a:t>2</a:t>
            </a:r>
            <a:endParaRPr lang="zh-CN" altLang="en-US" b="1" dirty="0"/>
          </a:p>
        </p:txBody>
      </p:sp>
      <p:pic>
        <p:nvPicPr>
          <p:cNvPr id="15" name="图片 14">
            <a:extLst>
              <a:ext uri="{FF2B5EF4-FFF2-40B4-BE49-F238E27FC236}">
                <a16:creationId xmlns:a16="http://schemas.microsoft.com/office/drawing/2014/main" id="{483C58E2-A37A-9E6B-7985-A55643E4A9ED}"/>
              </a:ext>
            </a:extLst>
          </p:cNvPr>
          <p:cNvPicPr>
            <a:picLocks noChangeAspect="1"/>
          </p:cNvPicPr>
          <p:nvPr/>
        </p:nvPicPr>
        <p:blipFill>
          <a:blip r:embed="rId5"/>
          <a:stretch>
            <a:fillRect/>
          </a:stretch>
        </p:blipFill>
        <p:spPr>
          <a:xfrm>
            <a:off x="1542903" y="3731265"/>
            <a:ext cx="2638793" cy="704948"/>
          </a:xfrm>
          <a:prstGeom prst="rect">
            <a:avLst/>
          </a:prstGeom>
        </p:spPr>
      </p:pic>
      <p:sp>
        <p:nvSpPr>
          <p:cNvPr id="16" name="文本框 15">
            <a:extLst>
              <a:ext uri="{FF2B5EF4-FFF2-40B4-BE49-F238E27FC236}">
                <a16:creationId xmlns:a16="http://schemas.microsoft.com/office/drawing/2014/main" id="{87039165-B6B5-E600-B589-9DC40C0A1023}"/>
              </a:ext>
            </a:extLst>
          </p:cNvPr>
          <p:cNvSpPr txBox="1"/>
          <p:nvPr/>
        </p:nvSpPr>
        <p:spPr>
          <a:xfrm>
            <a:off x="1116507" y="3899073"/>
            <a:ext cx="319318" cy="369332"/>
          </a:xfrm>
          <a:prstGeom prst="rect">
            <a:avLst/>
          </a:prstGeom>
          <a:noFill/>
        </p:spPr>
        <p:txBody>
          <a:bodyPr wrap="square" rtlCol="0">
            <a:spAutoFit/>
          </a:bodyPr>
          <a:lstStyle/>
          <a:p>
            <a:r>
              <a:rPr lang="en-US" altLang="zh-CN" b="1" dirty="0"/>
              <a:t>3</a:t>
            </a:r>
            <a:endParaRPr lang="zh-CN" altLang="en-US" b="1" dirty="0"/>
          </a:p>
        </p:txBody>
      </p:sp>
      <p:pic>
        <p:nvPicPr>
          <p:cNvPr id="18" name="图片 17">
            <a:extLst>
              <a:ext uri="{FF2B5EF4-FFF2-40B4-BE49-F238E27FC236}">
                <a16:creationId xmlns:a16="http://schemas.microsoft.com/office/drawing/2014/main" id="{D79A1AD1-8B5F-AAAC-9B8D-154C6D947312}"/>
              </a:ext>
            </a:extLst>
          </p:cNvPr>
          <p:cNvPicPr>
            <a:picLocks noChangeAspect="1"/>
          </p:cNvPicPr>
          <p:nvPr/>
        </p:nvPicPr>
        <p:blipFill>
          <a:blip r:embed="rId6"/>
          <a:stretch>
            <a:fillRect/>
          </a:stretch>
        </p:blipFill>
        <p:spPr>
          <a:xfrm>
            <a:off x="1542903" y="4857488"/>
            <a:ext cx="3305636" cy="1638529"/>
          </a:xfrm>
          <a:prstGeom prst="rect">
            <a:avLst/>
          </a:prstGeom>
        </p:spPr>
      </p:pic>
      <p:sp>
        <p:nvSpPr>
          <p:cNvPr id="19" name="文本框 18">
            <a:extLst>
              <a:ext uri="{FF2B5EF4-FFF2-40B4-BE49-F238E27FC236}">
                <a16:creationId xmlns:a16="http://schemas.microsoft.com/office/drawing/2014/main" id="{D863F10D-937B-CC50-CEDC-E7AAE927417C}"/>
              </a:ext>
            </a:extLst>
          </p:cNvPr>
          <p:cNvSpPr txBox="1"/>
          <p:nvPr/>
        </p:nvSpPr>
        <p:spPr>
          <a:xfrm>
            <a:off x="1116507" y="5492086"/>
            <a:ext cx="319318" cy="369332"/>
          </a:xfrm>
          <a:prstGeom prst="rect">
            <a:avLst/>
          </a:prstGeom>
          <a:noFill/>
        </p:spPr>
        <p:txBody>
          <a:bodyPr wrap="square" rtlCol="0">
            <a:spAutoFit/>
          </a:bodyPr>
          <a:lstStyle/>
          <a:p>
            <a:r>
              <a:rPr lang="en-US" altLang="zh-CN" b="1" dirty="0"/>
              <a:t>4</a:t>
            </a:r>
            <a:endParaRPr lang="zh-CN" altLang="en-US" b="1" dirty="0"/>
          </a:p>
        </p:txBody>
      </p:sp>
      <p:sp>
        <p:nvSpPr>
          <p:cNvPr id="4" name="文本占位符 3">
            <a:extLst>
              <a:ext uri="{FF2B5EF4-FFF2-40B4-BE49-F238E27FC236}">
                <a16:creationId xmlns:a16="http://schemas.microsoft.com/office/drawing/2014/main" id="{8F54B24A-7992-4DB0-B87B-F633CAE001BE}"/>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3350279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手动、外螺纹连接、浮动直通式，阀座密封面材料为氟塑料，公称压力</a:t>
            </a:r>
            <a:r>
              <a:rPr lang="en-US" altLang="zh-CN" sz="1800" kern="100" dirty="0">
                <a:effectLst/>
                <a:latin typeface="Times New Roman" panose="02020603050405020304" pitchFamily="18" charset="0"/>
                <a:ea typeface="宋体" panose="02010600030101010101" pitchFamily="2" charset="-122"/>
              </a:rPr>
              <a:t>PN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800" kern="100" dirty="0">
                <a:effectLst/>
                <a:latin typeface="Times New Roman" panose="02020603050405020304" pitchFamily="18" charset="0"/>
                <a:ea typeface="宋体" panose="02010600030101010101" pitchFamily="2" charset="-122"/>
              </a:rPr>
              <a:t>1.6MPa</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、阀体材料为</a:t>
            </a:r>
            <a:r>
              <a:rPr lang="en-US" altLang="zh-CN" sz="1800" kern="100" dirty="0">
                <a:effectLst/>
                <a:latin typeface="Times New Roman" panose="02020603050405020304" pitchFamily="18" charset="0"/>
                <a:ea typeface="宋体" panose="02010600030101010101" pitchFamily="2" charset="-122"/>
              </a:rPr>
              <a:t>1Cr18Ni9Ti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的球阀编号是什么？</a:t>
            </a:r>
            <a:endParaRPr lang="zh-CN" altLang="en-US"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5</a:t>
            </a:fld>
            <a:endParaRPr lang="en-US" dirty="0"/>
          </a:p>
        </p:txBody>
      </p:sp>
      <p:sp>
        <p:nvSpPr>
          <p:cNvPr id="12" name="文本框 11">
            <a:extLst>
              <a:ext uri="{FF2B5EF4-FFF2-40B4-BE49-F238E27FC236}">
                <a16:creationId xmlns:a16="http://schemas.microsoft.com/office/drawing/2014/main" id="{263F8C6D-8FA2-340C-24CE-9AF56C2C2474}"/>
              </a:ext>
            </a:extLst>
          </p:cNvPr>
          <p:cNvSpPr txBox="1"/>
          <p:nvPr/>
        </p:nvSpPr>
        <p:spPr>
          <a:xfrm>
            <a:off x="1116507" y="1799890"/>
            <a:ext cx="320922" cy="369332"/>
          </a:xfrm>
          <a:prstGeom prst="rect">
            <a:avLst/>
          </a:prstGeom>
          <a:noFill/>
        </p:spPr>
        <p:txBody>
          <a:bodyPr wrap="none" rtlCol="0">
            <a:spAutoFit/>
          </a:bodyPr>
          <a:lstStyle/>
          <a:p>
            <a:r>
              <a:rPr lang="en-US" altLang="zh-CN" b="1" dirty="0"/>
              <a:t>5</a:t>
            </a:r>
            <a:endParaRPr lang="zh-CN" altLang="en-US" b="1" dirty="0"/>
          </a:p>
        </p:txBody>
      </p:sp>
      <p:sp>
        <p:nvSpPr>
          <p:cNvPr id="13" name="文本框 12">
            <a:extLst>
              <a:ext uri="{FF2B5EF4-FFF2-40B4-BE49-F238E27FC236}">
                <a16:creationId xmlns:a16="http://schemas.microsoft.com/office/drawing/2014/main" id="{0EA386B4-FB50-B63B-DAEB-EB8B97C99488}"/>
              </a:ext>
            </a:extLst>
          </p:cNvPr>
          <p:cNvSpPr txBox="1"/>
          <p:nvPr/>
        </p:nvSpPr>
        <p:spPr>
          <a:xfrm>
            <a:off x="1114903" y="2899145"/>
            <a:ext cx="320922" cy="369332"/>
          </a:xfrm>
          <a:prstGeom prst="rect">
            <a:avLst/>
          </a:prstGeom>
          <a:noFill/>
        </p:spPr>
        <p:txBody>
          <a:bodyPr wrap="none" rtlCol="0">
            <a:spAutoFit/>
          </a:bodyPr>
          <a:lstStyle/>
          <a:p>
            <a:r>
              <a:rPr lang="en-US" altLang="zh-CN" b="1" dirty="0"/>
              <a:t>6</a:t>
            </a:r>
            <a:endParaRPr lang="zh-CN" altLang="en-US" b="1" dirty="0"/>
          </a:p>
        </p:txBody>
      </p:sp>
      <p:sp>
        <p:nvSpPr>
          <p:cNvPr id="16" name="文本框 15">
            <a:extLst>
              <a:ext uri="{FF2B5EF4-FFF2-40B4-BE49-F238E27FC236}">
                <a16:creationId xmlns:a16="http://schemas.microsoft.com/office/drawing/2014/main" id="{87039165-B6B5-E600-B589-9DC40C0A1023}"/>
              </a:ext>
            </a:extLst>
          </p:cNvPr>
          <p:cNvSpPr txBox="1"/>
          <p:nvPr/>
        </p:nvSpPr>
        <p:spPr>
          <a:xfrm>
            <a:off x="1116507" y="3899073"/>
            <a:ext cx="319318" cy="369332"/>
          </a:xfrm>
          <a:prstGeom prst="rect">
            <a:avLst/>
          </a:prstGeom>
          <a:noFill/>
        </p:spPr>
        <p:txBody>
          <a:bodyPr wrap="square" rtlCol="0">
            <a:spAutoFit/>
          </a:bodyPr>
          <a:lstStyle/>
          <a:p>
            <a:r>
              <a:rPr lang="en-US" altLang="zh-CN" b="1" dirty="0"/>
              <a:t>7</a:t>
            </a:r>
            <a:endParaRPr lang="zh-CN" altLang="en-US" b="1" dirty="0"/>
          </a:p>
        </p:txBody>
      </p:sp>
      <p:pic>
        <p:nvPicPr>
          <p:cNvPr id="4" name="图片 3">
            <a:extLst>
              <a:ext uri="{FF2B5EF4-FFF2-40B4-BE49-F238E27FC236}">
                <a16:creationId xmlns:a16="http://schemas.microsoft.com/office/drawing/2014/main" id="{528460C6-47F0-673A-1B70-44F3E964645A}"/>
              </a:ext>
            </a:extLst>
          </p:cNvPr>
          <p:cNvPicPr>
            <a:picLocks noChangeAspect="1"/>
          </p:cNvPicPr>
          <p:nvPr/>
        </p:nvPicPr>
        <p:blipFill>
          <a:blip r:embed="rId3"/>
          <a:stretch>
            <a:fillRect/>
          </a:stretch>
        </p:blipFill>
        <p:spPr>
          <a:xfrm>
            <a:off x="1542903" y="1805782"/>
            <a:ext cx="3391373" cy="409632"/>
          </a:xfrm>
          <a:prstGeom prst="rect">
            <a:avLst/>
          </a:prstGeom>
        </p:spPr>
      </p:pic>
      <p:sp>
        <p:nvSpPr>
          <p:cNvPr id="8" name="文本框 7">
            <a:extLst>
              <a:ext uri="{FF2B5EF4-FFF2-40B4-BE49-F238E27FC236}">
                <a16:creationId xmlns:a16="http://schemas.microsoft.com/office/drawing/2014/main" id="{7A8C21B5-862B-2695-3A41-E7613CEA2B7D}"/>
              </a:ext>
            </a:extLst>
          </p:cNvPr>
          <p:cNvSpPr txBox="1"/>
          <p:nvPr/>
        </p:nvSpPr>
        <p:spPr>
          <a:xfrm>
            <a:off x="1542903" y="2740926"/>
            <a:ext cx="5715000" cy="646331"/>
          </a:xfrm>
          <a:prstGeom prst="rect">
            <a:avLst/>
          </a:prstGeom>
          <a:noFill/>
        </p:spPr>
        <p:txBody>
          <a:bodyPr wrap="square" rtlCol="0">
            <a:spAutoFit/>
          </a:bodyPr>
          <a:lstStyle/>
          <a:p>
            <a:r>
              <a:rPr lang="zh-CN" altLang="en-US" b="0" i="0" dirty="0">
                <a:solidFill>
                  <a:srgbClr val="223344"/>
                </a:solidFill>
                <a:effectLst/>
                <a:latin typeface="微软雅黑" panose="020B0503020204020204" pitchFamily="34" charset="-122"/>
                <a:ea typeface="微软雅黑" panose="020B0503020204020204" pitchFamily="34" charset="-122"/>
              </a:rPr>
              <a:t>公称压力代号：用阿拉伯数字表示，其数值是以兆帕</a:t>
            </a:r>
            <a:r>
              <a:rPr lang="en-US" altLang="zh-CN" b="0" i="0" dirty="0">
                <a:solidFill>
                  <a:srgbClr val="223344"/>
                </a:solidFill>
                <a:effectLst/>
                <a:latin typeface="微软雅黑" panose="020B0503020204020204" pitchFamily="34" charset="-122"/>
                <a:ea typeface="微软雅黑" panose="020B0503020204020204" pitchFamily="34" charset="-122"/>
              </a:rPr>
              <a:t>(MPa)</a:t>
            </a:r>
            <a:r>
              <a:rPr lang="zh-CN" altLang="en-US" b="0" i="0" dirty="0">
                <a:solidFill>
                  <a:srgbClr val="223344"/>
                </a:solidFill>
                <a:effectLst/>
                <a:latin typeface="微软雅黑" panose="020B0503020204020204" pitchFamily="34" charset="-122"/>
                <a:ea typeface="微软雅黑" panose="020B0503020204020204" pitchFamily="34" charset="-122"/>
              </a:rPr>
              <a:t>为单位的公称压力值的</a:t>
            </a:r>
            <a:r>
              <a:rPr lang="en-US" altLang="zh-CN" b="0" i="0" dirty="0">
                <a:solidFill>
                  <a:srgbClr val="223344"/>
                </a:solidFill>
                <a:effectLst/>
                <a:latin typeface="微软雅黑" panose="020B0503020204020204" pitchFamily="34" charset="-122"/>
                <a:ea typeface="微软雅黑" panose="020B0503020204020204" pitchFamily="34" charset="-122"/>
              </a:rPr>
              <a:t>10 </a:t>
            </a:r>
            <a:r>
              <a:rPr lang="zh-CN" altLang="en-US" b="0" i="0" dirty="0">
                <a:solidFill>
                  <a:srgbClr val="223344"/>
                </a:solidFill>
                <a:effectLst/>
                <a:latin typeface="微软雅黑" panose="020B0503020204020204" pitchFamily="34" charset="-122"/>
                <a:ea typeface="微软雅黑" panose="020B0503020204020204" pitchFamily="34" charset="-122"/>
              </a:rPr>
              <a:t>倍</a:t>
            </a:r>
            <a:endParaRPr lang="zh-CN" altLang="en-US" dirty="0"/>
          </a:p>
        </p:txBody>
      </p:sp>
      <p:pic>
        <p:nvPicPr>
          <p:cNvPr id="11" name="图片 10">
            <a:extLst>
              <a:ext uri="{FF2B5EF4-FFF2-40B4-BE49-F238E27FC236}">
                <a16:creationId xmlns:a16="http://schemas.microsoft.com/office/drawing/2014/main" id="{752198B7-2600-50CB-F13B-5CF46A191E4A}"/>
              </a:ext>
            </a:extLst>
          </p:cNvPr>
          <p:cNvPicPr>
            <a:picLocks noChangeAspect="1"/>
          </p:cNvPicPr>
          <p:nvPr/>
        </p:nvPicPr>
        <p:blipFill>
          <a:blip r:embed="rId4"/>
          <a:stretch>
            <a:fillRect/>
          </a:stretch>
        </p:blipFill>
        <p:spPr>
          <a:xfrm>
            <a:off x="1642875" y="3712860"/>
            <a:ext cx="2676899" cy="724001"/>
          </a:xfrm>
          <a:prstGeom prst="rect">
            <a:avLst/>
          </a:prstGeom>
        </p:spPr>
      </p:pic>
      <p:sp>
        <p:nvSpPr>
          <p:cNvPr id="7" name="文本占位符 6">
            <a:extLst>
              <a:ext uri="{FF2B5EF4-FFF2-40B4-BE49-F238E27FC236}">
                <a16:creationId xmlns:a16="http://schemas.microsoft.com/office/drawing/2014/main" id="{8E6C6755-3ED6-42CA-800A-0AA8244288E1}"/>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2109128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342900" lvl="0" indent="-342900" algn="just">
              <a:buFont typeface="Arial" panose="020B0604020202020204" pitchFamily="34" charset="0"/>
              <a:buChar char="•"/>
              <a:tabLst>
                <a:tab pos="228600" algn="l"/>
              </a:tabLst>
            </a:pPr>
            <a:r>
              <a:rPr lang="en-US" altLang="zh-CN" sz="1800" b="1" kern="100" dirty="0">
                <a:effectLst/>
                <a:latin typeface="Times New Roman" panose="02020603050405020304" pitchFamily="18" charset="0"/>
                <a:ea typeface="宋体" panose="02010600030101010101" pitchFamily="2" charset="-122"/>
              </a:rPr>
              <a:t>2. </a:t>
            </a:r>
            <a:r>
              <a:rPr lang="en-US" altLang="zh-CN" sz="1800" b="1" kern="100" dirty="0" err="1">
                <a:effectLst/>
                <a:latin typeface="Times New Roman" panose="02020603050405020304" pitchFamily="18" charset="0"/>
                <a:ea typeface="宋体" panose="02010600030101010101" pitchFamily="2" charset="-122"/>
              </a:rPr>
              <a:t>Kv</a:t>
            </a:r>
            <a:r>
              <a:rPr lang="zh-CN" altLang="zh-CN" sz="1800" b="1" kern="100" dirty="0">
                <a:effectLst/>
                <a:latin typeface="Times New Roman" panose="02020603050405020304" pitchFamily="18" charset="0"/>
                <a:ea typeface="宋体" panose="02010600030101010101" pitchFamily="2" charset="-122"/>
              </a:rPr>
              <a:t>和</a:t>
            </a:r>
            <a:r>
              <a:rPr lang="en-US" altLang="zh-CN" sz="1800" b="1" kern="100" dirty="0" err="1">
                <a:effectLst/>
                <a:latin typeface="Times New Roman" panose="02020603050405020304" pitchFamily="18" charset="0"/>
                <a:ea typeface="宋体" panose="02010600030101010101" pitchFamily="2" charset="-122"/>
              </a:rPr>
              <a:t>Cv</a:t>
            </a:r>
            <a:r>
              <a:rPr lang="zh-CN" altLang="zh-CN" sz="1800" b="1" kern="100" dirty="0">
                <a:effectLst/>
                <a:latin typeface="Times New Roman" panose="02020603050405020304" pitchFamily="18" charset="0"/>
                <a:ea typeface="宋体" panose="02010600030101010101" pitchFamily="2" charset="-122"/>
              </a:rPr>
              <a:t>的关系推导过程？</a:t>
            </a:r>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6</a:t>
            </a:fld>
            <a:endParaRPr lang="en-US" dirty="0"/>
          </a:p>
        </p:txBody>
      </p:sp>
      <p:graphicFrame>
        <p:nvGraphicFramePr>
          <p:cNvPr id="3" name="Group 2">
            <a:extLst>
              <a:ext uri="{FF2B5EF4-FFF2-40B4-BE49-F238E27FC236}">
                <a16:creationId xmlns:a16="http://schemas.microsoft.com/office/drawing/2014/main" id="{24C8C74A-30DF-40BA-BECE-80115E34DCB0}"/>
              </a:ext>
            </a:extLst>
          </p:cNvPr>
          <p:cNvGraphicFramePr>
            <a:graphicFrameLocks noGrp="1"/>
          </p:cNvGraphicFramePr>
          <p:nvPr>
            <p:ph idx="1"/>
            <p:extLst>
              <p:ext uri="{D42A27DB-BD31-4B8C-83A1-F6EECF244321}">
                <p14:modId xmlns:p14="http://schemas.microsoft.com/office/powerpoint/2010/main" val="3305034746"/>
              </p:ext>
            </p:extLst>
          </p:nvPr>
        </p:nvGraphicFramePr>
        <p:xfrm>
          <a:off x="1574801" y="2167307"/>
          <a:ext cx="6159499" cy="4004893"/>
        </p:xfrm>
        <a:graphic>
          <a:graphicData uri="http://schemas.openxmlformats.org/drawingml/2006/table">
            <a:tbl>
              <a:tblPr/>
              <a:tblGrid>
                <a:gridCol w="798164">
                  <a:extLst>
                    <a:ext uri="{9D8B030D-6E8A-4147-A177-3AD203B41FA5}">
                      <a16:colId xmlns:a16="http://schemas.microsoft.com/office/drawing/2014/main" val="20000"/>
                    </a:ext>
                  </a:extLst>
                </a:gridCol>
                <a:gridCol w="3466878">
                  <a:extLst>
                    <a:ext uri="{9D8B030D-6E8A-4147-A177-3AD203B41FA5}">
                      <a16:colId xmlns:a16="http://schemas.microsoft.com/office/drawing/2014/main" val="20001"/>
                    </a:ext>
                  </a:extLst>
                </a:gridCol>
                <a:gridCol w="1894457">
                  <a:extLst>
                    <a:ext uri="{9D8B030D-6E8A-4147-A177-3AD203B41FA5}">
                      <a16:colId xmlns:a16="http://schemas.microsoft.com/office/drawing/2014/main" val="20002"/>
                    </a:ext>
                  </a:extLst>
                </a:gridCol>
              </a:tblGrid>
              <a:tr h="316922">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宋体" pitchFamily="2" charset="-122"/>
                          <a:ea typeface="宋体" pitchFamily="2" charset="-122"/>
                        </a:rPr>
                        <a:t>符号</a:t>
                      </a:r>
                      <a:endParaRPr kumimoji="0" lang="zh-CN" altLang="en-US" sz="1600" b="0" i="0" u="none" strike="noStrike" cap="none" normalizeH="0" baseline="0" dirty="0">
                        <a:ln>
                          <a:noFill/>
                        </a:ln>
                        <a:solidFill>
                          <a:schemeClr val="tx1"/>
                        </a:solidFill>
                        <a:effectLst/>
                        <a:latin typeface="Arial" charset="0"/>
                        <a:ea typeface="宋体"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dirty="0">
                          <a:ln>
                            <a:noFill/>
                          </a:ln>
                          <a:solidFill>
                            <a:schemeClr val="tx1"/>
                          </a:solidFill>
                          <a:effectLst/>
                          <a:latin typeface="宋体" pitchFamily="2" charset="-122"/>
                          <a:ea typeface="宋体" pitchFamily="2" charset="-122"/>
                        </a:rPr>
                        <a:t>定  义</a:t>
                      </a:r>
                      <a:endParaRPr kumimoji="0" lang="zh-CN" altLang="en-US" sz="1600" b="0" i="0" u="none" strike="noStrike" cap="none" normalizeH="0" baseline="0" dirty="0">
                        <a:ln>
                          <a:noFill/>
                        </a:ln>
                        <a:solidFill>
                          <a:schemeClr val="tx1"/>
                        </a:solidFill>
                        <a:effectLst/>
                        <a:latin typeface="Arial" charset="0"/>
                        <a:ea typeface="宋体"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宋体" pitchFamily="2" charset="-122"/>
                          <a:ea typeface="宋体" pitchFamily="2" charset="-122"/>
                        </a:rPr>
                        <a:t>相互关系</a:t>
                      </a:r>
                      <a:endParaRPr kumimoji="0" lang="zh-CN" altLang="en-US" sz="16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85401">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itchFamily="2" charset="-122"/>
                          <a:ea typeface="宋体" pitchFamily="2" charset="-122"/>
                        </a:rPr>
                        <a:t>C</a:t>
                      </a:r>
                      <a:endParaRPr kumimoji="0" lang="en-US" altLang="zh-CN" sz="18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宋体" pitchFamily="2" charset="-122"/>
                          <a:ea typeface="宋体" pitchFamily="2" charset="-122"/>
                        </a:rPr>
                        <a:t>给定行程下，温度为</a:t>
                      </a:r>
                      <a:r>
                        <a:rPr kumimoji="0" lang="en-US" altLang="zh-CN" sz="1800" b="0" i="0" u="none" strike="noStrike" cap="none" normalizeH="0" baseline="0" dirty="0">
                          <a:ln>
                            <a:noFill/>
                          </a:ln>
                          <a:solidFill>
                            <a:srgbClr val="000000"/>
                          </a:solidFill>
                          <a:effectLst/>
                          <a:latin typeface="Verdana" pitchFamily="34" charset="0"/>
                          <a:ea typeface="宋体" pitchFamily="2" charset="-122"/>
                        </a:rPr>
                        <a:t>5</a:t>
                      </a:r>
                      <a:r>
                        <a:rPr kumimoji="0" lang="zh-CN" altLang="en-US" sz="1800" b="0" i="0" u="none" strike="noStrike" cap="none" normalizeH="0" baseline="0" dirty="0">
                          <a:ln>
                            <a:noFill/>
                          </a:ln>
                          <a:solidFill>
                            <a:srgbClr val="000000"/>
                          </a:solidFill>
                          <a:effectLst/>
                          <a:latin typeface="宋体" pitchFamily="2" charset="-122"/>
                          <a:ea typeface="宋体" pitchFamily="2" charset="-122"/>
                        </a:rPr>
                        <a:t>～</a:t>
                      </a:r>
                      <a:r>
                        <a:rPr kumimoji="0" lang="en-US" altLang="zh-CN" sz="1800" b="0" i="0" u="none" strike="noStrike" cap="none" normalizeH="0" baseline="0" dirty="0">
                          <a:ln>
                            <a:noFill/>
                          </a:ln>
                          <a:solidFill>
                            <a:srgbClr val="000000"/>
                          </a:solidFill>
                          <a:effectLst/>
                          <a:latin typeface="Verdana" pitchFamily="34" charset="0"/>
                          <a:ea typeface="宋体" pitchFamily="2" charset="-122"/>
                        </a:rPr>
                        <a:t>40</a:t>
                      </a:r>
                      <a:r>
                        <a:rPr kumimoji="0" lang="en-US" altLang="zh-CN" sz="1800" b="0" i="0" u="none" strike="noStrike" cap="none" normalizeH="0" baseline="0" dirty="0">
                          <a:ln>
                            <a:noFill/>
                          </a:ln>
                          <a:solidFill>
                            <a:srgbClr val="000000"/>
                          </a:solidFill>
                          <a:effectLst/>
                          <a:latin typeface="宋体" pitchFamily="2" charset="-122"/>
                          <a:ea typeface="宋体" pitchFamily="2" charset="-122"/>
                        </a:rPr>
                        <a:t>℃</a:t>
                      </a:r>
                      <a:r>
                        <a:rPr kumimoji="0" lang="zh-CN" altLang="en-US" sz="1800" b="0" i="0" u="none" strike="noStrike" cap="none" normalizeH="0" baseline="0" dirty="0">
                          <a:ln>
                            <a:noFill/>
                          </a:ln>
                          <a:solidFill>
                            <a:srgbClr val="000000"/>
                          </a:solidFill>
                          <a:effectLst/>
                          <a:latin typeface="宋体" pitchFamily="2" charset="-122"/>
                          <a:ea typeface="宋体" pitchFamily="2" charset="-122"/>
                        </a:rPr>
                        <a:t>的水，阀两端压差为</a:t>
                      </a:r>
                      <a:r>
                        <a:rPr kumimoji="0" lang="en-US" altLang="zh-CN" sz="1800" b="0" i="0" u="none" strike="noStrike" cap="none" normalizeH="0" baseline="0" dirty="0">
                          <a:ln>
                            <a:noFill/>
                          </a:ln>
                          <a:solidFill>
                            <a:srgbClr val="000000"/>
                          </a:solidFill>
                          <a:effectLst/>
                          <a:latin typeface="Verdana" pitchFamily="34" charset="0"/>
                          <a:ea typeface="宋体" pitchFamily="2" charset="-122"/>
                        </a:rPr>
                        <a:t>1kgf/cm</a:t>
                      </a:r>
                      <a:r>
                        <a:rPr kumimoji="0" lang="en-US" altLang="zh-CN" sz="1800" b="0" i="0" u="none" strike="noStrike" cap="none" normalizeH="0" baseline="30000" dirty="0">
                          <a:ln>
                            <a:noFill/>
                          </a:ln>
                          <a:solidFill>
                            <a:srgbClr val="000000"/>
                          </a:solidFill>
                          <a:effectLst/>
                          <a:latin typeface="Verdana" pitchFamily="34" charset="0"/>
                          <a:ea typeface="宋体" pitchFamily="2" charset="-122"/>
                        </a:rPr>
                        <a:t>2</a:t>
                      </a:r>
                      <a:r>
                        <a:rPr kumimoji="0" lang="zh-CN" altLang="en-US" sz="1800" b="0" i="0" u="none" strike="noStrike" cap="none" normalizeH="0" baseline="0" dirty="0">
                          <a:ln>
                            <a:noFill/>
                          </a:ln>
                          <a:solidFill>
                            <a:srgbClr val="000000"/>
                          </a:solidFill>
                          <a:effectLst/>
                          <a:latin typeface="宋体" pitchFamily="2" charset="-122"/>
                          <a:ea typeface="宋体" pitchFamily="2" charset="-122"/>
                        </a:rPr>
                        <a:t>时每小时流经调节阀的体积（以</a:t>
                      </a:r>
                      <a:r>
                        <a:rPr kumimoji="0" lang="en-US" altLang="zh-CN" sz="1800" b="0" i="0" u="none" strike="noStrike" cap="none" normalizeH="0" baseline="0" dirty="0">
                          <a:ln>
                            <a:noFill/>
                          </a:ln>
                          <a:solidFill>
                            <a:srgbClr val="000000"/>
                          </a:solidFill>
                          <a:effectLst/>
                          <a:latin typeface="Verdana" pitchFamily="34" charset="0"/>
                          <a:ea typeface="宋体" pitchFamily="2" charset="-122"/>
                        </a:rPr>
                        <a:t>m</a:t>
                      </a:r>
                      <a:r>
                        <a:rPr kumimoji="0" lang="en-US" altLang="zh-CN" sz="1800" b="0" i="0" u="none" strike="noStrike" cap="none" normalizeH="0" baseline="0" dirty="0">
                          <a:ln>
                            <a:noFill/>
                          </a:ln>
                          <a:solidFill>
                            <a:srgbClr val="000000"/>
                          </a:solidFill>
                          <a:effectLst/>
                          <a:latin typeface="Arial" charset="0"/>
                          <a:ea typeface="宋体" pitchFamily="2" charset="-122"/>
                          <a:cs typeface="Arial" charset="0"/>
                        </a:rPr>
                        <a:t>³</a:t>
                      </a:r>
                      <a:r>
                        <a:rPr kumimoji="0" lang="zh-CN" altLang="en-US" sz="1800" b="0" i="0" u="none" strike="noStrike" cap="none" normalizeH="0" baseline="0" dirty="0">
                          <a:ln>
                            <a:noFill/>
                          </a:ln>
                          <a:solidFill>
                            <a:srgbClr val="000000"/>
                          </a:solidFill>
                          <a:effectLst/>
                          <a:latin typeface="宋体" pitchFamily="2" charset="-122"/>
                          <a:ea typeface="宋体" pitchFamily="2" charset="-122"/>
                        </a:rPr>
                        <a:t>表示） </a:t>
                      </a:r>
                      <a:endParaRPr kumimoji="0" lang="zh-CN" altLang="en-US" sz="1800" b="0" i="0" u="none" strike="noStrike" cap="none" normalizeH="0" baseline="0" dirty="0">
                        <a:ln>
                          <a:noFill/>
                        </a:ln>
                        <a:solidFill>
                          <a:schemeClr val="tx1"/>
                        </a:solidFill>
                        <a:effectLst/>
                        <a:latin typeface="Arial" charset="0"/>
                        <a:ea typeface="宋体"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chemeClr val="tx1"/>
                          </a:solidFill>
                          <a:effectLst/>
                          <a:latin typeface="宋体" pitchFamily="2" charset="-122"/>
                          <a:ea typeface="宋体" pitchFamily="2" charset="-122"/>
                        </a:rPr>
                        <a:t>C</a:t>
                      </a:r>
                      <a:r>
                        <a:rPr kumimoji="0" lang="zh-CN" altLang="en-US" sz="1800" b="0" i="0" u="none" strike="noStrike" cap="none" normalizeH="0" baseline="0" dirty="0">
                          <a:ln>
                            <a:noFill/>
                          </a:ln>
                          <a:solidFill>
                            <a:schemeClr val="tx1"/>
                          </a:solidFill>
                          <a:effectLst/>
                          <a:latin typeface="宋体" pitchFamily="2" charset="-122"/>
                          <a:ea typeface="宋体" pitchFamily="2" charset="-122"/>
                        </a:rPr>
                        <a:t>是流量系数的通用符，我国过去曾长期使用</a:t>
                      </a:r>
                      <a:endParaRPr kumimoji="0" lang="zh-CN" altLang="en-US" sz="1800" b="0" i="0" u="none" strike="noStrike" cap="none" normalizeH="0" baseline="0" dirty="0">
                        <a:ln>
                          <a:noFill/>
                        </a:ln>
                        <a:solidFill>
                          <a:schemeClr val="tx1"/>
                        </a:solidFill>
                        <a:effectLst/>
                        <a:latin typeface="Arial" charset="0"/>
                        <a:ea typeface="宋体"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85401">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itchFamily="2" charset="-122"/>
                          <a:ea typeface="宋体" pitchFamily="2" charset="-122"/>
                        </a:rPr>
                        <a:t>Kv</a:t>
                      </a:r>
                      <a:endParaRPr kumimoji="0" lang="en-US" altLang="zh-CN" sz="18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宋体" pitchFamily="2" charset="-122"/>
                          <a:ea typeface="宋体" pitchFamily="2" charset="-122"/>
                        </a:rPr>
                        <a:t>给定行程下，温度为</a:t>
                      </a:r>
                      <a:r>
                        <a:rPr kumimoji="0" lang="en-US" altLang="zh-CN" sz="1800" b="0" i="0" u="none" strike="noStrike" cap="none" normalizeH="0" baseline="0" dirty="0">
                          <a:ln>
                            <a:noFill/>
                          </a:ln>
                          <a:solidFill>
                            <a:schemeClr val="tx1"/>
                          </a:solidFill>
                          <a:effectLst/>
                          <a:latin typeface="宋体" pitchFamily="2" charset="-122"/>
                          <a:ea typeface="宋体" pitchFamily="2" charset="-122"/>
                        </a:rPr>
                        <a:t>5</a:t>
                      </a:r>
                      <a:r>
                        <a:rPr kumimoji="0" lang="zh-CN" altLang="en-US" sz="1800" b="0" i="0" u="none" strike="noStrike" cap="none" normalizeH="0" baseline="0" dirty="0">
                          <a:ln>
                            <a:noFill/>
                          </a:ln>
                          <a:solidFill>
                            <a:schemeClr val="tx1"/>
                          </a:solidFill>
                          <a:effectLst/>
                          <a:latin typeface="宋体" pitchFamily="2" charset="-122"/>
                          <a:ea typeface="宋体" pitchFamily="2" charset="-122"/>
                        </a:rPr>
                        <a:t>～</a:t>
                      </a:r>
                      <a:r>
                        <a:rPr kumimoji="0" lang="en-US" altLang="zh-CN" sz="1800" b="0" i="0" u="none" strike="noStrike" cap="none" normalizeH="0" baseline="0" dirty="0">
                          <a:ln>
                            <a:noFill/>
                          </a:ln>
                          <a:solidFill>
                            <a:schemeClr val="tx1"/>
                          </a:solidFill>
                          <a:effectLst/>
                          <a:latin typeface="宋体" pitchFamily="2" charset="-122"/>
                          <a:ea typeface="宋体" pitchFamily="2" charset="-122"/>
                        </a:rPr>
                        <a:t>40℃</a:t>
                      </a:r>
                      <a:r>
                        <a:rPr kumimoji="0" lang="zh-CN" altLang="en-US" sz="1800" b="0" i="0" u="none" strike="noStrike" cap="none" normalizeH="0" baseline="0" dirty="0">
                          <a:ln>
                            <a:noFill/>
                          </a:ln>
                          <a:solidFill>
                            <a:schemeClr val="tx1"/>
                          </a:solidFill>
                          <a:effectLst/>
                          <a:latin typeface="宋体" pitchFamily="2" charset="-122"/>
                          <a:ea typeface="宋体" pitchFamily="2" charset="-122"/>
                        </a:rPr>
                        <a:t>的水，阀两端压差为</a:t>
                      </a:r>
                      <a:r>
                        <a:rPr kumimoji="0" lang="en-US" altLang="zh-CN" sz="1800" b="0" i="0" u="none" strike="noStrike" cap="none" normalizeH="0" baseline="0" dirty="0">
                          <a:ln>
                            <a:noFill/>
                          </a:ln>
                          <a:solidFill>
                            <a:schemeClr val="tx1"/>
                          </a:solidFill>
                          <a:effectLst/>
                          <a:latin typeface="宋体" pitchFamily="2" charset="-122"/>
                          <a:ea typeface="宋体" pitchFamily="2" charset="-122"/>
                        </a:rPr>
                        <a:t>10</a:t>
                      </a:r>
                      <a:r>
                        <a:rPr kumimoji="0" lang="en-US" altLang="zh-CN" sz="1800" b="0" i="0" u="none" strike="noStrike" cap="none" normalizeH="0" baseline="30000" dirty="0">
                          <a:ln>
                            <a:noFill/>
                          </a:ln>
                          <a:solidFill>
                            <a:schemeClr val="tx1"/>
                          </a:solidFill>
                          <a:effectLst/>
                          <a:latin typeface="宋体" pitchFamily="2" charset="-122"/>
                          <a:ea typeface="宋体" pitchFamily="2" charset="-122"/>
                        </a:rPr>
                        <a:t>2</a:t>
                      </a:r>
                      <a:r>
                        <a:rPr kumimoji="0" lang="en-US" altLang="zh-CN" sz="1800" b="0" i="0" u="none" strike="noStrike" cap="none" normalizeH="0" baseline="0" dirty="0">
                          <a:ln>
                            <a:noFill/>
                          </a:ln>
                          <a:solidFill>
                            <a:schemeClr val="tx1"/>
                          </a:solidFill>
                          <a:effectLst/>
                          <a:latin typeface="宋体" pitchFamily="2" charset="-122"/>
                          <a:ea typeface="宋体" pitchFamily="2" charset="-122"/>
                        </a:rPr>
                        <a:t>kPa</a:t>
                      </a:r>
                      <a:r>
                        <a:rPr kumimoji="0" lang="zh-CN" altLang="en-US" sz="1800" b="0" i="0" u="none" strike="noStrike" cap="none" normalizeH="0" baseline="0" dirty="0">
                          <a:ln>
                            <a:noFill/>
                          </a:ln>
                          <a:solidFill>
                            <a:schemeClr val="tx1"/>
                          </a:solidFill>
                          <a:effectLst/>
                          <a:latin typeface="宋体" pitchFamily="2" charset="-122"/>
                          <a:ea typeface="宋体" pitchFamily="2" charset="-122"/>
                        </a:rPr>
                        <a:t>时，每小时流经调节阀的体积（以</a:t>
                      </a:r>
                      <a:r>
                        <a:rPr kumimoji="0" lang="en-US" altLang="zh-CN" sz="1800" b="0" i="0" u="none" strike="noStrike" cap="none" normalizeH="0" baseline="0" dirty="0">
                          <a:ln>
                            <a:noFill/>
                          </a:ln>
                          <a:solidFill>
                            <a:schemeClr val="tx1"/>
                          </a:solidFill>
                          <a:effectLst/>
                          <a:latin typeface="宋体" pitchFamily="2" charset="-122"/>
                          <a:ea typeface="宋体" pitchFamily="2" charset="-122"/>
                        </a:rPr>
                        <a:t>m</a:t>
                      </a:r>
                      <a:r>
                        <a:rPr kumimoji="0" lang="en-US" altLang="zh-CN" sz="1800" b="0" i="0" u="none" strike="noStrike" cap="none" normalizeH="0" baseline="0" dirty="0">
                          <a:ln>
                            <a:noFill/>
                          </a:ln>
                          <a:solidFill>
                            <a:schemeClr val="tx1"/>
                          </a:solidFill>
                          <a:effectLst/>
                          <a:latin typeface="Arial"/>
                          <a:ea typeface="宋体" pitchFamily="2" charset="-122"/>
                        </a:rPr>
                        <a:t>³</a:t>
                      </a:r>
                      <a:r>
                        <a:rPr kumimoji="0" lang="zh-CN" altLang="en-US" sz="1800" b="0" i="0" u="none" strike="noStrike" cap="none" normalizeH="0" baseline="0" dirty="0">
                          <a:ln>
                            <a:noFill/>
                          </a:ln>
                          <a:solidFill>
                            <a:schemeClr val="tx1"/>
                          </a:solidFill>
                          <a:effectLst/>
                          <a:latin typeface="宋体" pitchFamily="2" charset="-122"/>
                          <a:ea typeface="宋体" pitchFamily="2" charset="-122"/>
                        </a:rPr>
                        <a:t>表示）</a:t>
                      </a:r>
                      <a:endParaRPr kumimoji="0" lang="zh-CN" altLang="en-US" sz="1800" b="0" i="0" u="none" strike="noStrike" cap="none" normalizeH="0" baseline="0" dirty="0">
                        <a:ln>
                          <a:noFill/>
                        </a:ln>
                        <a:solidFill>
                          <a:schemeClr val="tx1"/>
                        </a:solidFill>
                        <a:effectLst/>
                        <a:latin typeface="Arial" charset="0"/>
                        <a:ea typeface="宋体"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itchFamily="2" charset="-122"/>
                          <a:ea typeface="宋体" pitchFamily="2" charset="-122"/>
                        </a:rPr>
                        <a:t>Kv=1.01C</a:t>
                      </a:r>
                      <a:br>
                        <a:rPr kumimoji="0" lang="en-US" altLang="zh-CN" sz="1800" b="0" i="0" u="none" strike="noStrike" cap="none" normalizeH="0" baseline="0">
                          <a:ln>
                            <a:noFill/>
                          </a:ln>
                          <a:solidFill>
                            <a:schemeClr val="tx1"/>
                          </a:solidFill>
                          <a:effectLst/>
                          <a:latin typeface="宋体" pitchFamily="2" charset="-122"/>
                          <a:ea typeface="宋体" pitchFamily="2" charset="-122"/>
                        </a:rPr>
                      </a:br>
                      <a:r>
                        <a:rPr kumimoji="0" lang="zh-CN" altLang="en-US" sz="1800" b="0" i="0" u="none" strike="noStrike" cap="none" normalizeH="0" baseline="0">
                          <a:ln>
                            <a:noFill/>
                          </a:ln>
                          <a:solidFill>
                            <a:schemeClr val="tx1"/>
                          </a:solidFill>
                          <a:effectLst/>
                          <a:latin typeface="宋体" pitchFamily="2" charset="-122"/>
                          <a:ea typeface="宋体" pitchFamily="2" charset="-122"/>
                        </a:rPr>
                        <a:t>我国推荐使用</a:t>
                      </a:r>
                      <a:r>
                        <a:rPr kumimoji="0" lang="en-US" altLang="zh-CN" sz="1800" b="0" i="0" u="none" strike="noStrike" cap="none" normalizeH="0" baseline="0">
                          <a:ln>
                            <a:noFill/>
                          </a:ln>
                          <a:solidFill>
                            <a:schemeClr val="tx1"/>
                          </a:solidFill>
                          <a:effectLst/>
                          <a:latin typeface="宋体" pitchFamily="2" charset="-122"/>
                          <a:ea typeface="宋体" pitchFamily="2" charset="-122"/>
                        </a:rPr>
                        <a:t>Kv</a:t>
                      </a:r>
                      <a:endParaRPr kumimoji="0" lang="en-US" altLang="zh-CN" sz="18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92143">
                <a:tc>
                  <a:txBody>
                    <a:bodyPr/>
                    <a:lstStyle/>
                    <a:p>
                      <a:pPr marL="342900" marR="0" lvl="0" indent="-342900" algn="ctr" defTabSz="914400" rtl="0" eaLnBrk="1" fontAlgn="ctr"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宋体" pitchFamily="2" charset="-122"/>
                          <a:ea typeface="宋体" pitchFamily="2" charset="-122"/>
                        </a:rPr>
                        <a:t>Cv</a:t>
                      </a:r>
                      <a:endParaRPr kumimoji="0" lang="en-US" altLang="zh-CN" sz="1800" b="0" i="0" u="none" strike="noStrike" cap="none" normalizeH="0" baseline="0">
                        <a:ln>
                          <a:noFill/>
                        </a:ln>
                        <a:solidFill>
                          <a:schemeClr val="tx1"/>
                        </a:solidFill>
                        <a:effectLst/>
                        <a:latin typeface="Arial" charset="0"/>
                        <a:ea typeface="宋体"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宋体" pitchFamily="2" charset="-122"/>
                          <a:ea typeface="宋体" pitchFamily="2" charset="-122"/>
                        </a:rPr>
                        <a:t>给定行程下，温度为</a:t>
                      </a:r>
                      <a:r>
                        <a:rPr kumimoji="0" lang="en-US" altLang="zh-CN" sz="1800" b="0" i="0" u="none" strike="noStrike" cap="none" normalizeH="0" baseline="0" dirty="0">
                          <a:ln>
                            <a:noFill/>
                          </a:ln>
                          <a:solidFill>
                            <a:schemeClr val="tx1"/>
                          </a:solidFill>
                          <a:effectLst/>
                          <a:latin typeface="宋体" pitchFamily="2" charset="-122"/>
                          <a:ea typeface="宋体" pitchFamily="2" charset="-122"/>
                        </a:rPr>
                        <a:t>60℉</a:t>
                      </a:r>
                      <a:r>
                        <a:rPr kumimoji="0" lang="zh-CN" altLang="en-US" sz="1800" b="0" i="0" u="none" strike="noStrike" cap="none" normalizeH="0" baseline="0" dirty="0">
                          <a:ln>
                            <a:noFill/>
                          </a:ln>
                          <a:solidFill>
                            <a:schemeClr val="tx1"/>
                          </a:solidFill>
                          <a:effectLst/>
                          <a:latin typeface="宋体" pitchFamily="2" charset="-122"/>
                          <a:ea typeface="宋体" pitchFamily="2" charset="-122"/>
                        </a:rPr>
                        <a:t>的水，阀</a:t>
                      </a:r>
                      <a:r>
                        <a:rPr kumimoji="0" lang="zh-CN" altLang="en-US" sz="1800" b="0" i="0" u="none" strike="noStrike" cap="none" normalizeH="0" baseline="0" dirty="0">
                          <a:ln>
                            <a:noFill/>
                          </a:ln>
                          <a:solidFill>
                            <a:srgbClr val="FF0000"/>
                          </a:solidFill>
                          <a:effectLst/>
                          <a:latin typeface="宋体" pitchFamily="2" charset="-122"/>
                          <a:ea typeface="宋体" pitchFamily="2" charset="-122"/>
                        </a:rPr>
                        <a:t>两端压差为</a:t>
                      </a:r>
                      <a:r>
                        <a:rPr kumimoji="0" lang="en-US" altLang="zh-CN" sz="1800" b="0" i="0" u="none" strike="noStrike" cap="none" normalizeH="0" baseline="0" dirty="0">
                          <a:ln>
                            <a:noFill/>
                          </a:ln>
                          <a:solidFill>
                            <a:srgbClr val="FF0000"/>
                          </a:solidFill>
                          <a:effectLst/>
                          <a:latin typeface="宋体" pitchFamily="2" charset="-122"/>
                          <a:ea typeface="宋体" pitchFamily="2" charset="-122"/>
                        </a:rPr>
                        <a:t>1lb/in</a:t>
                      </a:r>
                      <a:r>
                        <a:rPr kumimoji="0" lang="en-US" altLang="zh-CN" sz="1800" b="0" i="0" u="none" strike="noStrike" cap="none" normalizeH="0" baseline="30000" dirty="0">
                          <a:ln>
                            <a:noFill/>
                          </a:ln>
                          <a:solidFill>
                            <a:srgbClr val="FF0000"/>
                          </a:solidFill>
                          <a:effectLst/>
                          <a:latin typeface="宋体" pitchFamily="2" charset="-122"/>
                          <a:ea typeface="宋体" pitchFamily="2" charset="-122"/>
                        </a:rPr>
                        <a:t>2</a:t>
                      </a:r>
                      <a:r>
                        <a:rPr kumimoji="0" lang="zh-CN" altLang="en-US" sz="1800" b="0" i="0" u="none" strike="noStrike" cap="none" normalizeH="0" baseline="0" dirty="0">
                          <a:ln>
                            <a:noFill/>
                          </a:ln>
                          <a:solidFill>
                            <a:schemeClr val="tx1"/>
                          </a:solidFill>
                          <a:effectLst/>
                          <a:latin typeface="宋体" pitchFamily="2" charset="-122"/>
                          <a:ea typeface="宋体" pitchFamily="2" charset="-122"/>
                        </a:rPr>
                        <a:t>时，每分钟流经调节阀的体积（以</a:t>
                      </a:r>
                      <a:r>
                        <a:rPr kumimoji="0" lang="zh-CN" altLang="en-US" sz="1800" b="0" i="0" u="none" strike="noStrike" cap="none" normalizeH="0" baseline="0" dirty="0">
                          <a:ln>
                            <a:noFill/>
                          </a:ln>
                          <a:solidFill>
                            <a:srgbClr val="FF0000"/>
                          </a:solidFill>
                          <a:effectLst/>
                          <a:latin typeface="宋体" pitchFamily="2" charset="-122"/>
                          <a:ea typeface="宋体" pitchFamily="2" charset="-122"/>
                        </a:rPr>
                        <a:t>美国加仑</a:t>
                      </a:r>
                      <a:r>
                        <a:rPr kumimoji="0" lang="en-US" altLang="zh-CN" sz="1800" b="0" i="0" u="none" strike="noStrike" cap="none" normalizeH="0" baseline="0" dirty="0" err="1">
                          <a:ln>
                            <a:noFill/>
                          </a:ln>
                          <a:solidFill>
                            <a:srgbClr val="FF0000"/>
                          </a:solidFill>
                          <a:effectLst/>
                          <a:latin typeface="宋体" pitchFamily="2" charset="-122"/>
                          <a:ea typeface="宋体" pitchFamily="2" charset="-122"/>
                        </a:rPr>
                        <a:t>USgal</a:t>
                      </a:r>
                      <a:r>
                        <a:rPr kumimoji="0" lang="zh-CN" altLang="en-US" sz="1800" b="0" i="0" u="none" strike="noStrike" cap="none" normalizeH="0" baseline="0" dirty="0">
                          <a:ln>
                            <a:noFill/>
                          </a:ln>
                          <a:solidFill>
                            <a:schemeClr val="tx1"/>
                          </a:solidFill>
                          <a:effectLst/>
                          <a:latin typeface="宋体" pitchFamily="2" charset="-122"/>
                          <a:ea typeface="宋体" pitchFamily="2" charset="-122"/>
                        </a:rPr>
                        <a:t>表示）</a:t>
                      </a:r>
                      <a:endParaRPr kumimoji="0" lang="zh-CN" altLang="en-US" sz="1800" b="0" i="0" u="none" strike="noStrike" cap="none" normalizeH="0" baseline="0" dirty="0">
                        <a:ln>
                          <a:noFill/>
                        </a:ln>
                        <a:solidFill>
                          <a:schemeClr val="tx1"/>
                        </a:solidFill>
                        <a:effectLst/>
                        <a:latin typeface="Arial" charset="0"/>
                        <a:ea typeface="宋体"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ctr" latinLnBrk="0" hangingPunct="1">
                        <a:lnSpc>
                          <a:spcPct val="100000"/>
                        </a:lnSpc>
                        <a:spcBef>
                          <a:spcPct val="0"/>
                        </a:spcBef>
                        <a:spcAft>
                          <a:spcPct val="0"/>
                        </a:spcAft>
                        <a:buClrTx/>
                        <a:buSzTx/>
                        <a:buFontTx/>
                        <a:buNone/>
                        <a:tabLst/>
                      </a:pPr>
                      <a:r>
                        <a:rPr kumimoji="0" lang="en-US" altLang="zh-CN" sz="1800" b="0" i="0" u="none" strike="noStrike" cap="none" normalizeH="0" baseline="0" dirty="0" err="1">
                          <a:ln>
                            <a:noFill/>
                          </a:ln>
                          <a:solidFill>
                            <a:schemeClr val="tx1"/>
                          </a:solidFill>
                          <a:effectLst/>
                          <a:latin typeface="宋体" pitchFamily="2" charset="-122"/>
                          <a:ea typeface="宋体" pitchFamily="2" charset="-122"/>
                        </a:rPr>
                        <a:t>Cv</a:t>
                      </a:r>
                      <a:r>
                        <a:rPr kumimoji="0" lang="en-US" altLang="zh-CN" sz="1800" b="0" i="0" u="none" strike="noStrike" cap="none" normalizeH="0" baseline="0" dirty="0">
                          <a:ln>
                            <a:noFill/>
                          </a:ln>
                          <a:solidFill>
                            <a:schemeClr val="tx1"/>
                          </a:solidFill>
                          <a:effectLst/>
                          <a:latin typeface="宋体" pitchFamily="2" charset="-122"/>
                          <a:ea typeface="宋体" pitchFamily="2" charset="-122"/>
                        </a:rPr>
                        <a:t>=1.167C</a:t>
                      </a:r>
                      <a:endParaRPr kumimoji="0" lang="en-US" altLang="zh-CN" sz="1800" b="0" i="0" u="none" strike="noStrike" cap="none" normalizeH="0" baseline="0" dirty="0">
                        <a:ln>
                          <a:noFill/>
                        </a:ln>
                        <a:solidFill>
                          <a:schemeClr val="tx1"/>
                        </a:solidFill>
                        <a:effectLst/>
                        <a:latin typeface="Arial" charset="0"/>
                        <a:ea typeface="宋体"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文本占位符 6">
            <a:extLst>
              <a:ext uri="{FF2B5EF4-FFF2-40B4-BE49-F238E27FC236}">
                <a16:creationId xmlns:a16="http://schemas.microsoft.com/office/drawing/2014/main" id="{E2DB0E81-1593-4D58-A602-5E103D5B2EAE}"/>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2756279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342900" lvl="0" indent="-342900" algn="just">
              <a:buFont typeface="Arial" panose="020B0604020202020204" pitchFamily="34" charset="0"/>
              <a:buChar char="•"/>
              <a:tabLst>
                <a:tab pos="228600" algn="l"/>
              </a:tabLst>
            </a:pPr>
            <a:r>
              <a:rPr lang="en-US" altLang="zh-CN" sz="1800" kern="100" dirty="0" err="1">
                <a:effectLst/>
                <a:latin typeface="Times New Roman" panose="02020603050405020304" pitchFamily="18" charset="0"/>
                <a:ea typeface="宋体" panose="02010600030101010101" pitchFamily="2" charset="-122"/>
              </a:rPr>
              <a:t>Kv</a:t>
            </a:r>
            <a:r>
              <a:rPr lang="zh-CN" altLang="zh-CN" sz="1800" kern="100" dirty="0">
                <a:effectLst/>
                <a:latin typeface="Times New Roman" panose="02020603050405020304" pitchFamily="18" charset="0"/>
                <a:ea typeface="宋体" panose="02010600030101010101" pitchFamily="2" charset="-122"/>
              </a:rPr>
              <a:t>和</a:t>
            </a:r>
            <a:r>
              <a:rPr lang="en-US" altLang="zh-CN" sz="1800" kern="100" dirty="0" err="1">
                <a:effectLst/>
                <a:latin typeface="Times New Roman" panose="02020603050405020304" pitchFamily="18" charset="0"/>
                <a:ea typeface="宋体" panose="02010600030101010101" pitchFamily="2" charset="-122"/>
              </a:rPr>
              <a:t>Cv</a:t>
            </a:r>
            <a:r>
              <a:rPr lang="zh-CN" altLang="zh-CN" sz="1800" kern="100" dirty="0">
                <a:effectLst/>
                <a:latin typeface="Times New Roman" panose="02020603050405020304" pitchFamily="18" charset="0"/>
                <a:ea typeface="宋体" panose="02010600030101010101" pitchFamily="2" charset="-122"/>
              </a:rPr>
              <a:t>的关系推导过程？</a:t>
            </a:r>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7</a:t>
            </a:fld>
            <a:endParaRPr lang="en-US" dirty="0"/>
          </a:p>
        </p:txBody>
      </p:sp>
      <mc:AlternateContent xmlns:mc="http://schemas.openxmlformats.org/markup-compatibility/2006" xmlns:a14="http://schemas.microsoft.com/office/drawing/2010/main">
        <mc:Choice Requires="a14">
          <p:sp>
            <p:nvSpPr>
              <p:cNvPr id="7" name="内容占位符 6">
                <a:extLst>
                  <a:ext uri="{FF2B5EF4-FFF2-40B4-BE49-F238E27FC236}">
                    <a16:creationId xmlns:a16="http://schemas.microsoft.com/office/drawing/2014/main" id="{19C569E0-1A4E-E337-27ED-AB6DF9B3B5D7}"/>
                  </a:ext>
                </a:extLst>
              </p:cNvPr>
              <p:cNvSpPr>
                <a:spLocks noGrp="1"/>
              </p:cNvSpPr>
              <p:nvPr>
                <p:ph idx="1"/>
              </p:nvPr>
            </p:nvSpPr>
            <p:spPr/>
            <p:txBody>
              <a:bodyPr>
                <a:normAutofit/>
              </a:bodyPr>
              <a:lstStyle/>
              <a:p>
                <a14:m>
                  <m:oMath xmlns:m="http://schemas.openxmlformats.org/officeDocument/2006/math">
                    <m:sSub>
                      <m:sSubPr>
                        <m:ctrlPr>
                          <a:rPr lang="zh-CN" altLang="en-US" sz="2000" i="1" smtClean="0">
                            <a:solidFill>
                              <a:srgbClr val="836967"/>
                            </a:solidFill>
                            <a:latin typeface="Cambria Math" panose="02040503050406030204" pitchFamily="18" charset="0"/>
                          </a:rPr>
                        </m:ctrlPr>
                      </m:sSubPr>
                      <m:e>
                        <m:r>
                          <a:rPr lang="zh-CN" altLang="en-US" sz="2000" i="1" smtClean="0">
                            <a:latin typeface="Cambria Math" panose="02040503050406030204" pitchFamily="18" charset="0"/>
                          </a:rPr>
                          <m:t>𝐾</m:t>
                        </m:r>
                      </m:e>
                      <m:sub>
                        <m:r>
                          <a:rPr lang="zh-CN" altLang="en-US" sz="2000" i="1" smtClean="0">
                            <a:latin typeface="Cambria Math" panose="02040503050406030204" pitchFamily="18" charset="0"/>
                          </a:rPr>
                          <m:t>𝑣</m:t>
                        </m:r>
                      </m:sub>
                    </m:sSub>
                    <m:r>
                      <a:rPr lang="zh-CN" altLang="en-US" sz="2000" i="1" smtClean="0">
                        <a:latin typeface="Cambria Math" panose="02040503050406030204" pitchFamily="18" charset="0"/>
                      </a:rPr>
                      <m:t>=10</m:t>
                    </m:r>
                    <m:f>
                      <m:fPr>
                        <m:ctrlPr>
                          <a:rPr lang="zh-CN" altLang="en-US" sz="2000" i="1" smtClean="0">
                            <a:solidFill>
                              <a:srgbClr val="836967"/>
                            </a:solidFill>
                            <a:latin typeface="Cambria Math" panose="02040503050406030204" pitchFamily="18" charset="0"/>
                          </a:rPr>
                        </m:ctrlPr>
                      </m:fPr>
                      <m:num>
                        <m:r>
                          <a:rPr lang="zh-CN" altLang="en-US" sz="2000" i="1" smtClean="0">
                            <a:latin typeface="Cambria Math" panose="02040503050406030204" pitchFamily="18" charset="0"/>
                          </a:rPr>
                          <m:t>𝑄</m:t>
                        </m:r>
                        <m:rad>
                          <m:radPr>
                            <m:degHide m:val="on"/>
                            <m:ctrlPr>
                              <a:rPr lang="zh-CN" altLang="en-US" sz="2000" i="1" smtClean="0">
                                <a:solidFill>
                                  <a:srgbClr val="836967"/>
                                </a:solidFill>
                                <a:latin typeface="Cambria Math" panose="02040503050406030204" pitchFamily="18" charset="0"/>
                              </a:rPr>
                            </m:ctrlPr>
                          </m:radPr>
                          <m:deg/>
                          <m:e>
                            <m:r>
                              <a:rPr lang="zh-CN" altLang="en-US" sz="2000" i="1" smtClean="0">
                                <a:latin typeface="Cambria Math" panose="02040503050406030204" pitchFamily="18" charset="0"/>
                              </a:rPr>
                              <m:t>𝜌</m:t>
                            </m:r>
                          </m:e>
                        </m:rad>
                      </m:num>
                      <m:den>
                        <m:rad>
                          <m:radPr>
                            <m:degHide m:val="on"/>
                            <m:ctrlPr>
                              <a:rPr lang="zh-CN" altLang="en-US" sz="2000" i="1" smtClean="0">
                                <a:solidFill>
                                  <a:srgbClr val="836967"/>
                                </a:solidFill>
                                <a:latin typeface="Cambria Math" panose="02040503050406030204" pitchFamily="18" charset="0"/>
                              </a:rPr>
                            </m:ctrlPr>
                          </m:radPr>
                          <m:deg/>
                          <m:e>
                            <m:r>
                              <m:rPr>
                                <m:sty m:val="p"/>
                              </m:rPr>
                              <a:rPr lang="zh-CN" altLang="en-US" sz="2000" i="1" smtClean="0">
                                <a:latin typeface="Cambria Math" panose="02040503050406030204" pitchFamily="18" charset="0"/>
                              </a:rPr>
                              <m:t>Δ</m:t>
                            </m:r>
                            <m:r>
                              <a:rPr lang="zh-CN" altLang="en-US" sz="2000" i="1" smtClean="0">
                                <a:latin typeface="Cambria Math" panose="02040503050406030204" pitchFamily="18" charset="0"/>
                              </a:rPr>
                              <m:t>𝑝</m:t>
                            </m:r>
                          </m:e>
                        </m:rad>
                      </m:den>
                    </m:f>
                    <m:r>
                      <a:rPr lang="zh-CN" altLang="en-US" sz="2000" i="1">
                        <a:latin typeface="Cambria Math" panose="02040503050406030204" pitchFamily="18" charset="0"/>
                      </a:rPr>
                      <m:t>；</m:t>
                    </m:r>
                  </m:oMath>
                </a14:m>
                <a:r>
                  <a:rPr lang="zh-CN" altLang="en-US" sz="2000" dirty="0"/>
                  <a:t>其中</a:t>
                </a:r>
                <a14:m>
                  <m:oMath xmlns:m="http://schemas.openxmlformats.org/officeDocument/2006/math">
                    <m:r>
                      <a:rPr lang="zh-CN" altLang="en-US" sz="2000" i="1" smtClean="0">
                        <a:latin typeface="Cambria Math" panose="02040503050406030204" pitchFamily="18" charset="0"/>
                      </a:rPr>
                      <m:t>𝜌</m:t>
                    </m:r>
                    <m:r>
                      <a:rPr lang="zh-CN" altLang="en-US" sz="2000" i="1" smtClean="0">
                        <a:latin typeface="Cambria Math" panose="02040503050406030204" pitchFamily="18" charset="0"/>
                      </a:rPr>
                      <m:t>=1</m:t>
                    </m:r>
                    <m:f>
                      <m:fPr>
                        <m:type m:val="lin"/>
                        <m:ctrlPr>
                          <a:rPr lang="zh-CN" altLang="en-US" sz="2000" i="1">
                            <a:latin typeface="Cambria Math" panose="02040503050406030204" pitchFamily="18" charset="0"/>
                          </a:rPr>
                        </m:ctrlPr>
                      </m:fPr>
                      <m:num>
                        <m:r>
                          <a:rPr lang="zh-CN" altLang="en-US" sz="2000" i="1">
                            <a:latin typeface="Cambria Math" panose="02040503050406030204" pitchFamily="18" charset="0"/>
                          </a:rPr>
                          <m:t>𝑔</m:t>
                        </m:r>
                      </m:num>
                      <m:den>
                        <m:r>
                          <a:rPr lang="zh-CN" altLang="en-US" sz="2000" i="1">
                            <a:latin typeface="Cambria Math" panose="02040503050406030204" pitchFamily="18" charset="0"/>
                          </a:rPr>
                          <m:t>𝑐</m:t>
                        </m:r>
                      </m:den>
                    </m:f>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𝑚</m:t>
                        </m:r>
                      </m:e>
                      <m:sup>
                        <m:r>
                          <a:rPr lang="zh-CN" altLang="en-US" sz="2000" i="1">
                            <a:latin typeface="Cambria Math" panose="02040503050406030204" pitchFamily="18" charset="0"/>
                          </a:rPr>
                          <m:t>2</m:t>
                        </m:r>
                      </m:sup>
                    </m:sSup>
                    <m:r>
                      <a:rPr lang="zh-CN" altLang="en-US" sz="2000" i="1">
                        <a:latin typeface="Cambria Math" panose="02040503050406030204" pitchFamily="18" charset="0"/>
                      </a:rPr>
                      <m:t>，</m:t>
                    </m:r>
                    <m:r>
                      <m:rPr>
                        <m:sty m:val="p"/>
                      </m:rPr>
                      <a:rPr lang="zh-CN" altLang="en-US" sz="2000" dirty="0" smtClean="0">
                        <a:latin typeface="Cambria Math" panose="02040503050406030204" pitchFamily="18" charset="0"/>
                      </a:rPr>
                      <m:t>Δ</m:t>
                    </m:r>
                    <m:r>
                      <m:rPr>
                        <m:sty m:val="p"/>
                      </m:rPr>
                      <a:rPr lang="en-US" altLang="zh-CN" sz="2000" b="0" i="0" dirty="0" smtClean="0">
                        <a:latin typeface="Cambria Math" panose="02040503050406030204" pitchFamily="18" charset="0"/>
                      </a:rPr>
                      <m:t>P</m:t>
                    </m:r>
                    <m:r>
                      <a:rPr lang="zh-CN" altLang="en-US" sz="2000" i="0" dirty="0">
                        <a:latin typeface="Cambria Math" panose="02040503050406030204" pitchFamily="18" charset="0"/>
                      </a:rPr>
                      <m:t>=100</m:t>
                    </m:r>
                    <m:r>
                      <a:rPr lang="zh-CN" altLang="en-US" sz="2000" i="1" dirty="0">
                        <a:latin typeface="Cambria Math" panose="02040503050406030204" pitchFamily="18" charset="0"/>
                      </a:rPr>
                      <m:t>𝑘𝑝𝑎</m:t>
                    </m:r>
                  </m:oMath>
                </a14:m>
                <a:r>
                  <a:rPr lang="en-US" altLang="zh-CN" sz="2000" dirty="0"/>
                  <a:t>,</a:t>
                </a:r>
                <a14:m>
                  <m:oMath xmlns:m="http://schemas.openxmlformats.org/officeDocument/2006/math">
                    <m:r>
                      <a:rPr lang="en-US" altLang="zh-CN" sz="2000" i="1" dirty="0" smtClean="0">
                        <a:latin typeface="Cambria Math" panose="02040503050406030204" pitchFamily="18" charset="0"/>
                      </a:rPr>
                      <m:t>𝑄</m:t>
                    </m:r>
                    <m:r>
                      <a:rPr lang="en-US" altLang="zh-CN" sz="2000" i="1" dirty="0" smtClean="0">
                        <a:latin typeface="Cambria Math" panose="02040503050406030204" pitchFamily="18" charset="0"/>
                      </a:rPr>
                      <m:t>=1</m:t>
                    </m:r>
                    <m:f>
                      <m:fPr>
                        <m:type m:val="lin"/>
                        <m:ctrlPr>
                          <a:rPr lang="en-US" altLang="zh-CN" sz="2000" i="1" dirty="0" smtClean="0">
                            <a:latin typeface="Cambria Math" panose="02040503050406030204" pitchFamily="18" charset="0"/>
                          </a:rPr>
                        </m:ctrlPr>
                      </m:fPr>
                      <m:num>
                        <m:sSup>
                          <m:sSupPr>
                            <m:ctrlPr>
                              <a:rPr lang="en-US" altLang="zh-CN" sz="2000" i="1" dirty="0" smtClean="0">
                                <a:solidFill>
                                  <a:srgbClr val="836967"/>
                                </a:solidFill>
                                <a:latin typeface="Cambria Math" panose="02040503050406030204" pitchFamily="18" charset="0"/>
                              </a:rPr>
                            </m:ctrlPr>
                          </m:sSupPr>
                          <m:e>
                            <m:r>
                              <a:rPr lang="en-US" altLang="zh-CN" sz="2000" i="1" dirty="0" smtClean="0">
                                <a:latin typeface="Cambria Math" panose="02040503050406030204" pitchFamily="18" charset="0"/>
                              </a:rPr>
                              <m:t>𝑚</m:t>
                            </m:r>
                          </m:e>
                          <m:sup>
                            <m:r>
                              <a:rPr lang="en-US" altLang="zh-CN" sz="2000" i="1" dirty="0" smtClean="0">
                                <a:latin typeface="Cambria Math" panose="02040503050406030204" pitchFamily="18" charset="0"/>
                              </a:rPr>
                              <m:t>3</m:t>
                            </m:r>
                          </m:sup>
                        </m:sSup>
                      </m:num>
                      <m:den>
                        <m:r>
                          <a:rPr lang="en-US" altLang="zh-CN" sz="2000" i="1" dirty="0" smtClean="0">
                            <a:latin typeface="Cambria Math" panose="02040503050406030204" pitchFamily="18" charset="0"/>
                          </a:rPr>
                          <m:t>h</m:t>
                        </m:r>
                      </m:den>
                    </m:f>
                  </m:oMath>
                </a14:m>
                <a:r>
                  <a:rPr lang="en-US" altLang="zh-CN" sz="2000" dirty="0"/>
                  <a:t>,</a:t>
                </a:r>
                <a:r>
                  <a:rPr lang="zh-CN" altLang="en-US" sz="2000" dirty="0">
                    <a:solidFill>
                      <a:srgbClr val="836967"/>
                    </a:solidFill>
                  </a:rPr>
                  <a:t> </a:t>
                </a:r>
                <a14:m>
                  <m:oMath xmlns:m="http://schemas.openxmlformats.org/officeDocument/2006/math">
                    <m:sSub>
                      <m:sSubPr>
                        <m:ctrlPr>
                          <a:rPr lang="zh-CN" altLang="en-US" sz="2000" i="1">
                            <a:solidFill>
                              <a:srgbClr val="836967"/>
                            </a:solidFill>
                            <a:latin typeface="Cambria Math" panose="02040503050406030204" pitchFamily="18" charset="0"/>
                          </a:rPr>
                        </m:ctrlPr>
                      </m:sSubPr>
                      <m:e>
                        <m:r>
                          <a:rPr lang="zh-CN" altLang="en-US" sz="2000" i="1">
                            <a:latin typeface="Cambria Math" panose="02040503050406030204" pitchFamily="18" charset="0"/>
                          </a:rPr>
                          <m:t>𝐾</m:t>
                        </m:r>
                      </m:e>
                      <m:sub>
                        <m:r>
                          <a:rPr lang="zh-CN" altLang="en-US" sz="2000" i="1">
                            <a:latin typeface="Cambria Math" panose="02040503050406030204" pitchFamily="18" charset="0"/>
                          </a:rPr>
                          <m:t>𝑣</m:t>
                        </m:r>
                      </m:sub>
                    </m:sSub>
                    <m:r>
                      <a:rPr lang="zh-CN" altLang="en-US" sz="2000" i="1">
                        <a:latin typeface="Cambria Math" panose="02040503050406030204" pitchFamily="18" charset="0"/>
                      </a:rPr>
                      <m:t>=</m:t>
                    </m:r>
                  </m:oMath>
                </a14:m>
                <a:r>
                  <a:rPr lang="en-US" altLang="zh-CN" sz="2000" dirty="0"/>
                  <a:t>1</a:t>
                </a:r>
              </a:p>
              <a:p>
                <a14:m>
                  <m:oMath xmlns:m="http://schemas.openxmlformats.org/officeDocument/2006/math">
                    <m:sSub>
                      <m:sSubPr>
                        <m:ctrlPr>
                          <a:rPr lang="zh-CN" altLang="en-US" sz="2000" i="1" smtClean="0">
                            <a:solidFill>
                              <a:srgbClr val="836967"/>
                            </a:solidFill>
                            <a:latin typeface="Cambria Math" panose="02040503050406030204" pitchFamily="18" charset="0"/>
                          </a:rPr>
                        </m:ctrlPr>
                      </m:sSubPr>
                      <m:e>
                        <m:r>
                          <a:rPr lang="en-US" altLang="zh-CN" sz="2000" b="0" i="1" smtClean="0">
                            <a:solidFill>
                              <a:srgbClr val="836967"/>
                            </a:solidFill>
                            <a:latin typeface="Cambria Math" panose="02040503050406030204" pitchFamily="18" charset="0"/>
                          </a:rPr>
                          <m:t>𝐶</m:t>
                        </m:r>
                      </m:e>
                      <m:sub>
                        <m:r>
                          <a:rPr lang="zh-CN" altLang="en-US" sz="2000" i="1" smtClean="0">
                            <a:latin typeface="Cambria Math" panose="02040503050406030204" pitchFamily="18" charset="0"/>
                          </a:rPr>
                          <m:t>𝑣</m:t>
                        </m:r>
                      </m:sub>
                    </m:sSub>
                    <m:r>
                      <a:rPr lang="zh-CN" altLang="en-US" sz="2000" i="1" smtClean="0">
                        <a:latin typeface="Cambria Math" panose="02040503050406030204" pitchFamily="18" charset="0"/>
                      </a:rPr>
                      <m:t>=</m:t>
                    </m:r>
                    <m:f>
                      <m:fPr>
                        <m:ctrlPr>
                          <a:rPr lang="zh-CN" altLang="en-US" sz="2000" i="1" smtClean="0">
                            <a:solidFill>
                              <a:srgbClr val="836967"/>
                            </a:solidFill>
                            <a:latin typeface="Cambria Math" panose="02040503050406030204" pitchFamily="18" charset="0"/>
                          </a:rPr>
                        </m:ctrlPr>
                      </m:fPr>
                      <m:num>
                        <m:r>
                          <a:rPr lang="zh-CN" altLang="en-US" sz="2000" i="1" smtClean="0">
                            <a:latin typeface="Cambria Math" panose="02040503050406030204" pitchFamily="18" charset="0"/>
                          </a:rPr>
                          <m:t>𝑄</m:t>
                        </m:r>
                        <m:rad>
                          <m:radPr>
                            <m:degHide m:val="on"/>
                            <m:ctrlPr>
                              <a:rPr lang="zh-CN" altLang="en-US" sz="2000" i="1" smtClean="0">
                                <a:solidFill>
                                  <a:srgbClr val="836967"/>
                                </a:solidFill>
                                <a:latin typeface="Cambria Math" panose="02040503050406030204" pitchFamily="18" charset="0"/>
                              </a:rPr>
                            </m:ctrlPr>
                          </m:radPr>
                          <m:deg/>
                          <m:e>
                            <m:r>
                              <a:rPr lang="zh-CN" altLang="en-US" sz="2000" i="1" smtClean="0">
                                <a:latin typeface="Cambria Math" panose="02040503050406030204" pitchFamily="18" charset="0"/>
                              </a:rPr>
                              <m:t>𝜌</m:t>
                            </m:r>
                          </m:e>
                        </m:rad>
                      </m:num>
                      <m:den>
                        <m:rad>
                          <m:radPr>
                            <m:degHide m:val="on"/>
                            <m:ctrlPr>
                              <a:rPr lang="zh-CN" altLang="en-US" sz="2000" i="1" smtClean="0">
                                <a:solidFill>
                                  <a:srgbClr val="836967"/>
                                </a:solidFill>
                                <a:latin typeface="Cambria Math" panose="02040503050406030204" pitchFamily="18" charset="0"/>
                              </a:rPr>
                            </m:ctrlPr>
                          </m:radPr>
                          <m:deg/>
                          <m:e>
                            <m:r>
                              <m:rPr>
                                <m:sty m:val="p"/>
                              </m:rPr>
                              <a:rPr lang="zh-CN" altLang="en-US" sz="2000" i="1" smtClean="0">
                                <a:latin typeface="Cambria Math" panose="02040503050406030204" pitchFamily="18" charset="0"/>
                              </a:rPr>
                              <m:t>Δ</m:t>
                            </m:r>
                            <m:r>
                              <a:rPr lang="zh-CN" altLang="en-US" sz="2000" i="1" smtClean="0">
                                <a:latin typeface="Cambria Math" panose="02040503050406030204" pitchFamily="18" charset="0"/>
                              </a:rPr>
                              <m:t>𝑝</m:t>
                            </m:r>
                          </m:e>
                        </m:rad>
                      </m:den>
                    </m:f>
                    <m:r>
                      <a:rPr lang="zh-CN" altLang="en-US" sz="2000" i="1">
                        <a:latin typeface="Cambria Math" panose="02040503050406030204" pitchFamily="18" charset="0"/>
                      </a:rPr>
                      <m:t>；</m:t>
                    </m:r>
                  </m:oMath>
                </a14:m>
                <a:r>
                  <a:rPr lang="zh-CN" altLang="en-US" sz="2000" dirty="0"/>
                  <a:t>其中</a:t>
                </a:r>
                <a14:m>
                  <m:oMath xmlns:m="http://schemas.openxmlformats.org/officeDocument/2006/math">
                    <m:r>
                      <a:rPr lang="zh-CN" altLang="en-US" sz="2000" i="1" smtClean="0">
                        <a:latin typeface="Cambria Math" panose="02040503050406030204" pitchFamily="18" charset="0"/>
                      </a:rPr>
                      <m:t>𝜌</m:t>
                    </m:r>
                    <m:r>
                      <a:rPr lang="zh-CN" altLang="en-US" sz="2000" i="1" smtClean="0">
                        <a:latin typeface="Cambria Math" panose="02040503050406030204" pitchFamily="18" charset="0"/>
                      </a:rPr>
                      <m:t>=1</m:t>
                    </m:r>
                    <m:f>
                      <m:fPr>
                        <m:type m:val="lin"/>
                        <m:ctrlPr>
                          <a:rPr lang="zh-CN" altLang="en-US" sz="2000" i="1">
                            <a:latin typeface="Cambria Math" panose="02040503050406030204" pitchFamily="18" charset="0"/>
                          </a:rPr>
                        </m:ctrlPr>
                      </m:fPr>
                      <m:num>
                        <m:r>
                          <a:rPr lang="zh-CN" altLang="en-US" sz="2000" i="1">
                            <a:latin typeface="Cambria Math" panose="02040503050406030204" pitchFamily="18" charset="0"/>
                          </a:rPr>
                          <m:t>𝑔</m:t>
                        </m:r>
                      </m:num>
                      <m:den>
                        <m:r>
                          <a:rPr lang="zh-CN" altLang="en-US" sz="2000" i="1">
                            <a:latin typeface="Cambria Math" panose="02040503050406030204" pitchFamily="18" charset="0"/>
                          </a:rPr>
                          <m:t>𝑐</m:t>
                        </m:r>
                      </m:den>
                    </m:f>
                    <m:sSup>
                      <m:sSupPr>
                        <m:ctrlPr>
                          <a:rPr lang="zh-CN" altLang="en-US" sz="2000" i="1">
                            <a:solidFill>
                              <a:srgbClr val="836967"/>
                            </a:solidFill>
                            <a:latin typeface="Cambria Math" panose="02040503050406030204" pitchFamily="18" charset="0"/>
                          </a:rPr>
                        </m:ctrlPr>
                      </m:sSupPr>
                      <m:e>
                        <m:r>
                          <a:rPr lang="zh-CN" altLang="en-US" sz="2000" i="1">
                            <a:latin typeface="Cambria Math" panose="02040503050406030204" pitchFamily="18" charset="0"/>
                          </a:rPr>
                          <m:t>𝑚</m:t>
                        </m:r>
                      </m:e>
                      <m:sup>
                        <m:r>
                          <a:rPr lang="zh-CN" altLang="en-US" sz="2000" i="1">
                            <a:latin typeface="Cambria Math" panose="02040503050406030204" pitchFamily="18" charset="0"/>
                          </a:rPr>
                          <m:t>2</m:t>
                        </m:r>
                      </m:sup>
                    </m:sSup>
                    <m:r>
                      <a:rPr lang="zh-CN" altLang="en-US" sz="2000" i="1">
                        <a:latin typeface="Cambria Math" panose="02040503050406030204" pitchFamily="18" charset="0"/>
                      </a:rPr>
                      <m:t>，</m:t>
                    </m:r>
                    <m:r>
                      <m:rPr>
                        <m:sty m:val="p"/>
                      </m:rPr>
                      <a:rPr lang="zh-CN" altLang="en-US" sz="2000" dirty="0" smtClean="0">
                        <a:latin typeface="Cambria Math" panose="02040503050406030204" pitchFamily="18" charset="0"/>
                      </a:rPr>
                      <m:t>Δ</m:t>
                    </m:r>
                    <m:r>
                      <m:rPr>
                        <m:sty m:val="p"/>
                      </m:rPr>
                      <a:rPr lang="en-US" altLang="zh-CN" sz="2000" b="0" i="0" dirty="0" smtClean="0">
                        <a:latin typeface="Cambria Math" panose="02040503050406030204" pitchFamily="18" charset="0"/>
                      </a:rPr>
                      <m:t>P</m:t>
                    </m:r>
                    <m:r>
                      <a:rPr lang="zh-CN" altLang="en-US" sz="2000" i="0" dirty="0">
                        <a:latin typeface="Cambria Math" panose="02040503050406030204" pitchFamily="18" charset="0"/>
                      </a:rPr>
                      <m:t>=100</m:t>
                    </m:r>
                    <m:r>
                      <a:rPr lang="zh-CN" altLang="en-US" sz="2000" i="1" dirty="0">
                        <a:latin typeface="Cambria Math" panose="02040503050406030204" pitchFamily="18" charset="0"/>
                      </a:rPr>
                      <m:t>𝑘𝑝𝑎</m:t>
                    </m:r>
                    <m:r>
                      <a:rPr lang="en-US" altLang="zh-CN" sz="2000" b="0" i="1" dirty="0" smtClean="0">
                        <a:latin typeface="Cambria Math" panose="02040503050406030204" pitchFamily="18" charset="0"/>
                      </a:rPr>
                      <m:t>=14.5038</m:t>
                    </m:r>
                    <m:r>
                      <m:rPr>
                        <m:nor/>
                      </m:rPr>
                      <a:rPr lang="en-US" altLang="zh-CN" sz="2000" b="0" i="0" dirty="0" smtClean="0">
                        <a:latin typeface="Cambria Math" panose="02040503050406030204" pitchFamily="18" charset="0"/>
                      </a:rPr>
                      <m:t> </m:t>
                    </m:r>
                    <m:r>
                      <m:rPr>
                        <m:nor/>
                      </m:rPr>
                      <a:rPr lang="en-US" altLang="zh-CN" sz="2000" b="0" i="0" dirty="0" smtClean="0">
                        <a:latin typeface="Cambria Math" panose="02040503050406030204" pitchFamily="18" charset="0"/>
                      </a:rPr>
                      <m:t>lb</m:t>
                    </m:r>
                    <m:r>
                      <m:rPr>
                        <m:nor/>
                      </m:rPr>
                      <a:rPr lang="en-US" altLang="zh-CN" sz="2000" b="0" i="0" dirty="0" smtClean="0">
                        <a:latin typeface="Cambria Math" panose="02040503050406030204" pitchFamily="18" charset="0"/>
                      </a:rPr>
                      <m:t>/</m:t>
                    </m:r>
                    <m:r>
                      <m:rPr>
                        <m:nor/>
                      </m:rPr>
                      <a:rPr lang="en-US" altLang="zh-CN" sz="2000" b="0" i="0" dirty="0" smtClean="0">
                        <a:latin typeface="宋体" pitchFamily="2" charset="-122"/>
                        <a:ea typeface="宋体" pitchFamily="2" charset="-122"/>
                      </a:rPr>
                      <m:t>in</m:t>
                    </m:r>
                    <m:r>
                      <m:rPr>
                        <m:nor/>
                      </m:rPr>
                      <a:rPr lang="en-US" altLang="zh-CN" sz="2000" baseline="30000" dirty="0">
                        <a:latin typeface="宋体" pitchFamily="2" charset="-122"/>
                        <a:ea typeface="宋体" pitchFamily="2" charset="-122"/>
                      </a:rPr>
                      <m:t>2</m:t>
                    </m:r>
                  </m:oMath>
                </a14:m>
                <a:r>
                  <a:rPr lang="en-US" altLang="zh-CN" sz="2000" dirty="0"/>
                  <a:t>,</a:t>
                </a:r>
                <a14:m>
                  <m:oMath xmlns:m="http://schemas.openxmlformats.org/officeDocument/2006/math">
                    <m:r>
                      <a:rPr lang="en-US" altLang="zh-CN" sz="2000" i="1" dirty="0" smtClean="0">
                        <a:latin typeface="Cambria Math" panose="02040503050406030204" pitchFamily="18" charset="0"/>
                      </a:rPr>
                      <m:t>𝑄</m:t>
                    </m:r>
                    <m:r>
                      <a:rPr lang="en-US" altLang="zh-CN" sz="2000" i="1" dirty="0" smtClean="0">
                        <a:latin typeface="Cambria Math" panose="02040503050406030204" pitchFamily="18" charset="0"/>
                      </a:rPr>
                      <m:t>=1</m:t>
                    </m:r>
                    <m:f>
                      <m:fPr>
                        <m:type m:val="lin"/>
                        <m:ctrlPr>
                          <a:rPr lang="en-US" altLang="zh-CN" sz="2000" i="1" dirty="0">
                            <a:latin typeface="Cambria Math" panose="02040503050406030204" pitchFamily="18" charset="0"/>
                          </a:rPr>
                        </m:ctrlPr>
                      </m:fPr>
                      <m:num>
                        <m:sSup>
                          <m:sSupPr>
                            <m:ctrlPr>
                              <a:rPr lang="en-US" altLang="zh-CN" sz="2000" i="1" dirty="0">
                                <a:solidFill>
                                  <a:srgbClr val="836967"/>
                                </a:solidFill>
                                <a:latin typeface="Cambria Math" panose="02040503050406030204" pitchFamily="18" charset="0"/>
                              </a:rPr>
                            </m:ctrlPr>
                          </m:sSupPr>
                          <m:e>
                            <m:r>
                              <a:rPr lang="en-US" altLang="zh-CN" sz="2000" i="1" dirty="0">
                                <a:latin typeface="Cambria Math" panose="02040503050406030204" pitchFamily="18" charset="0"/>
                              </a:rPr>
                              <m:t>𝑚</m:t>
                            </m:r>
                          </m:e>
                          <m:sup>
                            <m:r>
                              <a:rPr lang="en-US" altLang="zh-CN" sz="2000" i="1" dirty="0">
                                <a:latin typeface="Cambria Math" panose="02040503050406030204" pitchFamily="18" charset="0"/>
                              </a:rPr>
                              <m:t>3</m:t>
                            </m:r>
                          </m:sup>
                        </m:sSup>
                      </m:num>
                      <m:den>
                        <m:r>
                          <a:rPr lang="en-US" altLang="zh-CN" sz="2000" i="1" dirty="0">
                            <a:latin typeface="Cambria Math" panose="02040503050406030204" pitchFamily="18" charset="0"/>
                          </a:rPr>
                          <m:t>h</m:t>
                        </m:r>
                      </m:den>
                    </m:f>
                    <m:r>
                      <a:rPr lang="en-US" altLang="zh-CN" sz="2000" b="0" i="1" dirty="0" smtClean="0">
                        <a:latin typeface="Cambria Math" panose="02040503050406030204" pitchFamily="18" charset="0"/>
                      </a:rPr>
                      <m:t>=4.4029</m:t>
                    </m:r>
                    <m:f>
                      <m:fPr>
                        <m:type m:val="lin"/>
                        <m:ctrlPr>
                          <a:rPr lang="en-US" altLang="zh-CN" sz="2000" i="1" dirty="0" smtClean="0">
                            <a:latin typeface="Cambria Math" panose="02040503050406030204" pitchFamily="18" charset="0"/>
                          </a:rPr>
                        </m:ctrlPr>
                      </m:fPr>
                      <m:num>
                        <m:r>
                          <a:rPr lang="en-US" altLang="zh-CN" sz="2000" b="0" i="1" dirty="0" smtClean="0">
                            <a:latin typeface="Cambria Math" panose="02040503050406030204" pitchFamily="18" charset="0"/>
                          </a:rPr>
                          <m:t>𝐺𝑎𝑙</m:t>
                        </m:r>
                      </m:num>
                      <m:den>
                        <m:r>
                          <a:rPr lang="en-US" altLang="zh-CN" sz="2000" b="0" i="1" dirty="0" smtClean="0">
                            <a:latin typeface="Cambria Math" panose="02040503050406030204" pitchFamily="18" charset="0"/>
                          </a:rPr>
                          <m:t>𝑚𝑖𝑛</m:t>
                        </m:r>
                      </m:den>
                    </m:f>
                  </m:oMath>
                </a14:m>
                <a:r>
                  <a:rPr lang="en-US" altLang="zh-CN" sz="2000" dirty="0"/>
                  <a:t>;</a:t>
                </a:r>
                <a:r>
                  <a:rPr lang="zh-CN" altLang="en-US" sz="2000" dirty="0">
                    <a:solidFill>
                      <a:srgbClr val="836967"/>
                    </a:solidFill>
                  </a:rPr>
                  <a:t> </a:t>
                </a:r>
                <a14:m>
                  <m:oMath xmlns:m="http://schemas.openxmlformats.org/officeDocument/2006/math">
                    <m:sSub>
                      <m:sSubPr>
                        <m:ctrlPr>
                          <a:rPr lang="zh-CN" altLang="en-US" sz="2000" i="1">
                            <a:solidFill>
                              <a:srgbClr val="836967"/>
                            </a:solidFill>
                            <a:latin typeface="Cambria Math" panose="02040503050406030204" pitchFamily="18" charset="0"/>
                          </a:rPr>
                        </m:ctrlPr>
                      </m:sSubPr>
                      <m:e>
                        <m:r>
                          <a:rPr lang="en-US" altLang="zh-CN" sz="2000" i="1">
                            <a:solidFill>
                              <a:srgbClr val="836967"/>
                            </a:solidFill>
                            <a:latin typeface="Cambria Math" panose="02040503050406030204" pitchFamily="18" charset="0"/>
                          </a:rPr>
                          <m:t>𝐶</m:t>
                        </m:r>
                      </m:e>
                      <m:sub>
                        <m:r>
                          <a:rPr lang="zh-CN" altLang="en-US" sz="2000" i="1">
                            <a:latin typeface="Cambria Math" panose="02040503050406030204" pitchFamily="18" charset="0"/>
                          </a:rPr>
                          <m:t>𝑣</m:t>
                        </m:r>
                      </m:sub>
                    </m:sSub>
                    <m:r>
                      <a:rPr lang="zh-CN" altLang="en-US" sz="2000" i="1">
                        <a:latin typeface="Cambria Math" panose="02040503050406030204" pitchFamily="18" charset="0"/>
                      </a:rPr>
                      <m:t>=</m:t>
                    </m:r>
                    <m:f>
                      <m:fPr>
                        <m:ctrlPr>
                          <a:rPr lang="zh-CN" altLang="en-US" sz="2000" i="1">
                            <a:solidFill>
                              <a:srgbClr val="836967"/>
                            </a:solidFill>
                            <a:latin typeface="Cambria Math" panose="02040503050406030204" pitchFamily="18" charset="0"/>
                          </a:rPr>
                        </m:ctrlPr>
                      </m:fPr>
                      <m:num>
                        <m:r>
                          <a:rPr lang="zh-CN" altLang="en-US" sz="2000" i="1">
                            <a:latin typeface="Cambria Math" panose="02040503050406030204" pitchFamily="18" charset="0"/>
                          </a:rPr>
                          <m:t>𝑄</m:t>
                        </m:r>
                        <m:rad>
                          <m:radPr>
                            <m:degHide m:val="on"/>
                            <m:ctrlPr>
                              <a:rPr lang="zh-CN" altLang="en-US" sz="2000" i="1">
                                <a:solidFill>
                                  <a:srgbClr val="836967"/>
                                </a:solidFill>
                                <a:latin typeface="Cambria Math" panose="02040503050406030204" pitchFamily="18" charset="0"/>
                              </a:rPr>
                            </m:ctrlPr>
                          </m:radPr>
                          <m:deg/>
                          <m:e>
                            <m:r>
                              <a:rPr lang="zh-CN" altLang="en-US" sz="2000" i="1">
                                <a:latin typeface="Cambria Math" panose="02040503050406030204" pitchFamily="18" charset="0"/>
                              </a:rPr>
                              <m:t>𝜌</m:t>
                            </m:r>
                          </m:e>
                        </m:rad>
                      </m:num>
                      <m:den>
                        <m:rad>
                          <m:radPr>
                            <m:degHide m:val="on"/>
                            <m:ctrlPr>
                              <a:rPr lang="zh-CN" altLang="en-US" sz="2000" i="1">
                                <a:solidFill>
                                  <a:srgbClr val="836967"/>
                                </a:solidFill>
                                <a:latin typeface="Cambria Math" panose="02040503050406030204" pitchFamily="18" charset="0"/>
                              </a:rPr>
                            </m:ctrlPr>
                          </m:radPr>
                          <m:deg/>
                          <m:e>
                            <m:r>
                              <m:rPr>
                                <m:sty m:val="p"/>
                              </m:rPr>
                              <a:rPr lang="zh-CN" altLang="en-US" sz="2000" i="1">
                                <a:latin typeface="Cambria Math" panose="02040503050406030204" pitchFamily="18" charset="0"/>
                              </a:rPr>
                              <m:t>Δ</m:t>
                            </m:r>
                            <m:r>
                              <a:rPr lang="zh-CN" altLang="en-US" sz="2000" i="1">
                                <a:latin typeface="Cambria Math" panose="02040503050406030204" pitchFamily="18" charset="0"/>
                              </a:rPr>
                              <m:t>𝑝</m:t>
                            </m:r>
                          </m:e>
                        </m:rad>
                      </m:den>
                    </m:f>
                    <m:r>
                      <a:rPr lang="en-US" altLang="zh-CN" sz="2000" b="0" i="1" smtClean="0">
                        <a:latin typeface="Cambria Math" panose="02040503050406030204" pitchFamily="18" charset="0"/>
                      </a:rPr>
                      <m:t>=</m:t>
                    </m:r>
                    <m:r>
                      <m:rPr>
                        <m:nor/>
                      </m:rPr>
                      <a:rPr lang="en-US" altLang="zh-CN" sz="2000" b="0" i="0" smtClean="0">
                        <a:latin typeface="Cambria Math" panose="02040503050406030204" pitchFamily="18" charset="0"/>
                      </a:rPr>
                      <m:t>1.156</m:t>
                    </m:r>
                  </m:oMath>
                </a14:m>
                <a:endParaRPr lang="zh-CN" altLang="en-US" sz="2000" dirty="0"/>
              </a:p>
              <a:p>
                <a14:m>
                  <m:oMath xmlns:m="http://schemas.openxmlformats.org/officeDocument/2006/math">
                    <m:sSub>
                      <m:sSubPr>
                        <m:ctrlPr>
                          <a:rPr lang="zh-CN" altLang="en-US" sz="2000" i="1" smtClean="0">
                            <a:solidFill>
                              <a:srgbClr val="836967"/>
                            </a:solidFill>
                            <a:latin typeface="Cambria Math" panose="02040503050406030204" pitchFamily="18" charset="0"/>
                          </a:rPr>
                        </m:ctrlPr>
                      </m:sSubPr>
                      <m:e>
                        <m:r>
                          <a:rPr lang="zh-CN" altLang="en-US" sz="2000" i="1" smtClean="0">
                            <a:latin typeface="Cambria Math" panose="02040503050406030204" pitchFamily="18" charset="0"/>
                          </a:rPr>
                          <m:t>𝐾</m:t>
                        </m:r>
                      </m:e>
                      <m:sub>
                        <m:r>
                          <a:rPr lang="zh-CN" altLang="en-US" sz="2000" i="1" smtClean="0">
                            <a:latin typeface="Cambria Math" panose="02040503050406030204" pitchFamily="18" charset="0"/>
                          </a:rPr>
                          <m:t>𝑣</m:t>
                        </m:r>
                      </m:sub>
                    </m:sSub>
                    <m:r>
                      <a:rPr lang="zh-CN" altLang="en-US" sz="2000" i="1" smtClean="0">
                        <a:latin typeface="Cambria Math" panose="02040503050406030204" pitchFamily="18" charset="0"/>
                      </a:rPr>
                      <m:t>=</m:t>
                    </m:r>
                    <m:r>
                      <a:rPr lang="en-US" altLang="zh-CN" sz="2000" b="0" i="1" smtClean="0">
                        <a:latin typeface="Cambria Math" panose="02040503050406030204" pitchFamily="18" charset="0"/>
                      </a:rPr>
                      <m:t>0.858</m:t>
                    </m:r>
                    <m:sSub>
                      <m:sSubPr>
                        <m:ctrlPr>
                          <a:rPr lang="zh-CN" altLang="en-US" sz="2000" i="1">
                            <a:solidFill>
                              <a:srgbClr val="836967"/>
                            </a:solidFill>
                            <a:latin typeface="Cambria Math" panose="02040503050406030204" pitchFamily="18" charset="0"/>
                          </a:rPr>
                        </m:ctrlPr>
                      </m:sSubPr>
                      <m:e>
                        <m:r>
                          <a:rPr lang="en-US" altLang="zh-CN" sz="2000" i="1">
                            <a:solidFill>
                              <a:srgbClr val="836967"/>
                            </a:solidFill>
                            <a:latin typeface="Cambria Math" panose="02040503050406030204" pitchFamily="18" charset="0"/>
                          </a:rPr>
                          <m:t>𝐶</m:t>
                        </m:r>
                      </m:e>
                      <m:sub>
                        <m:r>
                          <a:rPr lang="zh-CN" altLang="en-US" sz="2000" i="1">
                            <a:latin typeface="Cambria Math" panose="02040503050406030204" pitchFamily="18" charset="0"/>
                          </a:rPr>
                          <m:t>𝑣</m:t>
                        </m:r>
                      </m:sub>
                    </m:sSub>
                  </m:oMath>
                </a14:m>
                <a:r>
                  <a:rPr lang="en-US" altLang="zh-CN" sz="2000" dirty="0"/>
                  <a:t>;</a:t>
                </a:r>
                <a:r>
                  <a:rPr lang="zh-CN" altLang="en-US" sz="2000" dirty="0">
                    <a:solidFill>
                      <a:srgbClr val="836967"/>
                    </a:solidFill>
                  </a:rPr>
                  <a:t> </a:t>
                </a:r>
                <a14:m>
                  <m:oMath xmlns:m="http://schemas.openxmlformats.org/officeDocument/2006/math">
                    <m:sSub>
                      <m:sSubPr>
                        <m:ctrlPr>
                          <a:rPr lang="zh-CN" altLang="en-US" sz="2000" i="1">
                            <a:solidFill>
                              <a:srgbClr val="836967"/>
                            </a:solidFill>
                            <a:latin typeface="Cambria Math" panose="02040503050406030204" pitchFamily="18" charset="0"/>
                          </a:rPr>
                        </m:ctrlPr>
                      </m:sSubPr>
                      <m:e>
                        <m:r>
                          <a:rPr lang="en-US" altLang="zh-CN" sz="2000" b="0" i="1" smtClean="0">
                            <a:solidFill>
                              <a:srgbClr val="836967"/>
                            </a:solidFill>
                            <a:latin typeface="Cambria Math" panose="02040503050406030204" pitchFamily="18" charset="0"/>
                          </a:rPr>
                          <m:t>𝐶</m:t>
                        </m:r>
                      </m:e>
                      <m:sub>
                        <m:r>
                          <a:rPr lang="zh-CN" altLang="en-US" sz="2000" i="1">
                            <a:latin typeface="Cambria Math" panose="02040503050406030204" pitchFamily="18" charset="0"/>
                          </a:rPr>
                          <m:t>𝑣</m:t>
                        </m:r>
                      </m:sub>
                    </m:sSub>
                    <m:r>
                      <a:rPr lang="zh-CN" altLang="en-US" sz="2000" i="1">
                        <a:latin typeface="Cambria Math" panose="02040503050406030204" pitchFamily="18" charset="0"/>
                      </a:rPr>
                      <m:t>=</m:t>
                    </m:r>
                    <m:r>
                      <a:rPr lang="en-US" altLang="zh-CN" sz="2000" b="0" i="1" smtClean="0">
                        <a:latin typeface="Cambria Math" panose="02040503050406030204" pitchFamily="18" charset="0"/>
                      </a:rPr>
                      <m:t>1.156</m:t>
                    </m:r>
                    <m:sSub>
                      <m:sSubPr>
                        <m:ctrlPr>
                          <a:rPr lang="zh-CN" altLang="en-US" sz="2000" i="1">
                            <a:solidFill>
                              <a:srgbClr val="836967"/>
                            </a:solidFill>
                            <a:latin typeface="Cambria Math" panose="02040503050406030204" pitchFamily="18" charset="0"/>
                          </a:rPr>
                        </m:ctrlPr>
                      </m:sSubPr>
                      <m:e>
                        <m:r>
                          <a:rPr lang="en-US" altLang="zh-CN" sz="2000" b="0" i="1" smtClean="0">
                            <a:solidFill>
                              <a:srgbClr val="836967"/>
                            </a:solidFill>
                            <a:latin typeface="Cambria Math" panose="02040503050406030204" pitchFamily="18" charset="0"/>
                          </a:rPr>
                          <m:t>𝐾</m:t>
                        </m:r>
                      </m:e>
                      <m:sub>
                        <m:r>
                          <a:rPr lang="zh-CN" altLang="en-US" sz="2000" i="1">
                            <a:latin typeface="Cambria Math" panose="02040503050406030204" pitchFamily="18" charset="0"/>
                          </a:rPr>
                          <m:t>𝑣</m:t>
                        </m:r>
                      </m:sub>
                    </m:sSub>
                  </m:oMath>
                </a14:m>
                <a:endParaRPr lang="zh-CN" altLang="en-US" sz="2000" dirty="0"/>
              </a:p>
            </p:txBody>
          </p:sp>
        </mc:Choice>
        <mc:Fallback xmlns="">
          <p:sp>
            <p:nvSpPr>
              <p:cNvPr id="7" name="内容占位符 6">
                <a:extLst>
                  <a:ext uri="{FF2B5EF4-FFF2-40B4-BE49-F238E27FC236}">
                    <a16:creationId xmlns:a16="http://schemas.microsoft.com/office/drawing/2014/main" id="{19C569E0-1A4E-E337-27ED-AB6DF9B3B5D7}"/>
                  </a:ext>
                </a:extLst>
              </p:cNvPr>
              <p:cNvSpPr>
                <a:spLocks noGrp="1" noRot="1" noChangeAspect="1" noMove="1" noResize="1" noEditPoints="1" noAdjustHandles="1" noChangeArrowheads="1" noChangeShapeType="1" noTextEdit="1"/>
              </p:cNvSpPr>
              <p:nvPr>
                <p:ph idx="1"/>
              </p:nvPr>
            </p:nvSpPr>
            <p:spPr>
              <a:blipFill>
                <a:blip r:embed="rId3"/>
                <a:stretch>
                  <a:fillRect l="-500"/>
                </a:stretch>
              </a:blipFill>
            </p:spPr>
            <p:txBody>
              <a:bodyPr/>
              <a:lstStyle/>
              <a:p>
                <a:r>
                  <a:rPr lang="zh-CN" altLang="en-US">
                    <a:noFill/>
                  </a:rPr>
                  <a:t> </a:t>
                </a:r>
              </a:p>
            </p:txBody>
          </p:sp>
        </mc:Fallback>
      </mc:AlternateContent>
      <p:sp>
        <p:nvSpPr>
          <p:cNvPr id="4" name="文本占位符 3">
            <a:extLst>
              <a:ext uri="{FF2B5EF4-FFF2-40B4-BE49-F238E27FC236}">
                <a16:creationId xmlns:a16="http://schemas.microsoft.com/office/drawing/2014/main" id="{8847B3A2-C4D7-402F-A693-85C4F42F1CD6}"/>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1481156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lvl="0" indent="-285750" algn="just">
              <a:buFont typeface="Arial" panose="020B0604020202020204" pitchFamily="34" charset="0"/>
              <a:buChar char="•"/>
              <a:tabLst>
                <a:tab pos="228600" algn="l"/>
              </a:tabLst>
            </a:pPr>
            <a:r>
              <a:rPr lang="en-US" altLang="zh-CN" sz="1800" b="1" kern="100" dirty="0">
                <a:effectLst/>
                <a:latin typeface="Times New Roman" panose="02020603050405020304" pitchFamily="18" charset="0"/>
                <a:ea typeface="宋体" panose="02010600030101010101" pitchFamily="2" charset="-122"/>
              </a:rPr>
              <a:t>3. </a:t>
            </a:r>
            <a:r>
              <a:rPr lang="zh-CN" altLang="en-US" sz="1800" b="1" kern="100" dirty="0">
                <a:effectLst/>
                <a:latin typeface="Times New Roman" panose="02020603050405020304" pitchFamily="18" charset="0"/>
                <a:ea typeface="宋体" panose="02010600030101010101" pitchFamily="2" charset="-122"/>
              </a:rPr>
              <a:t>在下表的第一列填上适合的阀门：</a:t>
            </a:r>
            <a:endParaRPr lang="zh-CN" altLang="zh-CN" sz="1800" b="1" kern="100" dirty="0">
              <a:effectLst/>
              <a:latin typeface="Times New Roman" panose="02020603050405020304" pitchFamily="18" charset="0"/>
              <a:ea typeface="宋体" panose="02010600030101010101" pitchFamily="2" charset="-122"/>
            </a:endParaRPr>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8</a:t>
            </a:fld>
            <a:endParaRPr lang="en-US" dirty="0"/>
          </a:p>
        </p:txBody>
      </p:sp>
      <p:graphicFrame>
        <p:nvGraphicFramePr>
          <p:cNvPr id="8" name="内容占位符 7">
            <a:extLst>
              <a:ext uri="{FF2B5EF4-FFF2-40B4-BE49-F238E27FC236}">
                <a16:creationId xmlns:a16="http://schemas.microsoft.com/office/drawing/2014/main" id="{E2540A86-7AAA-D9F7-F060-F9E8D6D38E3D}"/>
              </a:ext>
            </a:extLst>
          </p:cNvPr>
          <p:cNvGraphicFramePr>
            <a:graphicFrameLocks noGrp="1"/>
          </p:cNvGraphicFramePr>
          <p:nvPr>
            <p:ph idx="1"/>
            <p:extLst>
              <p:ext uri="{D42A27DB-BD31-4B8C-83A1-F6EECF244321}">
                <p14:modId xmlns:p14="http://schemas.microsoft.com/office/powerpoint/2010/main" val="4115683163"/>
              </p:ext>
            </p:extLst>
          </p:nvPr>
        </p:nvGraphicFramePr>
        <p:xfrm>
          <a:off x="1143000" y="1927701"/>
          <a:ext cx="10149840" cy="4427148"/>
        </p:xfrm>
        <a:graphic>
          <a:graphicData uri="http://schemas.openxmlformats.org/drawingml/2006/table">
            <a:tbl>
              <a:tblPr>
                <a:tableStyleId>{5C22544A-7EE6-4342-B048-85BDC9FD1C3A}</a:tableStyleId>
              </a:tblPr>
              <a:tblGrid>
                <a:gridCol w="1890488">
                  <a:extLst>
                    <a:ext uri="{9D8B030D-6E8A-4147-A177-3AD203B41FA5}">
                      <a16:colId xmlns:a16="http://schemas.microsoft.com/office/drawing/2014/main" val="1807064622"/>
                    </a:ext>
                  </a:extLst>
                </a:gridCol>
                <a:gridCol w="8259352">
                  <a:extLst>
                    <a:ext uri="{9D8B030D-6E8A-4147-A177-3AD203B41FA5}">
                      <a16:colId xmlns:a16="http://schemas.microsoft.com/office/drawing/2014/main" val="2106042698"/>
                    </a:ext>
                  </a:extLst>
                </a:gridCol>
              </a:tblGrid>
              <a:tr h="485210">
                <a:tc>
                  <a:txBody>
                    <a:bodyPr/>
                    <a:lstStyle/>
                    <a:p>
                      <a:pPr algn="just"/>
                      <a:r>
                        <a:rPr lang="zh-CN" sz="1400" b="1" kern="100">
                          <a:effectLst/>
                        </a:rPr>
                        <a:t>阀的型式</a:t>
                      </a:r>
                      <a:endParaRPr lang="zh-CN" sz="1400" b="1" kern="100">
                        <a:effectLst/>
                        <a:latin typeface="Times New Roman" panose="02020603050405020304" pitchFamily="18" charset="0"/>
                        <a:ea typeface="宋体" panose="02010600030101010101" pitchFamily="2" charset="-122"/>
                      </a:endParaRPr>
                    </a:p>
                  </a:txBody>
                  <a:tcPr marL="0" marR="0" marT="0" marB="0" anchor="ctr"/>
                </a:tc>
                <a:tc>
                  <a:txBody>
                    <a:bodyPr/>
                    <a:lstStyle/>
                    <a:p>
                      <a:pPr algn="just"/>
                      <a:r>
                        <a:rPr lang="zh-CN" sz="1400" b="1" kern="100" dirty="0">
                          <a:effectLst/>
                        </a:rPr>
                        <a:t>使用场合</a:t>
                      </a:r>
                      <a:endParaRPr lang="zh-CN" sz="1400" b="1" kern="100" dirty="0">
                        <a:effectLst/>
                        <a:latin typeface="Times New Roman" panose="02020603050405020304" pitchFamily="18" charset="0"/>
                        <a:ea typeface="宋体" panose="02010600030101010101" pitchFamily="2" charset="-122"/>
                      </a:endParaRPr>
                    </a:p>
                  </a:txBody>
                  <a:tcPr marL="0" marR="0" marT="0" marB="0" anchor="ctr"/>
                </a:tc>
                <a:extLst>
                  <a:ext uri="{0D108BD9-81ED-4DB2-BD59-A6C34878D82A}">
                    <a16:rowId xmlns:a16="http://schemas.microsoft.com/office/drawing/2014/main" val="1835536936"/>
                  </a:ext>
                </a:extLst>
              </a:tr>
              <a:tr h="485210">
                <a:tc>
                  <a:txBody>
                    <a:bodyPr/>
                    <a:lstStyle/>
                    <a:p>
                      <a:pPr algn="just"/>
                      <a:r>
                        <a:rPr lang="en-US" sz="1400" b="1" kern="100" dirty="0">
                          <a:effectLst/>
                        </a:rPr>
                        <a:t> </a:t>
                      </a:r>
                      <a:r>
                        <a:rPr lang="zh-CN" altLang="en-US" sz="1400" b="1" kern="100" dirty="0">
                          <a:effectLst/>
                        </a:rPr>
                        <a:t>直通单座调节阀</a:t>
                      </a:r>
                      <a:endParaRPr lang="zh-CN" sz="1400" b="1" kern="100" dirty="0">
                        <a:effectLst/>
                        <a:latin typeface="Times New Roman" panose="02020603050405020304" pitchFamily="18" charset="0"/>
                        <a:ea typeface="宋体" panose="02010600030101010101" pitchFamily="2" charset="-122"/>
                      </a:endParaRPr>
                    </a:p>
                  </a:txBody>
                  <a:tcPr marL="0" marR="0" marT="0" marB="0" anchor="ctr"/>
                </a:tc>
                <a:tc>
                  <a:txBody>
                    <a:bodyPr/>
                    <a:lstStyle/>
                    <a:p>
                      <a:pPr algn="just"/>
                      <a:r>
                        <a:rPr lang="zh-CN" sz="1400" b="1" kern="100">
                          <a:effectLst/>
                        </a:rPr>
                        <a:t>阀前后压降低，适用于要求泄漏量小的场合</a:t>
                      </a:r>
                      <a:endParaRPr lang="zh-CN" sz="1400" b="1" kern="100">
                        <a:effectLst/>
                        <a:latin typeface="Times New Roman" panose="02020603050405020304" pitchFamily="18" charset="0"/>
                        <a:ea typeface="宋体" panose="02010600030101010101" pitchFamily="2" charset="-122"/>
                      </a:endParaRPr>
                    </a:p>
                  </a:txBody>
                  <a:tcPr marL="0" marR="0" marT="0" marB="0"/>
                </a:tc>
                <a:extLst>
                  <a:ext uri="{0D108BD9-81ED-4DB2-BD59-A6C34878D82A}">
                    <a16:rowId xmlns:a16="http://schemas.microsoft.com/office/drawing/2014/main" val="2897619117"/>
                  </a:ext>
                </a:extLst>
              </a:tr>
              <a:tr h="446766">
                <a:tc>
                  <a:txBody>
                    <a:bodyPr/>
                    <a:lstStyle/>
                    <a:p>
                      <a:pPr algn="just"/>
                      <a:r>
                        <a:rPr lang="en-US" sz="1400" b="1" kern="100" dirty="0">
                          <a:effectLst/>
                        </a:rPr>
                        <a:t> </a:t>
                      </a:r>
                      <a:r>
                        <a:rPr lang="zh-CN" altLang="en-US" sz="1400" b="1" kern="100" dirty="0">
                          <a:effectLst/>
                        </a:rPr>
                        <a:t>直通双座调节阀</a:t>
                      </a:r>
                      <a:endParaRPr lang="zh-CN" sz="1400" b="1" kern="100" dirty="0">
                        <a:effectLst/>
                        <a:latin typeface="Times New Roman" panose="02020603050405020304" pitchFamily="18" charset="0"/>
                        <a:ea typeface="宋体" panose="02010600030101010101" pitchFamily="2" charset="-122"/>
                      </a:endParaRPr>
                    </a:p>
                  </a:txBody>
                  <a:tcPr marL="0" marR="0" marT="0" marB="0" anchor="ctr"/>
                </a:tc>
                <a:tc>
                  <a:txBody>
                    <a:bodyPr/>
                    <a:lstStyle/>
                    <a:p>
                      <a:pPr algn="just"/>
                      <a:r>
                        <a:rPr lang="zh-CN" sz="1400" b="1" kern="100" dirty="0">
                          <a:effectLst/>
                        </a:rPr>
                        <a:t>阀前后压降大，适用于允许较大泄漏量的场合</a:t>
                      </a:r>
                      <a:endParaRPr lang="zh-CN" sz="1400" b="1" kern="100" dirty="0">
                        <a:effectLst/>
                        <a:latin typeface="Times New Roman" panose="02020603050405020304" pitchFamily="18" charset="0"/>
                        <a:ea typeface="宋体" panose="02010600030101010101" pitchFamily="2" charset="-122"/>
                      </a:endParaRPr>
                    </a:p>
                  </a:txBody>
                  <a:tcPr marL="0" marR="0" marT="0" marB="0"/>
                </a:tc>
                <a:extLst>
                  <a:ext uri="{0D108BD9-81ED-4DB2-BD59-A6C34878D82A}">
                    <a16:rowId xmlns:a16="http://schemas.microsoft.com/office/drawing/2014/main" val="2991984804"/>
                  </a:ext>
                </a:extLst>
              </a:tr>
              <a:tr h="777166">
                <a:tc>
                  <a:txBody>
                    <a:bodyPr/>
                    <a:lstStyle/>
                    <a:p>
                      <a:pPr algn="just"/>
                      <a:r>
                        <a:rPr lang="zh-CN" altLang="en-US" sz="1400" b="1" kern="100" dirty="0">
                          <a:effectLst/>
                        </a:rPr>
                        <a:t>角形调节阀</a:t>
                      </a:r>
                      <a:endParaRPr lang="zh-CN" sz="1400" b="1" kern="100" dirty="0">
                        <a:effectLst/>
                        <a:latin typeface="Times New Roman" panose="02020603050405020304" pitchFamily="18" charset="0"/>
                        <a:ea typeface="宋体" panose="02010600030101010101" pitchFamily="2" charset="-122"/>
                      </a:endParaRPr>
                    </a:p>
                  </a:txBody>
                  <a:tcPr marL="0" marR="0" marT="0" marB="0" anchor="ctr"/>
                </a:tc>
                <a:tc>
                  <a:txBody>
                    <a:bodyPr/>
                    <a:lstStyle/>
                    <a:p>
                      <a:pPr algn="just"/>
                      <a:r>
                        <a:rPr lang="zh-CN" sz="1400" b="1" kern="100" dirty="0">
                          <a:effectLst/>
                        </a:rPr>
                        <a:t>适用于高压降、高粘度、含悬浮物或颗粒状物质的场</a:t>
                      </a:r>
                    </a:p>
                    <a:p>
                      <a:pPr algn="just"/>
                      <a:r>
                        <a:rPr lang="zh-CN" sz="1400" b="1" kern="100" dirty="0">
                          <a:effectLst/>
                        </a:rPr>
                        <a:t>合，输入与输管道成直角形安装。</a:t>
                      </a:r>
                      <a:endParaRPr lang="zh-CN" sz="1400" b="1" kern="100" dirty="0">
                        <a:effectLst/>
                        <a:latin typeface="Times New Roman" panose="02020603050405020304" pitchFamily="18" charset="0"/>
                        <a:ea typeface="宋体" panose="02010600030101010101" pitchFamily="2" charset="-122"/>
                      </a:endParaRPr>
                    </a:p>
                  </a:txBody>
                  <a:tcPr marL="0" marR="0" marT="0" marB="0"/>
                </a:tc>
                <a:extLst>
                  <a:ext uri="{0D108BD9-81ED-4DB2-BD59-A6C34878D82A}">
                    <a16:rowId xmlns:a16="http://schemas.microsoft.com/office/drawing/2014/main" val="3867319649"/>
                  </a:ext>
                </a:extLst>
              </a:tr>
              <a:tr h="485210">
                <a:tc>
                  <a:txBody>
                    <a:bodyPr/>
                    <a:lstStyle/>
                    <a:p>
                      <a:pPr algn="just"/>
                      <a:r>
                        <a:rPr lang="zh-CN" altLang="en-US" sz="1400" b="1" kern="100" dirty="0">
                          <a:effectLst/>
                        </a:rPr>
                        <a:t>三通调节阀</a:t>
                      </a:r>
                      <a:endParaRPr lang="zh-CN" sz="1400" b="1" kern="100" dirty="0">
                        <a:effectLst/>
                        <a:latin typeface="Times New Roman" panose="02020603050405020304" pitchFamily="18" charset="0"/>
                        <a:ea typeface="宋体" panose="02010600030101010101" pitchFamily="2" charset="-122"/>
                      </a:endParaRPr>
                    </a:p>
                  </a:txBody>
                  <a:tcPr marL="0" marR="0" marT="0" marB="0" anchor="ctr"/>
                </a:tc>
                <a:tc>
                  <a:txBody>
                    <a:bodyPr/>
                    <a:lstStyle/>
                    <a:p>
                      <a:pPr algn="just"/>
                      <a:r>
                        <a:rPr lang="zh-CN" sz="1400" b="1" kern="100" dirty="0">
                          <a:effectLst/>
                        </a:rPr>
                        <a:t>适用分流或合流控制的场合</a:t>
                      </a:r>
                      <a:endParaRPr lang="zh-CN" sz="1400" b="1" kern="100" dirty="0">
                        <a:effectLst/>
                        <a:latin typeface="Times New Roman" panose="02020603050405020304" pitchFamily="18" charset="0"/>
                        <a:ea typeface="宋体" panose="02010600030101010101" pitchFamily="2" charset="-122"/>
                      </a:endParaRPr>
                    </a:p>
                  </a:txBody>
                  <a:tcPr marL="0" marR="0" marT="0" marB="0"/>
                </a:tc>
                <a:extLst>
                  <a:ext uri="{0D108BD9-81ED-4DB2-BD59-A6C34878D82A}">
                    <a16:rowId xmlns:a16="http://schemas.microsoft.com/office/drawing/2014/main" val="25038366"/>
                  </a:ext>
                </a:extLst>
              </a:tr>
              <a:tr h="777166">
                <a:tc>
                  <a:txBody>
                    <a:bodyPr/>
                    <a:lstStyle/>
                    <a:p>
                      <a:pPr algn="just"/>
                      <a:r>
                        <a:rPr lang="zh-CN" altLang="en-US" sz="1400" b="1" kern="100" dirty="0">
                          <a:effectLst/>
                        </a:rPr>
                        <a:t>蝶阀</a:t>
                      </a:r>
                      <a:endParaRPr lang="zh-CN" sz="1400" b="1" kern="100" dirty="0">
                        <a:effectLst/>
                        <a:latin typeface="Times New Roman" panose="02020603050405020304" pitchFamily="18" charset="0"/>
                        <a:ea typeface="宋体" panose="02010600030101010101" pitchFamily="2" charset="-122"/>
                      </a:endParaRPr>
                    </a:p>
                  </a:txBody>
                  <a:tcPr marL="0" marR="0" marT="0" marB="0" anchor="ctr"/>
                </a:tc>
                <a:tc>
                  <a:txBody>
                    <a:bodyPr/>
                    <a:lstStyle/>
                    <a:p>
                      <a:pPr algn="just"/>
                      <a:r>
                        <a:rPr lang="zh-CN" sz="1400" b="1" kern="100" dirty="0">
                          <a:effectLst/>
                        </a:rPr>
                        <a:t>适用于有悬浮物的流体、大流量气体、压差低、允许</a:t>
                      </a:r>
                    </a:p>
                    <a:p>
                      <a:pPr algn="just"/>
                      <a:r>
                        <a:rPr lang="zh-CN" sz="1400" b="1" kern="100" dirty="0">
                          <a:effectLst/>
                        </a:rPr>
                        <a:t>较大泄漏量的场合</a:t>
                      </a:r>
                      <a:endParaRPr lang="zh-CN" sz="1400" b="1" kern="100" dirty="0">
                        <a:effectLst/>
                        <a:latin typeface="Times New Roman" panose="02020603050405020304" pitchFamily="18" charset="0"/>
                        <a:ea typeface="宋体" panose="02010600030101010101" pitchFamily="2" charset="-122"/>
                      </a:endParaRPr>
                    </a:p>
                  </a:txBody>
                  <a:tcPr marL="0" marR="0" marT="0" marB="0"/>
                </a:tc>
                <a:extLst>
                  <a:ext uri="{0D108BD9-81ED-4DB2-BD59-A6C34878D82A}">
                    <a16:rowId xmlns:a16="http://schemas.microsoft.com/office/drawing/2014/main" val="893970650"/>
                  </a:ext>
                </a:extLst>
              </a:tr>
              <a:tr h="485210">
                <a:tc>
                  <a:txBody>
                    <a:bodyPr/>
                    <a:lstStyle/>
                    <a:p>
                      <a:pPr algn="just"/>
                      <a:r>
                        <a:rPr lang="zh-CN" altLang="en-US" sz="1400" b="1" kern="100" dirty="0">
                          <a:effectLst/>
                        </a:rPr>
                        <a:t>隔膜控制阀</a:t>
                      </a:r>
                      <a:endParaRPr lang="zh-CN" sz="1400" b="1" kern="100" dirty="0">
                        <a:effectLst/>
                        <a:latin typeface="Times New Roman" panose="02020603050405020304" pitchFamily="18" charset="0"/>
                        <a:ea typeface="宋体" panose="02010600030101010101" pitchFamily="2" charset="-122"/>
                      </a:endParaRPr>
                    </a:p>
                  </a:txBody>
                  <a:tcPr marL="0" marR="0" marT="0" marB="0" anchor="ctr"/>
                </a:tc>
                <a:tc>
                  <a:txBody>
                    <a:bodyPr/>
                    <a:lstStyle/>
                    <a:p>
                      <a:pPr algn="just"/>
                      <a:r>
                        <a:rPr lang="zh-CN" sz="1400" b="1" kern="100" dirty="0">
                          <a:effectLst/>
                        </a:rPr>
                        <a:t>适用于有腐蚀性介质的场合</a:t>
                      </a:r>
                      <a:endParaRPr lang="zh-CN" sz="1400" b="1" kern="100" dirty="0">
                        <a:effectLst/>
                        <a:latin typeface="Times New Roman" panose="02020603050405020304" pitchFamily="18" charset="0"/>
                        <a:ea typeface="宋体" panose="02010600030101010101" pitchFamily="2" charset="-122"/>
                      </a:endParaRPr>
                    </a:p>
                  </a:txBody>
                  <a:tcPr marL="0" marR="0" marT="0" marB="0"/>
                </a:tc>
                <a:extLst>
                  <a:ext uri="{0D108BD9-81ED-4DB2-BD59-A6C34878D82A}">
                    <a16:rowId xmlns:a16="http://schemas.microsoft.com/office/drawing/2014/main" val="4214989993"/>
                  </a:ext>
                </a:extLst>
              </a:tr>
              <a:tr h="485210">
                <a:tc>
                  <a:txBody>
                    <a:bodyPr/>
                    <a:lstStyle/>
                    <a:p>
                      <a:pPr algn="just"/>
                      <a:r>
                        <a:rPr lang="zh-CN" altLang="en-US" sz="1400" b="1" kern="100" dirty="0">
                          <a:effectLst/>
                        </a:rPr>
                        <a:t>偏心旋转阀</a:t>
                      </a:r>
                      <a:r>
                        <a:rPr lang="en-US" altLang="zh-CN" sz="1400" b="1" kern="100" dirty="0">
                          <a:effectLst/>
                        </a:rPr>
                        <a:t>/</a:t>
                      </a:r>
                      <a:r>
                        <a:rPr lang="zh-CN" altLang="en-US" sz="1400" b="1" kern="100" dirty="0">
                          <a:effectLst/>
                        </a:rPr>
                        <a:t>隔膜</a:t>
                      </a:r>
                      <a:endParaRPr lang="zh-CN" sz="1400" b="1" kern="100" dirty="0">
                        <a:effectLst/>
                        <a:latin typeface="Times New Roman" panose="02020603050405020304" pitchFamily="18" charset="0"/>
                        <a:ea typeface="宋体" panose="02010600030101010101" pitchFamily="2" charset="-122"/>
                      </a:endParaRPr>
                    </a:p>
                  </a:txBody>
                  <a:tcPr marL="0" marR="0" marT="0" marB="0" anchor="ctr"/>
                </a:tc>
                <a:tc>
                  <a:txBody>
                    <a:bodyPr/>
                    <a:lstStyle/>
                    <a:p>
                      <a:pPr algn="just"/>
                      <a:r>
                        <a:rPr lang="zh-CN" sz="1400" b="1" kern="100" dirty="0">
                          <a:effectLst/>
                        </a:rPr>
                        <a:t>适用于高黏度场合</a:t>
                      </a:r>
                      <a:endParaRPr lang="zh-CN" sz="1400" b="1" kern="100" dirty="0">
                        <a:effectLst/>
                        <a:latin typeface="Times New Roman" panose="02020603050405020304" pitchFamily="18" charset="0"/>
                        <a:ea typeface="宋体" panose="02010600030101010101" pitchFamily="2" charset="-122"/>
                      </a:endParaRPr>
                    </a:p>
                  </a:txBody>
                  <a:tcPr marL="0" marR="0" marT="0" marB="0"/>
                </a:tc>
                <a:extLst>
                  <a:ext uri="{0D108BD9-81ED-4DB2-BD59-A6C34878D82A}">
                    <a16:rowId xmlns:a16="http://schemas.microsoft.com/office/drawing/2014/main" val="1897097441"/>
                  </a:ext>
                </a:extLst>
              </a:tr>
            </a:tbl>
          </a:graphicData>
        </a:graphic>
      </p:graphicFrame>
      <p:sp>
        <p:nvSpPr>
          <p:cNvPr id="4" name="文本占位符 3">
            <a:extLst>
              <a:ext uri="{FF2B5EF4-FFF2-40B4-BE49-F238E27FC236}">
                <a16:creationId xmlns:a16="http://schemas.microsoft.com/office/drawing/2014/main" id="{A2C9FC20-B086-48D2-B18F-AE1F02934F94}"/>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3583200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lvl="0" indent="-285750" algn="just">
              <a:buFont typeface="Arial" panose="020B0604020202020204" pitchFamily="34" charset="0"/>
              <a:buChar char="•"/>
              <a:tabLst>
                <a:tab pos="228600" algn="l"/>
              </a:tabLst>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4.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阀门的技术性能里的密封性能里要注意的泄露有几处</a:t>
            </a:r>
            <a:r>
              <a:rPr lang="en-US" altLang="zh-CN" sz="1800" b="1" kern="100" dirty="0">
                <a:effectLst/>
                <a:latin typeface="Times New Roman" panose="02020603050405020304" pitchFamily="18" charset="0"/>
                <a:ea typeface="宋体" panose="02010600030101010101" pitchFamily="2" charset="-122"/>
              </a:rPr>
              <a:t>?</a:t>
            </a:r>
            <a:endParaRPr lang="zh-CN" altLang="zh-CN" sz="1800" b="1" kern="100" dirty="0">
              <a:effectLst/>
              <a:latin typeface="Times New Roman" panose="02020603050405020304" pitchFamily="18" charset="0"/>
              <a:ea typeface="宋体" panose="02010600030101010101" pitchFamily="2" charset="-122"/>
            </a:endParaRPr>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9</a:t>
            </a:fld>
            <a:endParaRPr lang="en-US" dirty="0"/>
          </a:p>
        </p:txBody>
      </p:sp>
      <p:sp>
        <p:nvSpPr>
          <p:cNvPr id="4" name="内容占位符 3">
            <a:extLst>
              <a:ext uri="{FF2B5EF4-FFF2-40B4-BE49-F238E27FC236}">
                <a16:creationId xmlns:a16="http://schemas.microsoft.com/office/drawing/2014/main" id="{E822C777-A53C-B31D-C47A-02C2EE407CD4}"/>
              </a:ext>
            </a:extLst>
          </p:cNvPr>
          <p:cNvSpPr>
            <a:spLocks noGrp="1"/>
          </p:cNvSpPr>
          <p:nvPr>
            <p:ph idx="1"/>
          </p:nvPr>
        </p:nvSpPr>
        <p:spPr/>
        <p:txBody>
          <a:bodyPr>
            <a:normAutofit fontScale="70000" lnSpcReduction="20000"/>
          </a:bodyPr>
          <a:lstStyle/>
          <a:p>
            <a:r>
              <a:rPr lang="zh-CN" altLang="en-US" sz="3600" dirty="0">
                <a:latin typeface="+mn-ea"/>
              </a:rPr>
              <a:t>阀门的密封性能是指阀门各密封部位阻止介质泄漏的能力，它是阀门最重要的技术性能指标。阀门的密封部位有</a:t>
            </a:r>
            <a:r>
              <a:rPr lang="zh-CN" altLang="en-US" sz="3600" dirty="0">
                <a:solidFill>
                  <a:srgbClr val="FF0000"/>
                </a:solidFill>
                <a:latin typeface="+mn-ea"/>
              </a:rPr>
              <a:t>三处</a:t>
            </a:r>
            <a:r>
              <a:rPr lang="zh-CN" altLang="en-US" sz="3600" dirty="0">
                <a:latin typeface="+mn-ea"/>
              </a:rPr>
              <a:t>：启闭件与阀座两密封面间的接触处；填料与阀杆和填料函的配合处；阀体与阀盖的连接处。其中前一处的泄漏叫做</a:t>
            </a:r>
            <a:r>
              <a:rPr lang="zh-CN" altLang="en-US" sz="3600" dirty="0">
                <a:solidFill>
                  <a:srgbClr val="FF0000"/>
                </a:solidFill>
                <a:latin typeface="+mn-ea"/>
              </a:rPr>
              <a:t>内漏</a:t>
            </a:r>
            <a:r>
              <a:rPr lang="zh-CN" altLang="en-US" sz="3600" dirty="0">
                <a:latin typeface="+mn-ea"/>
              </a:rPr>
              <a:t>，也就是通常所说的关不严，它将影响阀门截断介质的能力。对于截断阀类来说，内漏是不允许的。后两处的泄漏叫做</a:t>
            </a:r>
            <a:r>
              <a:rPr lang="zh-CN" altLang="en-US" sz="3600" dirty="0">
                <a:solidFill>
                  <a:srgbClr val="FF0000"/>
                </a:solidFill>
                <a:latin typeface="+mn-ea"/>
              </a:rPr>
              <a:t>外漏</a:t>
            </a:r>
            <a:r>
              <a:rPr lang="zh-CN" altLang="en-US" sz="3600" dirty="0">
                <a:latin typeface="+mn-ea"/>
              </a:rPr>
              <a:t>，即介质从阀内泄漏到阀外。外漏会造成物料损失，污染环境，严重时还会造成事故。对于易燃易爆、有毒或有放射的介质，外漏更是不能允许的，因而阀门必须具有可靠的密封性能。</a:t>
            </a:r>
            <a:endParaRPr lang="zh-CN" altLang="en-US" dirty="0"/>
          </a:p>
        </p:txBody>
      </p:sp>
      <p:sp>
        <p:nvSpPr>
          <p:cNvPr id="7" name="文本占位符 6">
            <a:extLst>
              <a:ext uri="{FF2B5EF4-FFF2-40B4-BE49-F238E27FC236}">
                <a16:creationId xmlns:a16="http://schemas.microsoft.com/office/drawing/2014/main" id="{92B4EC78-893A-4BA9-A37D-40F4B99C4F8B}"/>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4060475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第二次作业</a:t>
            </a:r>
          </a:p>
        </p:txBody>
      </p:sp>
      <p:sp>
        <p:nvSpPr>
          <p:cNvPr id="5" name="灯片编号占位符 4"/>
          <p:cNvSpPr>
            <a:spLocks noGrp="1"/>
          </p:cNvSpPr>
          <p:nvPr>
            <p:ph type="sldNum" sz="quarter" idx="12"/>
          </p:nvPr>
        </p:nvSpPr>
        <p:spPr/>
        <p:txBody>
          <a:bodyPr/>
          <a:lstStyle/>
          <a:p>
            <a:fld id="{4FAB73BC-B049-4115-A692-8D63A059BFB8}" type="slidenum">
              <a:rPr lang="en-US" smtClean="0"/>
              <a:pPr/>
              <a:t>10</a:t>
            </a:fld>
            <a:endParaRPr lang="en-US" dirty="0"/>
          </a:p>
        </p:txBody>
      </p:sp>
    </p:spTree>
    <p:extLst>
      <p:ext uri="{BB962C8B-B14F-4D97-AF65-F5344CB8AC3E}">
        <p14:creationId xmlns:p14="http://schemas.microsoft.com/office/powerpoint/2010/main" val="2842642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直线流量特性的阀芯，在</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40%</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60%</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开度时变化</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10%</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相对流量变化量是多少？</a:t>
            </a:r>
            <a:endParaRPr lang="zh-CN" altLang="en-US" b="1"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11</a:t>
            </a:fld>
            <a:endParaRPr lang="en-US" dirty="0"/>
          </a:p>
        </p:txBody>
      </p:sp>
      <p:pic>
        <p:nvPicPr>
          <p:cNvPr id="21" name="图片 20">
            <a:extLst>
              <a:ext uri="{FF2B5EF4-FFF2-40B4-BE49-F238E27FC236}">
                <a16:creationId xmlns:a16="http://schemas.microsoft.com/office/drawing/2014/main" id="{940B25EE-6731-D9F4-FADB-FE7910367A0A}"/>
              </a:ext>
            </a:extLst>
          </p:cNvPr>
          <p:cNvPicPr>
            <a:picLocks noChangeAspect="1"/>
          </p:cNvPicPr>
          <p:nvPr/>
        </p:nvPicPr>
        <p:blipFill>
          <a:blip r:embed="rId3"/>
          <a:stretch>
            <a:fillRect/>
          </a:stretch>
        </p:blipFill>
        <p:spPr>
          <a:xfrm>
            <a:off x="1417336" y="1842896"/>
            <a:ext cx="9357328" cy="2302291"/>
          </a:xfrm>
          <a:prstGeom prst="rect">
            <a:avLst/>
          </a:prstGeom>
        </p:spPr>
      </p:pic>
      <p:sp>
        <p:nvSpPr>
          <p:cNvPr id="4" name="文本占位符 3">
            <a:extLst>
              <a:ext uri="{FF2B5EF4-FFF2-40B4-BE49-F238E27FC236}">
                <a16:creationId xmlns:a16="http://schemas.microsoft.com/office/drawing/2014/main" id="{53A64743-3BC0-4D1A-BD52-56AAC231ACC8}"/>
              </a:ext>
            </a:extLst>
          </p:cNvPr>
          <p:cNvSpPr>
            <a:spLocks noGrp="1"/>
          </p:cNvSpPr>
          <p:nvPr>
            <p:ph type="body" sz="quarter" idx="13"/>
          </p:nvPr>
        </p:nvSpPr>
        <p:spPr/>
        <p:txBody>
          <a:bodyPr/>
          <a:lstStyle/>
          <a:p>
            <a:endParaRPr lang="zh-CN" altLang="en-US"/>
          </a:p>
        </p:txBody>
      </p:sp>
      <p:pic>
        <p:nvPicPr>
          <p:cNvPr id="8" name="图片 7">
            <a:extLst>
              <a:ext uri="{FF2B5EF4-FFF2-40B4-BE49-F238E27FC236}">
                <a16:creationId xmlns:a16="http://schemas.microsoft.com/office/drawing/2014/main" id="{604C2E72-FEBB-4B8F-BBE9-AD939F5CB026}"/>
              </a:ext>
            </a:extLst>
          </p:cNvPr>
          <p:cNvPicPr>
            <a:picLocks noChangeAspect="1"/>
          </p:cNvPicPr>
          <p:nvPr/>
        </p:nvPicPr>
        <p:blipFill>
          <a:blip r:embed="rId4"/>
          <a:stretch>
            <a:fillRect/>
          </a:stretch>
        </p:blipFill>
        <p:spPr>
          <a:xfrm>
            <a:off x="6737769" y="4112530"/>
            <a:ext cx="3829969" cy="2704284"/>
          </a:xfrm>
          <a:prstGeom prst="rect">
            <a:avLst/>
          </a:prstGeom>
        </p:spPr>
      </p:pic>
    </p:spTree>
    <p:extLst>
      <p:ext uri="{BB962C8B-B14F-4D97-AF65-F5344CB8AC3E}">
        <p14:creationId xmlns:p14="http://schemas.microsoft.com/office/powerpoint/2010/main" val="3024122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直线流量特性的阀芯，在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40%</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60%</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开度时变化</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10%</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相对流量变化量是多少？</a:t>
            </a:r>
            <a:endParaRPr lang="zh-CN" altLang="en-US"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12</a:t>
            </a:fld>
            <a:endParaRPr lang="en-US" dirty="0"/>
          </a:p>
        </p:txBody>
      </p:sp>
      <p:sp>
        <p:nvSpPr>
          <p:cNvPr id="4" name="Text Box 48">
            <a:extLst>
              <a:ext uri="{FF2B5EF4-FFF2-40B4-BE49-F238E27FC236}">
                <a16:creationId xmlns:a16="http://schemas.microsoft.com/office/drawing/2014/main" id="{96A1E022-DBE8-A371-8C52-35657E165B80}"/>
              </a:ext>
            </a:extLst>
          </p:cNvPr>
          <p:cNvSpPr txBox="1">
            <a:spLocks noChangeArrowheads="1"/>
          </p:cNvSpPr>
          <p:nvPr/>
        </p:nvSpPr>
        <p:spPr bwMode="auto">
          <a:xfrm>
            <a:off x="1077839" y="1909717"/>
            <a:ext cx="1230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panose="020B0604020202020204" pitchFamily="34" charset="0"/>
                <a:ea typeface="宋体" panose="02010600030101010101" pitchFamily="2" charset="-122"/>
              </a:defRPr>
            </a:lvl1pPr>
            <a:lvl2pPr marL="742950" indent="-285750" eaLnBrk="0" hangingPunct="0">
              <a:defRPr kumimoji="1">
                <a:solidFill>
                  <a:schemeClr val="tx1"/>
                </a:solidFill>
                <a:latin typeface="Arial" panose="020B0604020202020204" pitchFamily="34" charset="0"/>
                <a:ea typeface="宋体" panose="02010600030101010101" pitchFamily="2" charset="-122"/>
              </a:defRPr>
            </a:lvl2pPr>
            <a:lvl3pPr marL="1143000" indent="-228600" eaLnBrk="0" hangingPunct="0">
              <a:defRPr kumimoji="1">
                <a:solidFill>
                  <a:schemeClr val="tx1"/>
                </a:solidFill>
                <a:latin typeface="Arial" panose="020B0604020202020204" pitchFamily="34" charset="0"/>
                <a:ea typeface="宋体" panose="02010600030101010101" pitchFamily="2" charset="-122"/>
              </a:defRPr>
            </a:lvl3pPr>
            <a:lvl4pPr marL="1600200" indent="-228600" eaLnBrk="0" hangingPunct="0">
              <a:defRPr kumimoji="1">
                <a:solidFill>
                  <a:schemeClr val="tx1"/>
                </a:solidFill>
                <a:latin typeface="Arial" panose="020B0604020202020204" pitchFamily="34" charset="0"/>
                <a:ea typeface="宋体" panose="02010600030101010101" pitchFamily="2" charset="-122"/>
              </a:defRPr>
            </a:lvl4pPr>
            <a:lvl5pPr marL="2057400" indent="-228600" eaLnBrk="0" hangingPunct="0">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0" lang="en-US" altLang="zh-CN" dirty="0"/>
              <a:t>40</a:t>
            </a:r>
            <a:r>
              <a:rPr kumimoji="0" lang="zh-CN" altLang="en-US" dirty="0"/>
              <a:t>％开度：</a:t>
            </a:r>
          </a:p>
        </p:txBody>
      </p:sp>
      <p:sp>
        <p:nvSpPr>
          <p:cNvPr id="7" name="Text Box 48">
            <a:extLst>
              <a:ext uri="{FF2B5EF4-FFF2-40B4-BE49-F238E27FC236}">
                <a16:creationId xmlns:a16="http://schemas.microsoft.com/office/drawing/2014/main" id="{D4629FA7-C0D9-434B-A8DC-030D06391DCA}"/>
              </a:ext>
            </a:extLst>
          </p:cNvPr>
          <p:cNvSpPr txBox="1">
            <a:spLocks noChangeArrowheads="1"/>
          </p:cNvSpPr>
          <p:nvPr/>
        </p:nvSpPr>
        <p:spPr bwMode="auto">
          <a:xfrm>
            <a:off x="1077839" y="2910680"/>
            <a:ext cx="1230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Arial" panose="020B0604020202020204" pitchFamily="34" charset="0"/>
                <a:ea typeface="宋体" panose="02010600030101010101" pitchFamily="2" charset="-122"/>
              </a:defRPr>
            </a:lvl1pPr>
            <a:lvl2pPr marL="742950" indent="-285750" eaLnBrk="0" hangingPunct="0">
              <a:defRPr kumimoji="1">
                <a:solidFill>
                  <a:schemeClr val="tx1"/>
                </a:solidFill>
                <a:latin typeface="Arial" panose="020B0604020202020204" pitchFamily="34" charset="0"/>
                <a:ea typeface="宋体" panose="02010600030101010101" pitchFamily="2" charset="-122"/>
              </a:defRPr>
            </a:lvl2pPr>
            <a:lvl3pPr marL="1143000" indent="-228600" eaLnBrk="0" hangingPunct="0">
              <a:defRPr kumimoji="1">
                <a:solidFill>
                  <a:schemeClr val="tx1"/>
                </a:solidFill>
                <a:latin typeface="Arial" panose="020B0604020202020204" pitchFamily="34" charset="0"/>
                <a:ea typeface="宋体" panose="02010600030101010101" pitchFamily="2" charset="-122"/>
              </a:defRPr>
            </a:lvl3pPr>
            <a:lvl4pPr marL="1600200" indent="-228600" eaLnBrk="0" hangingPunct="0">
              <a:defRPr kumimoji="1">
                <a:solidFill>
                  <a:schemeClr val="tx1"/>
                </a:solidFill>
                <a:latin typeface="Arial" panose="020B0604020202020204" pitchFamily="34" charset="0"/>
                <a:ea typeface="宋体" panose="02010600030101010101" pitchFamily="2" charset="-122"/>
              </a:defRPr>
            </a:lvl4pPr>
            <a:lvl5pPr marL="2057400" indent="-228600" eaLnBrk="0" hangingPunct="0">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0" lang="en-US" altLang="zh-CN" dirty="0"/>
              <a:t>60</a:t>
            </a:r>
            <a:r>
              <a:rPr kumimoji="0" lang="zh-CN" altLang="en-US" dirty="0"/>
              <a:t>％开度：</a:t>
            </a:r>
          </a:p>
        </p:txBody>
      </p:sp>
      <mc:AlternateContent xmlns:mc="http://schemas.openxmlformats.org/markup-compatibility/2006" xmlns:a14="http://schemas.microsoft.com/office/drawing/2010/main">
        <mc:Choice Requires="a14">
          <p:sp>
            <p:nvSpPr>
              <p:cNvPr id="8" name="Object 49">
                <a:extLst>
                  <a:ext uri="{FF2B5EF4-FFF2-40B4-BE49-F238E27FC236}">
                    <a16:creationId xmlns:a16="http://schemas.microsoft.com/office/drawing/2014/main" id="{9631B721-10C2-2433-FAB0-6146ED719E08}"/>
                  </a:ext>
                </a:extLst>
              </p:cNvPr>
              <p:cNvSpPr txBox="1"/>
              <p:nvPr/>
            </p:nvSpPr>
            <p:spPr bwMode="auto">
              <a:xfrm>
                <a:off x="2757488" y="1825626"/>
                <a:ext cx="3718616" cy="742416"/>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f>
                        <m:fPr>
                          <m:ctrlPr>
                            <a:rPr lang="zh-CN" altLang="en-US" sz="3400" i="1" smtClean="0">
                              <a:solidFill>
                                <a:srgbClr val="000000"/>
                              </a:solidFill>
                              <a:latin typeface="Cambria Math" panose="02040503050406030204" pitchFamily="18" charset="0"/>
                            </a:rPr>
                          </m:ctrlPr>
                        </m:fPr>
                        <m:num>
                          <m:r>
                            <a:rPr lang="en-US" altLang="zh-CN" sz="3400" b="0" i="1" smtClean="0">
                              <a:solidFill>
                                <a:srgbClr val="000000"/>
                              </a:solidFill>
                              <a:latin typeface="Cambria Math" panose="02040503050406030204" pitchFamily="18" charset="0"/>
                            </a:rPr>
                            <m:t>51.7</m:t>
                          </m:r>
                          <m:r>
                            <a:rPr lang="zh-CN" altLang="en-US" sz="3400" i="1">
                              <a:solidFill>
                                <a:srgbClr val="000000"/>
                              </a:solidFill>
                              <a:latin typeface="Cambria Math" panose="02040503050406030204" pitchFamily="18" charset="0"/>
                            </a:rPr>
                            <m:t>−</m:t>
                          </m:r>
                          <m:r>
                            <a:rPr lang="en-US" altLang="zh-CN" sz="3400" b="0" i="1" smtClean="0">
                              <a:solidFill>
                                <a:srgbClr val="000000"/>
                              </a:solidFill>
                              <a:latin typeface="Cambria Math" panose="02040503050406030204" pitchFamily="18" charset="0"/>
                            </a:rPr>
                            <m:t>42.0</m:t>
                          </m:r>
                        </m:num>
                        <m:den>
                          <m:r>
                            <a:rPr lang="en-US" altLang="zh-CN" sz="3400" b="0" i="1" smtClean="0">
                              <a:solidFill>
                                <a:srgbClr val="000000"/>
                              </a:solidFill>
                              <a:latin typeface="Cambria Math" panose="02040503050406030204" pitchFamily="18" charset="0"/>
                            </a:rPr>
                            <m:t>42</m:t>
                          </m:r>
                          <m:r>
                            <a:rPr lang="zh-CN" altLang="en-US" sz="3400" i="1">
                              <a:solidFill>
                                <a:srgbClr val="000000"/>
                              </a:solidFill>
                              <a:latin typeface="Cambria Math" panose="02040503050406030204" pitchFamily="18" charset="0"/>
                            </a:rPr>
                            <m:t>.0</m:t>
                          </m:r>
                        </m:den>
                      </m:f>
                      <m:r>
                        <a:rPr lang="zh-CN" altLang="en-US" sz="3400" i="1">
                          <a:solidFill>
                            <a:srgbClr val="000000"/>
                          </a:solidFill>
                          <a:latin typeface="Cambria Math" panose="02040503050406030204" pitchFamily="18" charset="0"/>
                        </a:rPr>
                        <m:t>×100%=</m:t>
                      </m:r>
                      <m:r>
                        <a:rPr lang="en-US" altLang="zh-CN" sz="3400" b="0" i="1" smtClean="0">
                          <a:solidFill>
                            <a:srgbClr val="000000"/>
                          </a:solidFill>
                          <a:latin typeface="Cambria Math" panose="02040503050406030204" pitchFamily="18" charset="0"/>
                        </a:rPr>
                        <m:t>23.1</m:t>
                      </m:r>
                      <m:r>
                        <a:rPr lang="zh-CN" altLang="en-US" sz="3400" i="1">
                          <a:solidFill>
                            <a:srgbClr val="000000"/>
                          </a:solidFill>
                          <a:latin typeface="Cambria Math" panose="02040503050406030204" pitchFamily="18" charset="0"/>
                        </a:rPr>
                        <m:t>%</m:t>
                      </m:r>
                    </m:oMath>
                  </m:oMathPara>
                </a14:m>
                <a:endParaRPr lang="zh-CN" altLang="en-US" dirty="0"/>
              </a:p>
            </p:txBody>
          </p:sp>
        </mc:Choice>
        <mc:Fallback xmlns="">
          <p:sp>
            <p:nvSpPr>
              <p:cNvPr id="8" name="Object 49">
                <a:extLst>
                  <a:ext uri="{FF2B5EF4-FFF2-40B4-BE49-F238E27FC236}">
                    <a16:creationId xmlns:a16="http://schemas.microsoft.com/office/drawing/2014/main" id="{9631B721-10C2-2433-FAB0-6146ED719E08}"/>
                  </a:ext>
                </a:extLst>
              </p:cNvPr>
              <p:cNvSpPr txBox="1">
                <a:spLocks noRot="1" noChangeAspect="1" noMove="1" noResize="1" noEditPoints="1" noAdjustHandles="1" noChangeArrowheads="1" noChangeShapeType="1" noTextEdit="1"/>
              </p:cNvSpPr>
              <p:nvPr/>
            </p:nvSpPr>
            <p:spPr bwMode="auto">
              <a:xfrm>
                <a:off x="2757488" y="1825626"/>
                <a:ext cx="3718616" cy="742416"/>
              </a:xfrm>
              <a:prstGeom prst="rect">
                <a:avLst/>
              </a:prstGeom>
              <a:blipFill>
                <a:blip r:embed="rId3"/>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Object 49">
                <a:extLst>
                  <a:ext uri="{FF2B5EF4-FFF2-40B4-BE49-F238E27FC236}">
                    <a16:creationId xmlns:a16="http://schemas.microsoft.com/office/drawing/2014/main" id="{24FE25C3-14F8-CC0C-0DD7-FEBAB3791AC3}"/>
                  </a:ext>
                </a:extLst>
              </p:cNvPr>
              <p:cNvSpPr txBox="1"/>
              <p:nvPr/>
            </p:nvSpPr>
            <p:spPr bwMode="auto">
              <a:xfrm>
                <a:off x="2757488" y="2722828"/>
                <a:ext cx="4493166" cy="742416"/>
              </a:xfrm>
              <a:prstGeom prst="rect">
                <a:avLst/>
              </a:prstGeom>
              <a:noFill/>
              <a:ln>
                <a:noFill/>
              </a:ln>
              <a:effectLst/>
            </p:spPr>
            <p:txBody>
              <a:bodyPr>
                <a:normAutofit fontScale="62500" lnSpcReduction="20000"/>
              </a:bodyPr>
              <a:lstStyle/>
              <a:p>
                <a:pPr/>
                <a14:m>
                  <m:oMathPara xmlns:m="http://schemas.openxmlformats.org/officeDocument/2006/math">
                    <m:oMathParaPr>
                      <m:jc m:val="left"/>
                    </m:oMathParaPr>
                    <m:oMath xmlns:m="http://schemas.openxmlformats.org/officeDocument/2006/math">
                      <m:f>
                        <m:fPr>
                          <m:ctrlPr>
                            <a:rPr lang="zh-CN" altLang="en-US" sz="3400" i="1" smtClean="0">
                              <a:solidFill>
                                <a:srgbClr val="000000"/>
                              </a:solidFill>
                              <a:latin typeface="Cambria Math" panose="02040503050406030204" pitchFamily="18" charset="0"/>
                            </a:rPr>
                          </m:ctrlPr>
                        </m:fPr>
                        <m:num>
                          <m:r>
                            <a:rPr lang="en-US" altLang="zh-CN" sz="3400" b="0" i="1" smtClean="0">
                              <a:solidFill>
                                <a:srgbClr val="000000"/>
                              </a:solidFill>
                              <a:latin typeface="Cambria Math" panose="02040503050406030204" pitchFamily="18" charset="0"/>
                            </a:rPr>
                            <m:t>71.0</m:t>
                          </m:r>
                          <m:r>
                            <a:rPr lang="zh-CN" altLang="en-US" sz="3400" i="1">
                              <a:solidFill>
                                <a:srgbClr val="000000"/>
                              </a:solidFill>
                              <a:latin typeface="Cambria Math" panose="02040503050406030204" pitchFamily="18" charset="0"/>
                            </a:rPr>
                            <m:t>−</m:t>
                          </m:r>
                          <m:r>
                            <a:rPr lang="en-US" altLang="zh-CN" sz="3400" b="0" i="1" smtClean="0">
                              <a:solidFill>
                                <a:srgbClr val="000000"/>
                              </a:solidFill>
                              <a:latin typeface="Cambria Math" panose="02040503050406030204" pitchFamily="18" charset="0"/>
                            </a:rPr>
                            <m:t>61.3</m:t>
                          </m:r>
                        </m:num>
                        <m:den>
                          <m:r>
                            <a:rPr lang="en-US" altLang="zh-CN" sz="3400" b="0" i="1" smtClean="0">
                              <a:solidFill>
                                <a:srgbClr val="000000"/>
                              </a:solidFill>
                              <a:latin typeface="Cambria Math" panose="02040503050406030204" pitchFamily="18" charset="0"/>
                            </a:rPr>
                            <m:t>61.3</m:t>
                          </m:r>
                        </m:den>
                      </m:f>
                      <m:r>
                        <a:rPr lang="zh-CN" altLang="en-US" sz="3400" i="1">
                          <a:solidFill>
                            <a:srgbClr val="000000"/>
                          </a:solidFill>
                          <a:latin typeface="Cambria Math" panose="02040503050406030204" pitchFamily="18" charset="0"/>
                        </a:rPr>
                        <m:t>×100%=</m:t>
                      </m:r>
                      <m:r>
                        <a:rPr lang="en-US" altLang="zh-CN" sz="3400" b="0" i="1" smtClean="0">
                          <a:solidFill>
                            <a:srgbClr val="000000"/>
                          </a:solidFill>
                          <a:latin typeface="Cambria Math" panose="02040503050406030204" pitchFamily="18" charset="0"/>
                        </a:rPr>
                        <m:t>15.8</m:t>
                      </m:r>
                      <m:r>
                        <a:rPr lang="zh-CN" altLang="en-US" sz="3400" i="1">
                          <a:solidFill>
                            <a:srgbClr val="000000"/>
                          </a:solidFill>
                          <a:latin typeface="Cambria Math" panose="02040503050406030204" pitchFamily="18" charset="0"/>
                        </a:rPr>
                        <m:t>%</m:t>
                      </m:r>
                    </m:oMath>
                  </m:oMathPara>
                </a14:m>
                <a:endParaRPr lang="zh-CN" altLang="en-US" dirty="0"/>
              </a:p>
            </p:txBody>
          </p:sp>
        </mc:Choice>
        <mc:Fallback xmlns="">
          <p:sp>
            <p:nvSpPr>
              <p:cNvPr id="15" name="Object 49">
                <a:extLst>
                  <a:ext uri="{FF2B5EF4-FFF2-40B4-BE49-F238E27FC236}">
                    <a16:creationId xmlns:a16="http://schemas.microsoft.com/office/drawing/2014/main" id="{24FE25C3-14F8-CC0C-0DD7-FEBAB3791AC3}"/>
                  </a:ext>
                </a:extLst>
              </p:cNvPr>
              <p:cNvSpPr txBox="1">
                <a:spLocks noRot="1" noChangeAspect="1" noMove="1" noResize="1" noEditPoints="1" noAdjustHandles="1" noChangeArrowheads="1" noChangeShapeType="1" noTextEdit="1"/>
              </p:cNvSpPr>
              <p:nvPr/>
            </p:nvSpPr>
            <p:spPr bwMode="auto">
              <a:xfrm>
                <a:off x="2757488" y="2722828"/>
                <a:ext cx="4493166" cy="742416"/>
              </a:xfrm>
              <a:prstGeom prst="rect">
                <a:avLst/>
              </a:prstGeom>
              <a:blipFill>
                <a:blip r:embed="rId4"/>
                <a:stretch>
                  <a:fillRect/>
                </a:stretch>
              </a:blipFill>
              <a:ln>
                <a:noFill/>
              </a:ln>
              <a:effectLst/>
            </p:spPr>
            <p:txBody>
              <a:bodyPr/>
              <a:lstStyle/>
              <a:p>
                <a:r>
                  <a:rPr lang="zh-CN" altLang="en-US">
                    <a:noFill/>
                  </a:rPr>
                  <a:t> </a:t>
                </a:r>
              </a:p>
            </p:txBody>
          </p:sp>
        </mc:Fallback>
      </mc:AlternateContent>
      <p:sp>
        <p:nvSpPr>
          <p:cNvPr id="9" name="文本占位符 8">
            <a:extLst>
              <a:ext uri="{FF2B5EF4-FFF2-40B4-BE49-F238E27FC236}">
                <a16:creationId xmlns:a16="http://schemas.microsoft.com/office/drawing/2014/main" id="{C78CDF58-3A93-4165-BEC5-312A42996E7B}"/>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2483413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串并联管道时阀的选择要考虑哪些因素？</a:t>
            </a:r>
            <a:endParaRPr lang="zh-CN" altLang="en-US" b="1"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13</a:t>
            </a:fld>
            <a:endParaRPr lang="en-US" dirty="0"/>
          </a:p>
        </p:txBody>
      </p:sp>
      <p:sp>
        <p:nvSpPr>
          <p:cNvPr id="3" name="文本框 2">
            <a:extLst>
              <a:ext uri="{FF2B5EF4-FFF2-40B4-BE49-F238E27FC236}">
                <a16:creationId xmlns:a16="http://schemas.microsoft.com/office/drawing/2014/main" id="{AC7332B2-BC1F-F735-457F-DF519025D7C2}"/>
              </a:ext>
            </a:extLst>
          </p:cNvPr>
          <p:cNvSpPr txBox="1"/>
          <p:nvPr/>
        </p:nvSpPr>
        <p:spPr>
          <a:xfrm>
            <a:off x="925157" y="1947134"/>
            <a:ext cx="10209007" cy="4524315"/>
          </a:xfrm>
          <a:prstGeom prst="rect">
            <a:avLst/>
          </a:prstGeom>
          <a:noFill/>
        </p:spPr>
        <p:txBody>
          <a:bodyPr wrap="square" rtlCol="0">
            <a:spAutoFit/>
          </a:bodyPr>
          <a:lstStyle/>
          <a:p>
            <a:r>
              <a:rPr lang="zh-CN" altLang="en-US" sz="2400" dirty="0"/>
              <a:t>阀心</a:t>
            </a:r>
            <a:r>
              <a:rPr lang="en-US" altLang="zh-CN" sz="2400" dirty="0"/>
              <a:t>:</a:t>
            </a:r>
          </a:p>
          <a:p>
            <a:pPr marL="457200" indent="-457200">
              <a:buFont typeface="+mj-lt"/>
              <a:buAutoNum type="arabicPeriod"/>
            </a:pPr>
            <a:r>
              <a:rPr lang="zh-CN" altLang="en-US" sz="2400" dirty="0"/>
              <a:t>串、并联管道都使阀的理想流量特性发生畸变</a:t>
            </a:r>
            <a:r>
              <a:rPr lang="en-US" altLang="zh-CN" sz="2400" dirty="0"/>
              <a:t>,</a:t>
            </a:r>
            <a:r>
              <a:rPr lang="zh-CN" altLang="en-US" sz="2400" dirty="0"/>
              <a:t>串联管道的影响更严重</a:t>
            </a:r>
            <a:endParaRPr lang="en-US" altLang="zh-CN" sz="2400" dirty="0"/>
          </a:p>
          <a:p>
            <a:pPr marL="457200" indent="-457200">
              <a:buFont typeface="+mj-lt"/>
              <a:buAutoNum type="arabicPeriod"/>
            </a:pPr>
            <a:r>
              <a:rPr lang="zh-CN" altLang="en-US" sz="2400" dirty="0"/>
              <a:t>串、并联管道都会使控制阀的可调范围降低，并联管道尤为严重</a:t>
            </a:r>
            <a:endParaRPr lang="en-US" altLang="zh-CN" sz="2400" dirty="0"/>
          </a:p>
          <a:p>
            <a:pPr marL="457200" indent="-457200">
              <a:buFont typeface="+mj-lt"/>
              <a:buAutoNum type="arabicPeriod"/>
            </a:pPr>
            <a:r>
              <a:rPr lang="zh-CN" altLang="en-US" sz="2400" dirty="0"/>
              <a:t>串联管道使系统总流量减少</a:t>
            </a:r>
            <a:r>
              <a:rPr lang="en-US" altLang="zh-CN" sz="2400" dirty="0"/>
              <a:t>,</a:t>
            </a:r>
            <a:r>
              <a:rPr lang="zh-CN" altLang="en-US" sz="2400" dirty="0"/>
              <a:t>并联管道使系统总流量增加</a:t>
            </a:r>
            <a:endParaRPr lang="en-US" altLang="zh-CN" sz="2400" dirty="0"/>
          </a:p>
          <a:p>
            <a:pPr marL="457200" indent="-457200">
              <a:buFont typeface="+mj-lt"/>
              <a:buAutoNum type="arabicPeriod"/>
            </a:pPr>
            <a:r>
              <a:rPr lang="zh-CN" altLang="en-US" sz="2400" dirty="0"/>
              <a:t>串、并联管道都会使调节阀的放大系数减小，即输入信号变化所引起的流量变化值减小；串联管道时调节阀若处于大开度，则</a:t>
            </a:r>
            <a:r>
              <a:rPr lang="en-US" altLang="zh-CN" sz="2400" dirty="0"/>
              <a:t>s</a:t>
            </a:r>
            <a:r>
              <a:rPr lang="zh-CN" altLang="en-US" sz="2400" dirty="0"/>
              <a:t>值降低对放大系数的影响更为严重；并联管道时控制阀若处于小开度，则</a:t>
            </a:r>
            <a:r>
              <a:rPr lang="en-US" altLang="zh-CN" sz="2400" dirty="0"/>
              <a:t>x</a:t>
            </a:r>
            <a:r>
              <a:rPr lang="zh-CN" altLang="en-US" sz="2400" dirty="0"/>
              <a:t>值降低对放大系数的影响更为严重</a:t>
            </a:r>
            <a:endParaRPr lang="en-US" altLang="zh-CN" sz="2400" dirty="0"/>
          </a:p>
          <a:p>
            <a:r>
              <a:rPr lang="zh-CN" altLang="en-US" sz="2400" dirty="0"/>
              <a:t>可调比</a:t>
            </a:r>
            <a:r>
              <a:rPr lang="en-US" altLang="zh-CN" sz="2400" dirty="0"/>
              <a:t>:</a:t>
            </a:r>
          </a:p>
          <a:p>
            <a:pPr marL="457200" indent="-457200">
              <a:buFont typeface="+mj-lt"/>
              <a:buAutoNum type="arabicPeriod"/>
            </a:pPr>
            <a:r>
              <a:rPr lang="zh-CN" altLang="en-US" sz="2400" dirty="0"/>
              <a:t>串联或并联管道都将使实际可调比下降，所以在选择调节阀和组成系统时不应使</a:t>
            </a:r>
            <a:r>
              <a:rPr lang="en-US" altLang="zh-CN" sz="2400" dirty="0"/>
              <a:t>s</a:t>
            </a:r>
            <a:r>
              <a:rPr lang="zh-CN" altLang="en-US" sz="2400" dirty="0"/>
              <a:t>值太小，要尽局避免打开并联管道的旁路阀</a:t>
            </a:r>
            <a:r>
              <a:rPr lang="en-US" altLang="zh-CN" sz="2400" dirty="0"/>
              <a:t>,</a:t>
            </a:r>
            <a:r>
              <a:rPr lang="zh-CN" altLang="en-US" sz="2400" dirty="0"/>
              <a:t>以保证调节阀有足够的可调比。</a:t>
            </a:r>
          </a:p>
        </p:txBody>
      </p:sp>
      <p:sp>
        <p:nvSpPr>
          <p:cNvPr id="7" name="文本占位符 6">
            <a:extLst>
              <a:ext uri="{FF2B5EF4-FFF2-40B4-BE49-F238E27FC236}">
                <a16:creationId xmlns:a16="http://schemas.microsoft.com/office/drawing/2014/main" id="{34C3784B-5D24-49E0-B034-BFC1EE5138DB}"/>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3922456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5922" y="907962"/>
            <a:ext cx="9746088" cy="742416"/>
          </a:xfrm>
        </p:spPr>
        <p:txBody>
          <a:bodyPr/>
          <a:lstStyle/>
          <a:p>
            <a:pPr marL="285750" indent="-285750">
              <a:buFont typeface="Arial" panose="020B0604020202020204" pitchFamily="34" charset="0"/>
              <a:buChar char="•"/>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3.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某系统中，需选用一台直线流量特性的直通双座调节阀。被调介质为水。工艺要求，最大流量</a:t>
            </a:r>
            <a:r>
              <a:rPr lang="en-US" altLang="zh-CN" sz="1800" b="1" kern="100" dirty="0" err="1">
                <a:effectLst/>
                <a:latin typeface="Times New Roman" panose="02020603050405020304" pitchFamily="18" charset="0"/>
                <a:ea typeface="宋体" panose="02010600030101010101" pitchFamily="2" charset="-122"/>
                <a:cs typeface="Times New Roman" panose="02020603050405020304" pitchFamily="18" charset="0"/>
              </a:rPr>
              <a:t>Qmax</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=110m3/h</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，最小流量</a:t>
            </a:r>
            <a:r>
              <a:rPr lang="en-US" altLang="zh-CN" sz="1800" b="1" kern="100" dirty="0" err="1">
                <a:effectLst/>
                <a:latin typeface="Times New Roman" panose="02020603050405020304" pitchFamily="18" charset="0"/>
                <a:ea typeface="宋体" panose="02010600030101010101" pitchFamily="2" charset="-122"/>
                <a:cs typeface="Times New Roman" panose="02020603050405020304" pitchFamily="18" charset="0"/>
              </a:rPr>
              <a:t>Qmin</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=25m3/h</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，最小压差△</a:t>
            </a:r>
            <a:r>
              <a:rPr lang="en-US" altLang="zh-CN" sz="1800" b="1" kern="100" dirty="0" err="1">
                <a:effectLst/>
                <a:latin typeface="Times New Roman" panose="02020603050405020304" pitchFamily="18" charset="0"/>
                <a:ea typeface="宋体" panose="02010600030101010101" pitchFamily="2" charset="-122"/>
                <a:cs typeface="Times New Roman" panose="02020603050405020304" pitchFamily="18" charset="0"/>
              </a:rPr>
              <a:t>pmin</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=60kPa</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s = 0.5</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，试确定调节阀的口径</a:t>
            </a:r>
            <a:endParaRPr lang="zh-CN" altLang="en-US" b="1"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14</a:t>
            </a:fld>
            <a:endParaRPr lang="en-US" dirty="0"/>
          </a:p>
        </p:txBody>
      </p:sp>
      <p:pic>
        <p:nvPicPr>
          <p:cNvPr id="4098" name="图片 3">
            <a:extLst>
              <a:ext uri="{FF2B5EF4-FFF2-40B4-BE49-F238E27FC236}">
                <a16:creationId xmlns:a16="http://schemas.microsoft.com/office/drawing/2014/main" id="{58D1BD3E-524D-E981-3A11-83D7035671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6669" y="2221146"/>
            <a:ext cx="9641069" cy="2415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8660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某系统中，需选用一台直线流量特性的直通双座调节阀。被调介质为水。工艺要求，最大流量</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Qmax</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=110m3/h</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，最小流量</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Qmin</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=25m3/h</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，最小压差△</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pmin</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=60kPa</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 = 0.5</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，试确定调节阀的口径</a:t>
            </a:r>
            <a:endParaRPr lang="zh-CN" altLang="en-US"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15</a:t>
            </a:fld>
            <a:endParaRPr lang="en-US"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D670E9E-1F86-B630-5DF6-BB38C404E5FA}"/>
                  </a:ext>
                </a:extLst>
              </p:cNvPr>
              <p:cNvSpPr txBox="1"/>
              <p:nvPr/>
            </p:nvSpPr>
            <p:spPr>
              <a:xfrm>
                <a:off x="822325" y="1882588"/>
                <a:ext cx="10150475" cy="2272160"/>
              </a:xfrm>
              <a:prstGeom prst="rect">
                <a:avLst/>
              </a:prstGeom>
              <a:noFill/>
            </p:spPr>
            <p:txBody>
              <a:bodyPr wrap="square" rtlCol="0">
                <a:spAutoFit/>
              </a:bodyPr>
              <a:lstStyle/>
              <a:p>
                <a:pPr marL="342900" indent="-342900">
                  <a:buFont typeface="+mj-lt"/>
                  <a:buAutoNum type="arabicPeriod"/>
                </a:pPr>
                <a:r>
                  <a:rPr lang="zh-CN" altLang="en-US" dirty="0"/>
                  <a:t>计算流通能力：</a:t>
                </a:r>
                <a14:m>
                  <m:oMath xmlns:m="http://schemas.openxmlformats.org/officeDocument/2006/math">
                    <m:sSub>
                      <m:sSubPr>
                        <m:ctrlPr>
                          <a:rPr lang="zh-CN" altLang="en-US" i="1" smtClean="0">
                            <a:solidFill>
                              <a:srgbClr val="836967"/>
                            </a:solidFill>
                            <a:latin typeface="Cambria Math" panose="02040503050406030204" pitchFamily="18" charset="0"/>
                          </a:rPr>
                        </m:ctrlPr>
                      </m:sSubPr>
                      <m:e>
                        <m:r>
                          <m:rPr>
                            <m:sty m:val="p"/>
                          </m:rPr>
                          <a:rPr lang="en-US" altLang="zh-CN" i="1">
                            <a:solidFill>
                              <a:srgbClr val="836967"/>
                            </a:solidFill>
                            <a:latin typeface="Cambria Math" panose="02040503050406030204" pitchFamily="18" charset="0"/>
                          </a:rPr>
                          <m:t>K</m:t>
                        </m:r>
                      </m:e>
                      <m:sub>
                        <m:r>
                          <a:rPr lang="zh-CN" altLang="en-US" i="1" smtClean="0">
                            <a:latin typeface="Cambria Math" panose="02040503050406030204" pitchFamily="18" charset="0"/>
                          </a:rPr>
                          <m:t>𝑣</m:t>
                        </m:r>
                      </m:sub>
                    </m:sSub>
                    <m:r>
                      <a:rPr lang="zh-CN" altLang="en-US" i="1" smtClean="0">
                        <a:latin typeface="Cambria Math" panose="02040503050406030204" pitchFamily="18" charset="0"/>
                      </a:rPr>
                      <m:t>=</m:t>
                    </m:r>
                    <m:sSub>
                      <m:sSubPr>
                        <m:ctrlPr>
                          <a:rPr lang="zh-CN" altLang="en-US" i="1" smtClean="0">
                            <a:solidFill>
                              <a:srgbClr val="836967"/>
                            </a:solidFill>
                            <a:latin typeface="Cambria Math" panose="02040503050406030204" pitchFamily="18" charset="0"/>
                          </a:rPr>
                        </m:ctrlPr>
                      </m:sSubPr>
                      <m:e>
                        <m:r>
                          <a:rPr lang="en-US" altLang="zh-CN" b="0" i="1" smtClean="0">
                            <a:solidFill>
                              <a:srgbClr val="836967"/>
                            </a:solidFill>
                            <a:latin typeface="Cambria Math" panose="02040503050406030204" pitchFamily="18" charset="0"/>
                          </a:rPr>
                          <m:t>10</m:t>
                        </m:r>
                        <m:r>
                          <a:rPr lang="zh-CN" altLang="en-US" i="1" smtClean="0">
                            <a:latin typeface="Cambria Math" panose="02040503050406030204" pitchFamily="18" charset="0"/>
                          </a:rPr>
                          <m:t>𝑄</m:t>
                        </m:r>
                      </m:e>
                      <m:sub>
                        <m:r>
                          <m:rPr>
                            <m:sty m:val="p"/>
                          </m:rPr>
                          <a:rPr lang="zh-CN" altLang="en-US" i="1" smtClean="0">
                            <a:latin typeface="Cambria Math" panose="02040503050406030204" pitchFamily="18" charset="0"/>
                          </a:rPr>
                          <m:t>max</m:t>
                        </m:r>
                      </m:sub>
                    </m:sSub>
                    <m:f>
                      <m:fPr>
                        <m:ctrlPr>
                          <a:rPr lang="en-US" altLang="zh-CN" i="1" dirty="0" smtClean="0">
                            <a:solidFill>
                              <a:srgbClr val="836967"/>
                            </a:solidFill>
                            <a:latin typeface="Cambria Math" panose="02040503050406030204" pitchFamily="18" charset="0"/>
                          </a:rPr>
                        </m:ctrlPr>
                      </m:fPr>
                      <m:num>
                        <m:rad>
                          <m:radPr>
                            <m:degHide m:val="on"/>
                            <m:ctrlPr>
                              <a:rPr lang="en-US" altLang="zh-CN" i="1" dirty="0">
                                <a:solidFill>
                                  <a:srgbClr val="836967"/>
                                </a:solidFill>
                                <a:latin typeface="Cambria Math" panose="02040503050406030204" pitchFamily="18" charset="0"/>
                              </a:rPr>
                            </m:ctrlPr>
                          </m:radPr>
                          <m:deg/>
                          <m:e>
                            <m:r>
                              <a:rPr lang="en-US" altLang="zh-CN" i="1" dirty="0">
                                <a:latin typeface="Cambria Math" panose="02040503050406030204" pitchFamily="18" charset="0"/>
                              </a:rPr>
                              <m:t>𝜌</m:t>
                            </m:r>
                          </m:e>
                        </m:rad>
                      </m:num>
                      <m:den>
                        <m:rad>
                          <m:radPr>
                            <m:degHide m:val="on"/>
                            <m:ctrlPr>
                              <a:rPr lang="en-US" altLang="zh-CN" i="1" dirty="0">
                                <a:solidFill>
                                  <a:srgbClr val="836967"/>
                                </a:solidFill>
                                <a:latin typeface="Cambria Math" panose="02040503050406030204" pitchFamily="18" charset="0"/>
                              </a:rPr>
                            </m:ctrlPr>
                          </m:radPr>
                          <m:deg/>
                          <m:e>
                            <m:r>
                              <m:rPr>
                                <m:sty m:val="p"/>
                              </m:rPr>
                              <a:rPr lang="en-US" altLang="zh-CN" i="0" dirty="0">
                                <a:latin typeface="Cambria Math" panose="02040503050406030204" pitchFamily="18" charset="0"/>
                              </a:rPr>
                              <m:t>Δ</m:t>
                            </m:r>
                            <m:sSub>
                              <m:sSubPr>
                                <m:ctrlPr>
                                  <a:rPr lang="en-US" altLang="zh-CN" i="1" dirty="0">
                                    <a:solidFill>
                                      <a:srgbClr val="836967"/>
                                    </a:solidFill>
                                    <a:latin typeface="Cambria Math" panose="02040503050406030204" pitchFamily="18" charset="0"/>
                                  </a:rPr>
                                </m:ctrlPr>
                              </m:sSubPr>
                              <m:e>
                                <m:r>
                                  <a:rPr lang="en-US" altLang="zh-CN" i="1" dirty="0">
                                    <a:latin typeface="Cambria Math" panose="02040503050406030204" pitchFamily="18" charset="0"/>
                                  </a:rPr>
                                  <m:t>𝑃</m:t>
                                </m:r>
                              </m:e>
                              <m:sub>
                                <m:r>
                                  <a:rPr lang="en-US" altLang="zh-CN" i="1" dirty="0">
                                    <a:latin typeface="Cambria Math" panose="02040503050406030204" pitchFamily="18" charset="0"/>
                                  </a:rPr>
                                  <m:t>𝑚𝑖𝑛</m:t>
                                </m:r>
                              </m:sub>
                            </m:sSub>
                          </m:e>
                        </m:rad>
                      </m:den>
                    </m:f>
                    <m:r>
                      <a:rPr lang="en-US" altLang="zh-CN" b="0" i="1" dirty="0" smtClean="0">
                        <a:latin typeface="Cambria Math" panose="02040503050406030204" pitchFamily="18" charset="0"/>
                      </a:rPr>
                      <m:t>=110</m:t>
                    </m:r>
                    <m:f>
                      <m:fPr>
                        <m:ctrlPr>
                          <a:rPr lang="en-US" altLang="zh-CN" i="1" dirty="0" smtClean="0">
                            <a:solidFill>
                              <a:srgbClr val="836967"/>
                            </a:solidFill>
                            <a:latin typeface="Cambria Math" panose="02040503050406030204" pitchFamily="18" charset="0"/>
                          </a:rPr>
                        </m:ctrlPr>
                      </m:fPr>
                      <m:num>
                        <m:r>
                          <a:rPr lang="en-US" altLang="zh-CN" dirty="0">
                            <a:latin typeface="Cambria Math" panose="02040503050406030204" pitchFamily="18" charset="0"/>
                          </a:rPr>
                          <m:t>10</m:t>
                        </m:r>
                        <m:rad>
                          <m:radPr>
                            <m:degHide m:val="on"/>
                            <m:ctrlPr>
                              <a:rPr lang="en-US" altLang="zh-CN" i="1" dirty="0">
                                <a:solidFill>
                                  <a:srgbClr val="836967"/>
                                </a:solidFill>
                                <a:latin typeface="Cambria Math" panose="02040503050406030204" pitchFamily="18" charset="0"/>
                              </a:rPr>
                            </m:ctrlPr>
                          </m:radPr>
                          <m:deg/>
                          <m:e>
                            <m:r>
                              <a:rPr lang="en-US" altLang="zh-CN" i="0" dirty="0">
                                <a:latin typeface="Cambria Math" panose="02040503050406030204" pitchFamily="18" charset="0"/>
                              </a:rPr>
                              <m:t>1</m:t>
                            </m:r>
                          </m:e>
                        </m:rad>
                      </m:num>
                      <m:den>
                        <m:rad>
                          <m:radPr>
                            <m:degHide m:val="on"/>
                            <m:ctrlPr>
                              <a:rPr lang="en-US" altLang="zh-CN" i="1" dirty="0">
                                <a:solidFill>
                                  <a:srgbClr val="836967"/>
                                </a:solidFill>
                                <a:latin typeface="Cambria Math" panose="02040503050406030204" pitchFamily="18" charset="0"/>
                              </a:rPr>
                            </m:ctrlPr>
                          </m:radPr>
                          <m:deg/>
                          <m:e>
                            <m:r>
                              <a:rPr lang="en-US" altLang="zh-CN" i="0" dirty="0">
                                <a:latin typeface="Cambria Math" panose="02040503050406030204" pitchFamily="18" charset="0"/>
                              </a:rPr>
                              <m:t>60</m:t>
                            </m:r>
                          </m:e>
                        </m:rad>
                      </m:den>
                    </m:f>
                    <m:r>
                      <a:rPr lang="en-US" altLang="zh-CN" i="0" dirty="0">
                        <a:latin typeface="Cambria Math" panose="02040503050406030204" pitchFamily="18" charset="0"/>
                      </a:rPr>
                      <m:t>=142</m:t>
                    </m:r>
                  </m:oMath>
                </a14:m>
                <a:endParaRPr lang="en-US" altLang="zh-CN" dirty="0"/>
              </a:p>
              <a:p>
                <a:pPr marL="342900" indent="-342900">
                  <a:buFont typeface="+mj-lt"/>
                  <a:buAutoNum type="arabicPeriod"/>
                </a:pPr>
                <a:r>
                  <a:rPr lang="zh-CN" altLang="en-US" dirty="0"/>
                  <a:t>根据结果选用</a:t>
                </a:r>
                <a14:m>
                  <m:oMath xmlns:m="http://schemas.openxmlformats.org/officeDocument/2006/math">
                    <m:sSub>
                      <m:sSubPr>
                        <m:ctrlPr>
                          <a:rPr lang="zh-CN" altLang="en-US" i="1" smtClean="0">
                            <a:solidFill>
                              <a:srgbClr val="836967"/>
                            </a:solidFill>
                            <a:latin typeface="Cambria Math" panose="02040503050406030204" pitchFamily="18" charset="0"/>
                          </a:rPr>
                        </m:ctrlPr>
                      </m:sSubPr>
                      <m:e>
                        <m:r>
                          <m:rPr>
                            <m:sty m:val="p"/>
                          </m:rPr>
                          <a:rPr lang="en-US" altLang="zh-CN" i="1">
                            <a:solidFill>
                              <a:srgbClr val="836967"/>
                            </a:solidFill>
                            <a:latin typeface="Cambria Math" panose="02040503050406030204" pitchFamily="18" charset="0"/>
                          </a:rPr>
                          <m:t>K</m:t>
                        </m:r>
                      </m:e>
                      <m:sub>
                        <m:r>
                          <a:rPr lang="zh-CN" altLang="en-US" i="1" smtClean="0">
                            <a:latin typeface="Cambria Math" panose="02040503050406030204" pitchFamily="18" charset="0"/>
                          </a:rPr>
                          <m:t>𝑣</m:t>
                        </m:r>
                      </m:sub>
                    </m:sSub>
                    <m:r>
                      <a:rPr lang="en-US" altLang="zh-CN" b="0" i="0" smtClean="0">
                        <a:latin typeface="Cambria Math" panose="02040503050406030204" pitchFamily="18" charset="0"/>
                      </a:rPr>
                      <m:t>=160</m:t>
                    </m:r>
                  </m:oMath>
                </a14:m>
                <a:endParaRPr lang="en-US" altLang="zh-CN" b="0" dirty="0"/>
              </a:p>
              <a:p>
                <a:pPr marL="342900" indent="-342900">
                  <a:buFont typeface="+mj-lt"/>
                  <a:buAutoNum type="arabicPeriod"/>
                </a:pPr>
                <a:r>
                  <a:rPr lang="zh-CN" altLang="en-US" dirty="0"/>
                  <a:t>验算开度：</a:t>
                </a:r>
                <a14:m>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smtClean="0">
                            <a:latin typeface="Cambria Math" panose="02040503050406030204" pitchFamily="18" charset="0"/>
                          </a:rPr>
                          <m:t>𝑘</m:t>
                        </m:r>
                      </m:e>
                      <m:sub>
                        <m:r>
                          <m:rPr>
                            <m:sty m:val="p"/>
                          </m:rPr>
                          <a:rPr lang="zh-CN" altLang="en-US" i="1" smtClean="0">
                            <a:latin typeface="Cambria Math" panose="02040503050406030204" pitchFamily="18" charset="0"/>
                          </a:rPr>
                          <m:t>max</m:t>
                        </m:r>
                      </m:sub>
                    </m:sSub>
                    <m:r>
                      <a:rPr lang="zh-CN" altLang="en-US" i="1" smtClean="0">
                        <a:latin typeface="Cambria Math" panose="02040503050406030204" pitchFamily="18" charset="0"/>
                      </a:rPr>
                      <m:t>=1.03</m:t>
                    </m:r>
                    <m:rad>
                      <m:radPr>
                        <m:degHide m:val="on"/>
                        <m:ctrlPr>
                          <a:rPr lang="zh-CN" altLang="en-US" i="1" smtClean="0">
                            <a:solidFill>
                              <a:srgbClr val="836967"/>
                            </a:solidFill>
                            <a:latin typeface="Cambria Math" panose="02040503050406030204" pitchFamily="18" charset="0"/>
                          </a:rPr>
                        </m:ctrlPr>
                      </m:radPr>
                      <m:deg/>
                      <m:e>
                        <m:f>
                          <m:fPr>
                            <m:ctrlPr>
                              <a:rPr lang="zh-CN" altLang="en-US" i="1" smtClean="0">
                                <a:solidFill>
                                  <a:srgbClr val="836967"/>
                                </a:solidFill>
                                <a:latin typeface="Cambria Math" panose="02040503050406030204" pitchFamily="18" charset="0"/>
                              </a:rPr>
                            </m:ctrlPr>
                          </m:fPr>
                          <m:num>
                            <m:r>
                              <a:rPr lang="zh-CN" altLang="en-US" i="1" smtClean="0">
                                <a:latin typeface="Cambria Math" panose="02040503050406030204" pitchFamily="18" charset="0"/>
                              </a:rPr>
                              <m:t>0.5</m:t>
                            </m:r>
                          </m:num>
                          <m:den>
                            <m:r>
                              <a:rPr lang="en-US" altLang="zh-CN" b="0" i="1" smtClean="0">
                                <a:latin typeface="Cambria Math" panose="02040503050406030204" pitchFamily="18" charset="0"/>
                              </a:rPr>
                              <m:t>0.5+</m:t>
                            </m:r>
                            <m:f>
                              <m:fPr>
                                <m:ctrlPr>
                                  <a:rPr lang="zh-CN" altLang="en-US" i="1" smtClean="0">
                                    <a:solidFill>
                                      <a:srgbClr val="836967"/>
                                    </a:solidFill>
                                    <a:latin typeface="Cambria Math" panose="02040503050406030204" pitchFamily="18" charset="0"/>
                                  </a:rPr>
                                </m:ctrlPr>
                              </m:fPr>
                              <m:num>
                                <m:d>
                                  <m:dPr>
                                    <m:ctrlPr>
                                      <a:rPr lang="zh-CN" altLang="en-US" i="1" smtClean="0">
                                        <a:solidFill>
                                          <a:srgbClr val="836967"/>
                                        </a:solidFill>
                                        <a:latin typeface="Cambria Math" panose="02040503050406030204" pitchFamily="18" charset="0"/>
                                      </a:rPr>
                                    </m:ctrlPr>
                                  </m:dPr>
                                  <m:e>
                                    <m:sSup>
                                      <m:sSupPr>
                                        <m:ctrlPr>
                                          <a:rPr lang="zh-CN" altLang="en-US" i="1" smtClean="0">
                                            <a:solidFill>
                                              <a:srgbClr val="836967"/>
                                            </a:solidFill>
                                            <a:latin typeface="Cambria Math" panose="02040503050406030204" pitchFamily="18" charset="0"/>
                                          </a:rPr>
                                        </m:ctrlPr>
                                      </m:sSupPr>
                                      <m:e>
                                        <m:r>
                                          <a:rPr lang="zh-CN" altLang="en-US" i="1" smtClean="0">
                                            <a:latin typeface="Cambria Math" panose="02040503050406030204" pitchFamily="18" charset="0"/>
                                          </a:rPr>
                                          <m:t>160</m:t>
                                        </m:r>
                                      </m:e>
                                      <m:sup>
                                        <m:r>
                                          <a:rPr lang="zh-CN" altLang="en-US" i="1" smtClean="0">
                                            <a:latin typeface="Cambria Math" panose="02040503050406030204" pitchFamily="18" charset="0"/>
                                          </a:rPr>
                                          <m:t>2</m:t>
                                        </m:r>
                                      </m:sup>
                                    </m:sSup>
                                    <m:r>
                                      <a:rPr lang="en-US" altLang="zh-CN" i="1">
                                        <a:latin typeface="Cambria Math" panose="02040503050406030204" pitchFamily="18" charset="0"/>
                                      </a:rPr>
                                      <m:t>×</m:t>
                                    </m:r>
                                    <m:r>
                                      <a:rPr lang="zh-CN" altLang="en-US" i="1" smtClean="0">
                                        <a:latin typeface="Cambria Math" panose="02040503050406030204" pitchFamily="18" charset="0"/>
                                      </a:rPr>
                                      <m:t>0.6</m:t>
                                    </m:r>
                                  </m:e>
                                </m:d>
                              </m:num>
                              <m:den>
                                <m:sSup>
                                  <m:sSupPr>
                                    <m:ctrlPr>
                                      <a:rPr lang="zh-CN" altLang="en-US" i="1" smtClean="0">
                                        <a:solidFill>
                                          <a:srgbClr val="836967"/>
                                        </a:solidFill>
                                        <a:latin typeface="Cambria Math" panose="02040503050406030204" pitchFamily="18" charset="0"/>
                                      </a:rPr>
                                    </m:ctrlPr>
                                  </m:sSupPr>
                                  <m:e>
                                    <m:r>
                                      <a:rPr lang="zh-CN" altLang="en-US" i="1" smtClean="0">
                                        <a:latin typeface="Cambria Math" panose="02040503050406030204" pitchFamily="18" charset="0"/>
                                      </a:rPr>
                                      <m:t>110</m:t>
                                    </m:r>
                                  </m:e>
                                  <m:sup>
                                    <m:r>
                                      <a:rPr lang="zh-CN" altLang="en-US" i="1" smtClean="0">
                                        <a:latin typeface="Cambria Math" panose="02040503050406030204" pitchFamily="18" charset="0"/>
                                      </a:rPr>
                                      <m:t>2</m:t>
                                    </m:r>
                                  </m:sup>
                                </m:sSup>
                                <m:r>
                                  <a:rPr lang="zh-CN" altLang="en-US" i="1" smtClean="0">
                                    <a:latin typeface="Cambria Math" panose="02040503050406030204" pitchFamily="18" charset="0"/>
                                  </a:rPr>
                                  <m:t>×1</m:t>
                                </m:r>
                              </m:den>
                            </m:f>
                            <m:r>
                              <a:rPr lang="en-US" altLang="zh-CN" b="0" i="1" smtClean="0">
                                <a:latin typeface="Cambria Math" panose="02040503050406030204" pitchFamily="18" charset="0"/>
                              </a:rPr>
                              <m:t>−1</m:t>
                            </m:r>
                          </m:den>
                        </m:f>
                      </m:e>
                    </m:rad>
                    <m:r>
                      <a:rPr lang="zh-CN" altLang="en-US" i="1" smtClean="0">
                        <a:latin typeface="Cambria Math" panose="02040503050406030204" pitchFamily="18" charset="0"/>
                      </a:rPr>
                      <m:t>−0.03=0.800</m:t>
                    </m:r>
                    <m:r>
                      <a:rPr lang="en-US" altLang="zh-CN" b="0" i="1" smtClean="0">
                        <a:latin typeface="Cambria Math" panose="02040503050406030204" pitchFamily="18" charset="0"/>
                      </a:rPr>
                      <m:t>3</m:t>
                    </m:r>
                  </m:oMath>
                </a14:m>
                <a:r>
                  <a:rPr lang="zh-CN" altLang="en-US" dirty="0">
                    <a:solidFill>
                      <a:srgbClr val="836967"/>
                    </a:solidFill>
                  </a:rPr>
                  <a:t> </a:t>
                </a:r>
                <a14:m>
                  <m:oMath xmlns:m="http://schemas.openxmlformats.org/officeDocument/2006/math">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𝑘</m:t>
                        </m:r>
                      </m:e>
                      <m:sub>
                        <m:r>
                          <m:rPr>
                            <m:sty m:val="p"/>
                          </m:rPr>
                          <a:rPr lang="zh-CN" altLang="en-US" i="1">
                            <a:latin typeface="Cambria Math" panose="02040503050406030204" pitchFamily="18" charset="0"/>
                          </a:rPr>
                          <m:t>m</m:t>
                        </m:r>
                        <m:r>
                          <m:rPr>
                            <m:sty m:val="p"/>
                          </m:rPr>
                          <a:rPr lang="en-US" altLang="zh-CN" i="1" smtClean="0">
                            <a:latin typeface="Cambria Math" panose="02040503050406030204" pitchFamily="18" charset="0"/>
                          </a:rPr>
                          <m:t>in</m:t>
                        </m:r>
                      </m:sub>
                    </m:sSub>
                    <m:r>
                      <a:rPr lang="zh-CN" altLang="en-US" i="1">
                        <a:latin typeface="Cambria Math" panose="02040503050406030204" pitchFamily="18" charset="0"/>
                      </a:rPr>
                      <m:t>=1.03</m:t>
                    </m:r>
                    <m:rad>
                      <m:radPr>
                        <m:degHide m:val="on"/>
                        <m:ctrlPr>
                          <a:rPr lang="zh-CN" altLang="en-US" i="1">
                            <a:solidFill>
                              <a:srgbClr val="836967"/>
                            </a:solidFill>
                            <a:latin typeface="Cambria Math" panose="02040503050406030204" pitchFamily="18" charset="0"/>
                          </a:rPr>
                        </m:ctrlPr>
                      </m:radPr>
                      <m:deg/>
                      <m:e>
                        <m:f>
                          <m:fPr>
                            <m:ctrlPr>
                              <a:rPr lang="zh-CN" altLang="en-US" i="1">
                                <a:solidFill>
                                  <a:srgbClr val="836967"/>
                                </a:solidFill>
                                <a:latin typeface="Cambria Math" panose="02040503050406030204" pitchFamily="18" charset="0"/>
                              </a:rPr>
                            </m:ctrlPr>
                          </m:fPr>
                          <m:num>
                            <m:r>
                              <a:rPr lang="zh-CN" altLang="en-US" i="1">
                                <a:latin typeface="Cambria Math" panose="02040503050406030204" pitchFamily="18" charset="0"/>
                              </a:rPr>
                              <m:t>0.5</m:t>
                            </m:r>
                          </m:num>
                          <m:den>
                            <m:r>
                              <a:rPr lang="en-US" altLang="zh-CN" i="1">
                                <a:latin typeface="Cambria Math" panose="02040503050406030204" pitchFamily="18" charset="0"/>
                              </a:rPr>
                              <m:t>0.5</m:t>
                            </m:r>
                            <m:r>
                              <a:rPr lang="en-US" altLang="zh-CN" b="0" i="1" smtClean="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d>
                                  <m:dPr>
                                    <m:ctrlPr>
                                      <a:rPr lang="zh-CN" altLang="en-US" i="1">
                                        <a:solidFill>
                                          <a:srgbClr val="836967"/>
                                        </a:solidFill>
                                        <a:latin typeface="Cambria Math" panose="02040503050406030204" pitchFamily="18" charset="0"/>
                                      </a:rPr>
                                    </m:ctrlPr>
                                  </m:dPr>
                                  <m:e>
                                    <m:sSup>
                                      <m:sSupPr>
                                        <m:ctrlPr>
                                          <a:rPr lang="zh-CN" altLang="en-US" i="1">
                                            <a:solidFill>
                                              <a:srgbClr val="836967"/>
                                            </a:solidFill>
                                            <a:latin typeface="Cambria Math" panose="02040503050406030204" pitchFamily="18" charset="0"/>
                                          </a:rPr>
                                        </m:ctrlPr>
                                      </m:sSupPr>
                                      <m:e>
                                        <m:r>
                                          <a:rPr lang="zh-CN" altLang="en-US" i="1">
                                            <a:latin typeface="Cambria Math" panose="02040503050406030204" pitchFamily="18" charset="0"/>
                                          </a:rPr>
                                          <m:t>160</m:t>
                                        </m:r>
                                      </m:e>
                                      <m:sup>
                                        <m:r>
                                          <a:rPr lang="zh-CN" altLang="en-US" i="1">
                                            <a:latin typeface="Cambria Math" panose="02040503050406030204" pitchFamily="18" charset="0"/>
                                          </a:rPr>
                                          <m:t>2</m:t>
                                        </m:r>
                                      </m:sup>
                                    </m:sSup>
                                    <m:r>
                                      <a:rPr lang="en-US" altLang="zh-CN" i="1" smtClean="0">
                                        <a:latin typeface="Cambria Math" panose="02040503050406030204" pitchFamily="18" charset="0"/>
                                      </a:rPr>
                                      <m:t>×</m:t>
                                    </m:r>
                                    <m:r>
                                      <a:rPr lang="zh-CN" altLang="en-US" i="1">
                                        <a:latin typeface="Cambria Math" panose="02040503050406030204" pitchFamily="18" charset="0"/>
                                      </a:rPr>
                                      <m:t>0.6</m:t>
                                    </m:r>
                                  </m:e>
                                </m:d>
                              </m:num>
                              <m:den>
                                <m:sSup>
                                  <m:sSupPr>
                                    <m:ctrlPr>
                                      <a:rPr lang="zh-CN" altLang="en-US" i="1">
                                        <a:solidFill>
                                          <a:srgbClr val="836967"/>
                                        </a:solidFill>
                                        <a:latin typeface="Cambria Math" panose="02040503050406030204" pitchFamily="18" charset="0"/>
                                      </a:rPr>
                                    </m:ctrlPr>
                                  </m:sSupPr>
                                  <m:e>
                                    <m:r>
                                      <a:rPr lang="en-US" altLang="zh-CN" b="0" i="1" smtClean="0">
                                        <a:solidFill>
                                          <a:srgbClr val="836967"/>
                                        </a:solidFill>
                                        <a:latin typeface="Cambria Math" panose="02040503050406030204" pitchFamily="18" charset="0"/>
                                      </a:rPr>
                                      <m:t>25</m:t>
                                    </m:r>
                                  </m:e>
                                  <m:sup>
                                    <m:r>
                                      <a:rPr lang="zh-CN" altLang="en-US" i="1">
                                        <a:latin typeface="Cambria Math" panose="02040503050406030204" pitchFamily="18" charset="0"/>
                                      </a:rPr>
                                      <m:t>2</m:t>
                                    </m:r>
                                  </m:sup>
                                </m:sSup>
                                <m:r>
                                  <a:rPr lang="zh-CN" altLang="en-US" i="1">
                                    <a:latin typeface="Cambria Math" panose="02040503050406030204" pitchFamily="18" charset="0"/>
                                  </a:rPr>
                                  <m:t>×1</m:t>
                                </m:r>
                              </m:den>
                            </m:f>
                            <m:r>
                              <a:rPr lang="en-US" altLang="zh-CN" b="0" i="1" smtClean="0">
                                <a:latin typeface="Cambria Math" panose="02040503050406030204" pitchFamily="18" charset="0"/>
                              </a:rPr>
                              <m:t>−1</m:t>
                            </m:r>
                          </m:den>
                        </m:f>
                      </m:e>
                    </m:rad>
                    <m:r>
                      <a:rPr lang="zh-CN" altLang="en-US" i="1">
                        <a:latin typeface="Cambria Math" panose="02040503050406030204" pitchFamily="18" charset="0"/>
                      </a:rPr>
                      <m:t>−0.03=0.</m:t>
                    </m:r>
                    <m:r>
                      <a:rPr lang="en-US" altLang="zh-CN" b="0" i="1" smtClean="0">
                        <a:latin typeface="Cambria Math" panose="02040503050406030204" pitchFamily="18" charset="0"/>
                      </a:rPr>
                      <m:t>118</m:t>
                    </m:r>
                  </m:oMath>
                </a14:m>
                <a:r>
                  <a:rPr lang="zh-CN" altLang="en-US" dirty="0"/>
                  <a:t>；满足要求</a:t>
                </a:r>
                <a:endParaRPr lang="en-US" altLang="zh-CN" dirty="0"/>
              </a:p>
              <a:p>
                <a:pPr marL="342900" indent="-342900">
                  <a:buFont typeface="+mj-lt"/>
                  <a:buAutoNum type="arabicPeriod"/>
                </a:pPr>
                <a:r>
                  <a:rPr lang="zh-CN" altLang="en-US" dirty="0"/>
                  <a:t>验算可调范围</a:t>
                </a:r>
                <a14:m>
                  <m:oMath xmlns:m="http://schemas.openxmlformats.org/officeDocument/2006/math">
                    <m:sSub>
                      <m:sSubPr>
                        <m:ctrlPr>
                          <a:rPr lang="zh-CN" altLang="en-US" i="1" smtClean="0">
                            <a:solidFill>
                              <a:srgbClr val="836967"/>
                            </a:solidFill>
                            <a:latin typeface="Cambria Math" panose="02040503050406030204" pitchFamily="18" charset="0"/>
                          </a:rPr>
                        </m:ctrlPr>
                      </m:sSubPr>
                      <m:e>
                        <m:r>
                          <a:rPr lang="zh-CN" altLang="en-US" i="1" smtClean="0">
                            <a:latin typeface="Cambria Math" panose="02040503050406030204" pitchFamily="18" charset="0"/>
                          </a:rPr>
                          <m:t>𝑅</m:t>
                        </m:r>
                      </m:e>
                      <m:sub>
                        <m:r>
                          <m:rPr>
                            <m:sty m:val="p"/>
                          </m:rPr>
                          <a:rPr lang="en-US" altLang="zh-CN" i="1">
                            <a:latin typeface="Cambria Math" panose="02040503050406030204" pitchFamily="18" charset="0"/>
                          </a:rPr>
                          <m:t>true</m:t>
                        </m:r>
                      </m:sub>
                    </m:sSub>
                    <m:r>
                      <a:rPr lang="zh-CN" altLang="en-US" i="1" smtClean="0">
                        <a:latin typeface="Cambria Math" panose="02040503050406030204" pitchFamily="18" charset="0"/>
                      </a:rPr>
                      <m:t>=10</m:t>
                    </m:r>
                    <m:rad>
                      <m:radPr>
                        <m:degHide m:val="on"/>
                        <m:ctrlPr>
                          <a:rPr lang="zh-CN" altLang="en-US" i="1" smtClean="0">
                            <a:solidFill>
                              <a:srgbClr val="836967"/>
                            </a:solidFill>
                            <a:latin typeface="Cambria Math" panose="02040503050406030204" pitchFamily="18" charset="0"/>
                          </a:rPr>
                        </m:ctrlPr>
                      </m:radPr>
                      <m:deg/>
                      <m:e>
                        <m:r>
                          <a:rPr lang="zh-CN" altLang="en-US" i="1" smtClean="0">
                            <a:latin typeface="Cambria Math" panose="02040503050406030204" pitchFamily="18" charset="0"/>
                          </a:rPr>
                          <m:t>𝑠</m:t>
                        </m:r>
                      </m:e>
                    </m:rad>
                    <m:r>
                      <a:rPr lang="zh-CN" altLang="en-US" i="1" smtClean="0">
                        <a:latin typeface="Cambria Math" panose="02040503050406030204" pitchFamily="18" charset="0"/>
                      </a:rPr>
                      <m:t>=10</m:t>
                    </m:r>
                    <m:rad>
                      <m:radPr>
                        <m:degHide m:val="on"/>
                        <m:ctrlPr>
                          <a:rPr lang="zh-CN" altLang="en-US" i="1" smtClean="0">
                            <a:solidFill>
                              <a:srgbClr val="836967"/>
                            </a:solidFill>
                            <a:latin typeface="Cambria Math" panose="02040503050406030204" pitchFamily="18" charset="0"/>
                          </a:rPr>
                        </m:ctrlPr>
                      </m:radPr>
                      <m:deg/>
                      <m:e>
                        <m:r>
                          <a:rPr lang="zh-CN" altLang="en-US" i="1" smtClean="0">
                            <a:latin typeface="Cambria Math" panose="02040503050406030204" pitchFamily="18" charset="0"/>
                          </a:rPr>
                          <m:t>0.5</m:t>
                        </m:r>
                      </m:e>
                    </m:rad>
                    <m:r>
                      <a:rPr lang="zh-CN" altLang="en-US" i="1" smtClean="0">
                        <a:latin typeface="Cambria Math" panose="02040503050406030204" pitchFamily="18" charset="0"/>
                      </a:rPr>
                      <m:t>=7&gt;4</m:t>
                    </m:r>
                    <m:r>
                      <a:rPr lang="en-US" altLang="zh-CN" b="0" i="1" smtClean="0">
                        <a:latin typeface="Cambria Math" panose="02040503050406030204" pitchFamily="18" charset="0"/>
                      </a:rPr>
                      <m:t>.</m:t>
                    </m:r>
                    <m:r>
                      <a:rPr lang="zh-CN" altLang="en-US" i="1" smtClean="0">
                        <a:latin typeface="Cambria Math" panose="02040503050406030204" pitchFamily="18" charset="0"/>
                      </a:rPr>
                      <m:t>4</m:t>
                    </m:r>
                  </m:oMath>
                </a14:m>
                <a:endParaRPr lang="en-US" altLang="zh-CN" dirty="0"/>
              </a:p>
            </p:txBody>
          </p:sp>
        </mc:Choice>
        <mc:Fallback xmlns="">
          <p:sp>
            <p:nvSpPr>
              <p:cNvPr id="3" name="文本框 2">
                <a:extLst>
                  <a:ext uri="{FF2B5EF4-FFF2-40B4-BE49-F238E27FC236}">
                    <a16:creationId xmlns:a16="http://schemas.microsoft.com/office/drawing/2014/main" id="{1D670E9E-1F86-B630-5DF6-BB38C404E5FA}"/>
                  </a:ext>
                </a:extLst>
              </p:cNvPr>
              <p:cNvSpPr txBox="1">
                <a:spLocks noRot="1" noChangeAspect="1" noMove="1" noResize="1" noEditPoints="1" noAdjustHandles="1" noChangeArrowheads="1" noChangeShapeType="1" noTextEdit="1"/>
              </p:cNvSpPr>
              <p:nvPr/>
            </p:nvSpPr>
            <p:spPr>
              <a:xfrm>
                <a:off x="822325" y="1882588"/>
                <a:ext cx="10150475" cy="2272160"/>
              </a:xfrm>
              <a:prstGeom prst="rect">
                <a:avLst/>
              </a:prstGeom>
              <a:blipFill>
                <a:blip r:embed="rId3"/>
                <a:stretch>
                  <a:fillRect l="-661" b="-4021"/>
                </a:stretch>
              </a:blipFill>
            </p:spPr>
            <p:txBody>
              <a:bodyPr/>
              <a:lstStyle/>
              <a:p>
                <a:r>
                  <a:rPr lang="zh-CN" altLang="en-US">
                    <a:noFill/>
                  </a:rPr>
                  <a:t> </a:t>
                </a:r>
              </a:p>
            </p:txBody>
          </p:sp>
        </mc:Fallback>
      </mc:AlternateContent>
      <p:sp>
        <p:nvSpPr>
          <p:cNvPr id="7" name="文本占位符 6">
            <a:extLst>
              <a:ext uri="{FF2B5EF4-FFF2-40B4-BE49-F238E27FC236}">
                <a16:creationId xmlns:a16="http://schemas.microsoft.com/office/drawing/2014/main" id="{D6387530-CBC4-43AC-AC02-F5B9525A81A3}"/>
              </a:ext>
            </a:extLst>
          </p:cNvPr>
          <p:cNvSpPr>
            <a:spLocks noGrp="1"/>
          </p:cNvSpPr>
          <p:nvPr>
            <p:ph type="body" sz="quarter" idx="13"/>
          </p:nvPr>
        </p:nvSpPr>
        <p:spPr/>
        <p:txBody>
          <a:bodyPr/>
          <a:lstStyle/>
          <a:p>
            <a:endParaRPr lang="zh-CN" altLang="en-US"/>
          </a:p>
        </p:txBody>
      </p:sp>
      <p:pic>
        <p:nvPicPr>
          <p:cNvPr id="6" name="图片 5">
            <a:extLst>
              <a:ext uri="{FF2B5EF4-FFF2-40B4-BE49-F238E27FC236}">
                <a16:creationId xmlns:a16="http://schemas.microsoft.com/office/drawing/2014/main" id="{72C937D3-F6C1-43FF-8DDF-269050D60F11}"/>
              </a:ext>
            </a:extLst>
          </p:cNvPr>
          <p:cNvPicPr>
            <a:picLocks noChangeAspect="1"/>
          </p:cNvPicPr>
          <p:nvPr/>
        </p:nvPicPr>
        <p:blipFill>
          <a:blip r:embed="rId4"/>
          <a:stretch>
            <a:fillRect/>
          </a:stretch>
        </p:blipFill>
        <p:spPr>
          <a:xfrm>
            <a:off x="6663477" y="3648751"/>
            <a:ext cx="3904261" cy="2961246"/>
          </a:xfrm>
          <a:prstGeom prst="rect">
            <a:avLst/>
          </a:prstGeom>
        </p:spPr>
      </p:pic>
      <p:pic>
        <p:nvPicPr>
          <p:cNvPr id="9" name="图片 8">
            <a:extLst>
              <a:ext uri="{FF2B5EF4-FFF2-40B4-BE49-F238E27FC236}">
                <a16:creationId xmlns:a16="http://schemas.microsoft.com/office/drawing/2014/main" id="{41511D91-2153-4EB7-AF37-DB0A370A14BA}"/>
              </a:ext>
            </a:extLst>
          </p:cNvPr>
          <p:cNvPicPr>
            <a:picLocks noChangeAspect="1"/>
          </p:cNvPicPr>
          <p:nvPr/>
        </p:nvPicPr>
        <p:blipFill>
          <a:blip r:embed="rId5"/>
          <a:stretch>
            <a:fillRect/>
          </a:stretch>
        </p:blipFill>
        <p:spPr>
          <a:xfrm>
            <a:off x="1350009" y="4621348"/>
            <a:ext cx="4178515" cy="1016052"/>
          </a:xfrm>
          <a:prstGeom prst="rect">
            <a:avLst/>
          </a:prstGeom>
        </p:spPr>
      </p:pic>
    </p:spTree>
    <p:extLst>
      <p:ext uri="{BB962C8B-B14F-4D97-AF65-F5344CB8AC3E}">
        <p14:creationId xmlns:p14="http://schemas.microsoft.com/office/powerpoint/2010/main" val="1422264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4.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气动执行器的开关方式怎样选择？什么是执行机构的正作用，反作用？</a:t>
            </a:r>
            <a:endParaRPr lang="zh-CN" altLang="en-US" b="1"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16</a:t>
            </a:fld>
            <a:endParaRPr lang="en-US" dirty="0"/>
          </a:p>
        </p:txBody>
      </p:sp>
      <p:sp>
        <p:nvSpPr>
          <p:cNvPr id="3" name="文本框 2">
            <a:extLst>
              <a:ext uri="{FF2B5EF4-FFF2-40B4-BE49-F238E27FC236}">
                <a16:creationId xmlns:a16="http://schemas.microsoft.com/office/drawing/2014/main" id="{1D670E9E-1F86-B630-5DF6-BB38C404E5FA}"/>
              </a:ext>
            </a:extLst>
          </p:cNvPr>
          <p:cNvSpPr txBox="1"/>
          <p:nvPr/>
        </p:nvSpPr>
        <p:spPr>
          <a:xfrm>
            <a:off x="822325" y="1882588"/>
            <a:ext cx="10150475" cy="3139321"/>
          </a:xfrm>
          <a:prstGeom prst="rect">
            <a:avLst/>
          </a:prstGeom>
          <a:noFill/>
        </p:spPr>
        <p:txBody>
          <a:bodyPr wrap="square" rtlCol="0">
            <a:spAutoFit/>
          </a:bodyPr>
          <a:lstStyle/>
          <a:p>
            <a:pPr marL="342900" indent="-342900">
              <a:buFont typeface="Arial" panose="020B0604020202020204" pitchFamily="34" charset="0"/>
              <a:buChar char="•"/>
            </a:pPr>
            <a:r>
              <a:rPr lang="zh-CN" altLang="en-US" dirty="0"/>
              <a:t>气开、气关选择：</a:t>
            </a:r>
            <a:endParaRPr lang="en-US" altLang="zh-CN" dirty="0"/>
          </a:p>
          <a:p>
            <a:pPr marL="800100" lvl="1" indent="-342900">
              <a:buFont typeface="Arial" panose="020B0604020202020204" pitchFamily="34" charset="0"/>
              <a:buChar char="•"/>
            </a:pPr>
            <a:r>
              <a:rPr lang="zh-CN" altLang="en-US" dirty="0"/>
              <a:t>可通过改变阀的正装反装来实现，或者可通过改变执行机构的正反作用来实现。</a:t>
            </a:r>
            <a:endParaRPr lang="en-US" altLang="zh-CN" dirty="0"/>
          </a:p>
          <a:p>
            <a:pPr marL="800100" lvl="1" indent="-342900">
              <a:buFont typeface="Arial" panose="020B0604020202020204" pitchFamily="34" charset="0"/>
              <a:buChar char="•"/>
            </a:pPr>
            <a:r>
              <a:rPr lang="zh-CN" altLang="en-US" dirty="0"/>
              <a:t>从工艺生产的安全角度考虑：信号压力中断时，应保证设备和操作人员安全。如果阀门在信号压力中断时处于打开位置时危害性小，则选用气关式。（反之</a:t>
            </a:r>
            <a:r>
              <a:rPr lang="en-US" altLang="zh-CN" dirty="0"/>
              <a:t>…</a:t>
            </a:r>
            <a:r>
              <a:rPr lang="zh-CN" altLang="en-US" dirty="0"/>
              <a:t>）</a:t>
            </a:r>
            <a:endParaRPr lang="en-US" altLang="zh-CN" dirty="0"/>
          </a:p>
          <a:p>
            <a:pPr marL="800100" lvl="1" indent="-342900">
              <a:buFont typeface="Arial" panose="020B0604020202020204" pitchFamily="34" charset="0"/>
              <a:buChar char="•"/>
            </a:pPr>
            <a:r>
              <a:rPr lang="zh-CN" altLang="en-US" dirty="0"/>
              <a:t>从介质特性考虑</a:t>
            </a:r>
            <a:r>
              <a:rPr lang="en-US" altLang="zh-CN" dirty="0"/>
              <a:t>;</a:t>
            </a:r>
            <a:r>
              <a:rPr lang="zh-CN" altLang="en-US" dirty="0"/>
              <a:t>如果介质易结晶，选用气关式，以防堵塞。</a:t>
            </a:r>
            <a:endParaRPr lang="en-US" altLang="zh-CN" dirty="0"/>
          </a:p>
          <a:p>
            <a:pPr marL="800100" lvl="1" indent="-342900">
              <a:buFont typeface="Arial" panose="020B0604020202020204" pitchFamily="34" charset="0"/>
              <a:buChar char="•"/>
            </a:pPr>
            <a:r>
              <a:rPr lang="zh-CN" altLang="en-US" dirty="0"/>
              <a:t>从保证产品质量、经济损失最小的角度：事故发生时，尽量减少原料及动力消耗，但要保证产品质量。</a:t>
            </a:r>
            <a:endParaRPr lang="en-US" altLang="zh-CN" dirty="0"/>
          </a:p>
          <a:p>
            <a:pPr marL="342900" indent="-342900">
              <a:buFont typeface="Arial" panose="020B0604020202020204" pitchFamily="34" charset="0"/>
              <a:buChar char="•"/>
            </a:pPr>
            <a:r>
              <a:rPr lang="zh-CN" altLang="en-US" dirty="0"/>
              <a:t>正作用：当输入信号增大时，执行器的开度增大，即流过执行器的流量增大；（反之</a:t>
            </a:r>
            <a:r>
              <a:rPr lang="en-US" altLang="zh-CN" dirty="0"/>
              <a:t>…</a:t>
            </a:r>
            <a:r>
              <a:rPr lang="zh-CN" altLang="en-US" dirty="0"/>
              <a:t>）</a:t>
            </a:r>
            <a:endParaRPr lang="en-US" altLang="zh-CN" dirty="0"/>
          </a:p>
          <a:p>
            <a:pPr marL="800100" lvl="1" indent="-342900">
              <a:buFont typeface="Arial" panose="020B0604020202020204" pitchFamily="34" charset="0"/>
              <a:buChar char="•"/>
            </a:pPr>
            <a:r>
              <a:rPr lang="zh-CN" altLang="en-US" dirty="0"/>
              <a:t>正作用气动调节阀通常称为气开阀</a:t>
            </a:r>
            <a:endParaRPr lang="en-US" altLang="zh-CN" dirty="0"/>
          </a:p>
          <a:p>
            <a:pPr marL="800100" lvl="1" indent="-342900">
              <a:buFont typeface="Arial" panose="020B0604020202020204" pitchFamily="34" charset="0"/>
              <a:buChar char="•"/>
            </a:pPr>
            <a:r>
              <a:rPr lang="zh-CN" altLang="en-US" dirty="0"/>
              <a:t>反作用气动调节阀通常称为气关阀</a:t>
            </a:r>
            <a:endParaRPr lang="en-US" altLang="zh-CN" dirty="0"/>
          </a:p>
          <a:p>
            <a:pPr marL="800100" lvl="1" indent="-342900">
              <a:buFont typeface="Arial" panose="020B0604020202020204" pitchFamily="34" charset="0"/>
              <a:buChar char="•"/>
            </a:pPr>
            <a:r>
              <a:rPr lang="zh-CN" altLang="en-US" dirty="0"/>
              <a:t>反作用</a:t>
            </a:r>
            <a:r>
              <a:rPr lang="en-US" altLang="zh-CN" dirty="0"/>
              <a:t>:</a:t>
            </a:r>
            <a:r>
              <a:rPr lang="zh-CN" altLang="en-US" dirty="0"/>
              <a:t>当输入信号增大时，流过执行器的流量减小</a:t>
            </a:r>
            <a:endParaRPr lang="en-US" altLang="zh-CN" dirty="0"/>
          </a:p>
        </p:txBody>
      </p:sp>
    </p:spTree>
    <p:extLst>
      <p:ext uri="{BB962C8B-B14F-4D97-AF65-F5344CB8AC3E}">
        <p14:creationId xmlns:p14="http://schemas.microsoft.com/office/powerpoint/2010/main" val="3329712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5.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简答调节阀汽蚀空化的对策是什么？</a:t>
            </a:r>
            <a:endParaRPr lang="zh-CN" altLang="en-US" b="1"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17</a:t>
            </a:fld>
            <a:endParaRPr lang="en-US" dirty="0"/>
          </a:p>
        </p:txBody>
      </p:sp>
      <p:sp>
        <p:nvSpPr>
          <p:cNvPr id="3" name="文本框 2">
            <a:extLst>
              <a:ext uri="{FF2B5EF4-FFF2-40B4-BE49-F238E27FC236}">
                <a16:creationId xmlns:a16="http://schemas.microsoft.com/office/drawing/2014/main" id="{1D670E9E-1F86-B630-5DF6-BB38C404E5FA}"/>
              </a:ext>
            </a:extLst>
          </p:cNvPr>
          <p:cNvSpPr txBox="1"/>
          <p:nvPr/>
        </p:nvSpPr>
        <p:spPr>
          <a:xfrm>
            <a:off x="822325" y="1882588"/>
            <a:ext cx="10150475" cy="4247317"/>
          </a:xfrm>
          <a:prstGeom prst="rect">
            <a:avLst/>
          </a:prstGeom>
          <a:noFill/>
        </p:spPr>
        <p:txBody>
          <a:bodyPr wrap="square" rtlCol="0">
            <a:spAutoFit/>
          </a:bodyPr>
          <a:lstStyle/>
          <a:p>
            <a:pPr marL="342900" indent="-342900">
              <a:buFont typeface="Arial" panose="020B0604020202020204" pitchFamily="34" charset="0"/>
              <a:buChar char="•"/>
            </a:pPr>
            <a:r>
              <a:rPr lang="zh-CN" altLang="en-US" dirty="0"/>
              <a:t>从压差上考虑</a:t>
            </a:r>
            <a:r>
              <a:rPr lang="en-US" altLang="zh-CN" dirty="0"/>
              <a:t>:</a:t>
            </a:r>
            <a:r>
              <a:rPr lang="zh-CN" altLang="en-US" dirty="0"/>
              <a:t>避免空化的根本办法是不让阀体的部件的使用压差大于最大允许压差</a:t>
            </a:r>
            <a:endParaRPr lang="en-US" altLang="zh-CN" dirty="0"/>
          </a:p>
          <a:p>
            <a:pPr marL="342900" indent="-342900">
              <a:buFont typeface="Arial" panose="020B0604020202020204" pitchFamily="34" charset="0"/>
              <a:buChar char="•"/>
            </a:pPr>
            <a:r>
              <a:rPr lang="zh-CN" altLang="en-US" dirty="0"/>
              <a:t>从材料上考虑一般情况下，材料越硬，抗蚀能力强，但是至今没有找到能长时间抵抗严重汽蚀作用而不损害的材料。因此，在有汽蚀作用的情况下，应该考虑到阀芯、阀座易于更换。目前如电力行业常选用铬钼合金钢阀门，</a:t>
            </a:r>
            <a:r>
              <a:rPr lang="en-US" altLang="zh-CN" dirty="0"/>
              <a:t>WC9</a:t>
            </a:r>
            <a:r>
              <a:rPr lang="zh-CN" altLang="en-US" dirty="0"/>
              <a:t>是常用抗腐蚀的材科之一</a:t>
            </a:r>
            <a:endParaRPr lang="en-US" altLang="zh-CN" dirty="0"/>
          </a:p>
          <a:p>
            <a:pPr marL="342900" indent="-342900">
              <a:buFont typeface="Arial" panose="020B0604020202020204" pitchFamily="34" charset="0"/>
              <a:buChar char="•"/>
            </a:pPr>
            <a:r>
              <a:rPr lang="zh-CN" altLang="en-US" dirty="0"/>
              <a:t>从结构上考虑</a:t>
            </a:r>
            <a:r>
              <a:rPr lang="en-US" altLang="zh-CN" dirty="0"/>
              <a:t>:</a:t>
            </a:r>
            <a:r>
              <a:rPr lang="zh-CN" altLang="en-US" dirty="0"/>
              <a:t>可设计特殊结构的阀芯、阀座以避免汽蚀作用的破坏。其基本原理是使高速流体通过阀芯、阀座时、每一点都高于该温度下的饱和蒸汽压．或者使液体本身相互冲撞</a:t>
            </a:r>
            <a:r>
              <a:rPr lang="en-US" altLang="zh-CN" dirty="0"/>
              <a:t>,</a:t>
            </a:r>
            <a:r>
              <a:rPr lang="zh-CN" altLang="en-US" dirty="0"/>
              <a:t>在通道内导致高速紊流，使阀体部件中液体的动能由于摩擦而变为热能，因此减少气泡的形成区。</a:t>
            </a:r>
            <a:endParaRPr lang="en-US" altLang="zh-CN" dirty="0"/>
          </a:p>
          <a:p>
            <a:pPr marL="342900" indent="-342900">
              <a:buFont typeface="Arial" panose="020B0604020202020204" pitchFamily="34" charset="0"/>
              <a:buChar char="•"/>
            </a:pPr>
            <a:r>
              <a:rPr lang="zh-CN" altLang="en-US" dirty="0"/>
              <a:t>多级减压</a:t>
            </a:r>
            <a:r>
              <a:rPr lang="en-US" altLang="zh-CN" dirty="0"/>
              <a:t>:</a:t>
            </a:r>
            <a:r>
              <a:rPr lang="zh-CN" altLang="en-US" dirty="0"/>
              <a:t>多级减压中的每一级都消耗一部分能景，使得下一级的入口压力相对较低，减小了下一级的压差，压力恢复低，避免了汽蚀的产生。一个成功的设计可以使阀门在承受较大压差的同时还能保持缩流后的压力高于液体的饱和压力，防止液体汽蚀的产生，因此对于相同的压力降，一级节流比多级节流更容易产生汽蚀。</a:t>
            </a:r>
            <a:endParaRPr lang="en-US" altLang="zh-CN" dirty="0"/>
          </a:p>
          <a:p>
            <a:pPr marL="342900" indent="-342900">
              <a:buFont typeface="Arial" panose="020B0604020202020204" pitchFamily="34" charset="0"/>
              <a:buChar char="•"/>
            </a:pPr>
            <a:r>
              <a:rPr lang="zh-CN" altLang="en-US" dirty="0"/>
              <a:t>多孔节流</a:t>
            </a:r>
            <a:r>
              <a:rPr lang="en-US" altLang="zh-CN" dirty="0"/>
              <a:t>:</a:t>
            </a:r>
            <a:r>
              <a:rPr lang="zh-CN" altLang="en-US" dirty="0"/>
              <a:t>多孔节流是一种综合设计方案。采用特殊的阀座和阀瓣结构形式，使高速液体通过阀座和阀瓣每一点的压力都高于该温度下的饱和蒸汽压，并采用汇聚喷射的方法</a:t>
            </a:r>
            <a:r>
              <a:rPr lang="en-US" altLang="zh-CN" dirty="0"/>
              <a:t>,</a:t>
            </a:r>
            <a:r>
              <a:rPr lang="zh-CN" altLang="en-US" dirty="0"/>
              <a:t>使调节阀中液体的动能由于相互摩擦而转换成热能，从而减少气泡的形成。另一方面，使气泡的破裂发生在套简中心，避免了对阀座和阀瓣表面的直接破坏。</a:t>
            </a:r>
            <a:endParaRPr lang="en-US" altLang="zh-CN" dirty="0"/>
          </a:p>
        </p:txBody>
      </p:sp>
    </p:spTree>
    <p:extLst>
      <p:ext uri="{BB962C8B-B14F-4D97-AF65-F5344CB8AC3E}">
        <p14:creationId xmlns:p14="http://schemas.microsoft.com/office/powerpoint/2010/main" val="2452085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第三次作业</a:t>
            </a:r>
          </a:p>
        </p:txBody>
      </p:sp>
      <p:sp>
        <p:nvSpPr>
          <p:cNvPr id="5" name="灯片编号占位符 4"/>
          <p:cNvSpPr>
            <a:spLocks noGrp="1"/>
          </p:cNvSpPr>
          <p:nvPr>
            <p:ph type="sldNum" sz="quarter" idx="12"/>
          </p:nvPr>
        </p:nvSpPr>
        <p:spPr/>
        <p:txBody>
          <a:bodyPr/>
          <a:lstStyle/>
          <a:p>
            <a:fld id="{4FAB73BC-B049-4115-A692-8D63A059BFB8}" type="slidenum">
              <a:rPr lang="en-US" smtClean="0"/>
              <a:pPr/>
              <a:t>18</a:t>
            </a:fld>
            <a:endParaRPr lang="en-US" dirty="0"/>
          </a:p>
        </p:txBody>
      </p:sp>
    </p:spTree>
    <p:extLst>
      <p:ext uri="{BB962C8B-B14F-4D97-AF65-F5344CB8AC3E}">
        <p14:creationId xmlns:p14="http://schemas.microsoft.com/office/powerpoint/2010/main" val="3775693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阀门定位器的作用是什么？</a:t>
            </a:r>
            <a:endParaRPr lang="zh-CN" altLang="en-US" b="1" dirty="0"/>
          </a:p>
        </p:txBody>
      </p:sp>
      <p:sp>
        <p:nvSpPr>
          <p:cNvPr id="6" name="文本占位符 5"/>
          <p:cNvSpPr>
            <a:spLocks noGrp="1"/>
          </p:cNvSpPr>
          <p:nvPr>
            <p:ph type="body" sz="quarter" idx="13"/>
          </p:nvPr>
        </p:nvSpPr>
        <p:spPr/>
        <p:txBody>
          <a:bodyPr/>
          <a:lstStyle/>
          <a:p>
            <a:r>
              <a:rPr lang="en-US" altLang="zh-CN" dirty="0"/>
              <a:t>2025-5-28</a:t>
            </a:r>
            <a:r>
              <a:rPr lang="zh-CN" altLang="en-US" dirty="0"/>
              <a:t>作业</a:t>
            </a:r>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19</a:t>
            </a:fld>
            <a:endParaRPr lang="en-US" dirty="0"/>
          </a:p>
        </p:txBody>
      </p:sp>
      <p:sp>
        <p:nvSpPr>
          <p:cNvPr id="3" name="文本框 2">
            <a:extLst>
              <a:ext uri="{FF2B5EF4-FFF2-40B4-BE49-F238E27FC236}">
                <a16:creationId xmlns:a16="http://schemas.microsoft.com/office/drawing/2014/main" id="{1D670E9E-1F86-B630-5DF6-BB38C404E5FA}"/>
              </a:ext>
            </a:extLst>
          </p:cNvPr>
          <p:cNvSpPr txBox="1"/>
          <p:nvPr/>
        </p:nvSpPr>
        <p:spPr>
          <a:xfrm>
            <a:off x="822325" y="1882588"/>
            <a:ext cx="10150475" cy="4247317"/>
          </a:xfrm>
          <a:prstGeom prst="rect">
            <a:avLst/>
          </a:prstGeom>
          <a:noFill/>
        </p:spPr>
        <p:txBody>
          <a:bodyPr wrap="square" rtlCol="0">
            <a:spAutoFit/>
          </a:bodyPr>
          <a:lstStyle/>
          <a:p>
            <a:pPr marL="342900" indent="-342900">
              <a:buFont typeface="+mj-lt"/>
              <a:buAutoNum type="arabicPeriod"/>
            </a:pPr>
            <a:r>
              <a:rPr lang="zh-CN" altLang="en-US" dirty="0"/>
              <a:t>高压介质</a:t>
            </a:r>
            <a:endParaRPr lang="en-US" altLang="zh-CN" dirty="0"/>
          </a:p>
          <a:p>
            <a:pPr marL="342900" indent="-342900">
              <a:buFont typeface="+mj-lt"/>
              <a:buAutoNum type="arabicPeriod"/>
            </a:pPr>
            <a:r>
              <a:rPr lang="zh-CN" altLang="en-US" dirty="0"/>
              <a:t>高压差</a:t>
            </a:r>
            <a:endParaRPr lang="en-US" altLang="zh-CN" dirty="0"/>
          </a:p>
          <a:p>
            <a:pPr marL="342900" indent="-342900">
              <a:buFont typeface="+mj-lt"/>
              <a:buAutoNum type="arabicPeriod"/>
            </a:pPr>
            <a:r>
              <a:rPr lang="zh-CN" altLang="en-US" dirty="0"/>
              <a:t>高温</a:t>
            </a:r>
            <a:r>
              <a:rPr lang="en-US" altLang="zh-CN" dirty="0"/>
              <a:t>/</a:t>
            </a:r>
            <a:r>
              <a:rPr lang="zh-CN" altLang="en-US" dirty="0"/>
              <a:t>低温</a:t>
            </a:r>
            <a:endParaRPr lang="en-US" altLang="zh-CN" dirty="0"/>
          </a:p>
          <a:p>
            <a:pPr marL="342900" indent="-342900">
              <a:buFont typeface="+mj-lt"/>
              <a:buAutoNum type="arabicPeriod"/>
            </a:pPr>
            <a:r>
              <a:rPr lang="zh-CN" altLang="en-US" dirty="0"/>
              <a:t>用于介质中含有固体悬浮物</a:t>
            </a:r>
            <a:endParaRPr lang="en-US" altLang="zh-CN" dirty="0"/>
          </a:p>
          <a:p>
            <a:pPr marL="342900" indent="-342900">
              <a:buFont typeface="+mj-lt"/>
              <a:buAutoNum type="arabicPeriod"/>
            </a:pPr>
            <a:r>
              <a:rPr lang="zh-CN" altLang="en-US" dirty="0"/>
              <a:t>增加执行机构的动作速度</a:t>
            </a:r>
            <a:endParaRPr lang="en-US" altLang="zh-CN" dirty="0"/>
          </a:p>
          <a:p>
            <a:pPr marL="342900" indent="-342900">
              <a:buFont typeface="+mj-lt"/>
              <a:buAutoNum type="arabicPeriod"/>
            </a:pPr>
            <a:r>
              <a:rPr lang="zh-CN" altLang="en-US" dirty="0"/>
              <a:t>调节阀口径较大的场合</a:t>
            </a:r>
            <a:endParaRPr lang="en-US" altLang="zh-CN" dirty="0"/>
          </a:p>
          <a:p>
            <a:pPr marL="342900" indent="-342900">
              <a:buFont typeface="+mj-lt"/>
              <a:buAutoNum type="arabicPeriod"/>
            </a:pPr>
            <a:r>
              <a:rPr lang="zh-CN" altLang="en-US" dirty="0"/>
              <a:t>活塞式执行机构的比例动作</a:t>
            </a:r>
            <a:endParaRPr lang="en-US" altLang="zh-CN" dirty="0"/>
          </a:p>
          <a:p>
            <a:pPr marL="342900" indent="-342900">
              <a:buFont typeface="+mj-lt"/>
              <a:buAutoNum type="arabicPeriod"/>
            </a:pPr>
            <a:r>
              <a:rPr lang="zh-CN" altLang="en-US" dirty="0"/>
              <a:t>调节阀的动作反向</a:t>
            </a:r>
            <a:endParaRPr lang="en-US" altLang="zh-CN" dirty="0"/>
          </a:p>
          <a:p>
            <a:pPr marL="342900" indent="-342900">
              <a:buFont typeface="+mj-lt"/>
              <a:buAutoNum type="arabicPeriod"/>
            </a:pPr>
            <a:r>
              <a:rPr lang="zh-CN" altLang="en-US" dirty="0"/>
              <a:t>改善调节阀流量特性</a:t>
            </a:r>
            <a:endParaRPr lang="en-US" altLang="zh-CN" dirty="0"/>
          </a:p>
          <a:p>
            <a:pPr marL="342900" indent="-342900">
              <a:buFont typeface="+mj-lt"/>
              <a:buAutoNum type="arabicPeriod"/>
            </a:pPr>
            <a:r>
              <a:rPr lang="zh-CN" altLang="en-US" dirty="0"/>
              <a:t>改善调节阀的静态特性</a:t>
            </a:r>
            <a:endParaRPr lang="en-US" altLang="zh-CN" dirty="0"/>
          </a:p>
          <a:p>
            <a:pPr marL="342900" indent="-342900">
              <a:buFont typeface="+mj-lt"/>
              <a:buAutoNum type="arabicPeriod"/>
            </a:pPr>
            <a:r>
              <a:rPr lang="zh-CN" altLang="en-US" dirty="0"/>
              <a:t>改善调节阀的动态特性</a:t>
            </a:r>
            <a:endParaRPr lang="en-US" altLang="zh-CN" dirty="0"/>
          </a:p>
          <a:p>
            <a:pPr marL="342900" indent="-342900">
              <a:buFont typeface="+mj-lt"/>
              <a:buAutoNum type="arabicPeriod"/>
            </a:pPr>
            <a:r>
              <a:rPr lang="zh-CN" altLang="en-US" dirty="0"/>
              <a:t>操作非标准信号的执行机构</a:t>
            </a:r>
            <a:endParaRPr lang="en-US" altLang="zh-CN" dirty="0"/>
          </a:p>
          <a:p>
            <a:pPr marL="342900" indent="-342900">
              <a:buFont typeface="+mj-lt"/>
              <a:buAutoNum type="arabicPeriod"/>
            </a:pPr>
            <a:r>
              <a:rPr lang="zh-CN" altLang="en-US" dirty="0"/>
              <a:t>改变调节阀对信号的响应范围</a:t>
            </a:r>
            <a:endParaRPr lang="en-US" altLang="zh-CN" dirty="0"/>
          </a:p>
          <a:p>
            <a:pPr marL="342900" indent="-342900">
              <a:buFont typeface="+mj-lt"/>
              <a:buAutoNum type="arabicPeriod"/>
            </a:pPr>
            <a:r>
              <a:rPr lang="zh-CN" altLang="en-US" dirty="0"/>
              <a:t>启动、电动仪表负荷调节系统</a:t>
            </a:r>
            <a:endParaRPr lang="en-US" altLang="zh-CN" dirty="0"/>
          </a:p>
          <a:p>
            <a:pPr marL="342900" indent="-342900">
              <a:buFont typeface="+mj-lt"/>
              <a:buAutoNum type="arabicPeriod"/>
            </a:pPr>
            <a:r>
              <a:rPr lang="zh-CN" altLang="en-US" dirty="0"/>
              <a:t>智能控制</a:t>
            </a:r>
            <a:endParaRPr lang="en-US" altLang="zh-CN" dirty="0"/>
          </a:p>
        </p:txBody>
      </p:sp>
    </p:spTree>
    <p:extLst>
      <p:ext uri="{BB962C8B-B14F-4D97-AF65-F5344CB8AC3E}">
        <p14:creationId xmlns:p14="http://schemas.microsoft.com/office/powerpoint/2010/main" val="3009670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气动薄膜式执行机构其行程规格有几种？有效面积有几种？</a:t>
            </a:r>
            <a:endParaRPr lang="zh-CN" altLang="en-US" b="1" dirty="0"/>
          </a:p>
        </p:txBody>
      </p:sp>
      <p:sp>
        <p:nvSpPr>
          <p:cNvPr id="6" name="文本占位符 5"/>
          <p:cNvSpPr>
            <a:spLocks noGrp="1"/>
          </p:cNvSpPr>
          <p:nvPr>
            <p:ph type="body" sz="quarter" idx="13"/>
          </p:nvPr>
        </p:nvSpPr>
        <p:spPr/>
        <p:txBody>
          <a:bodyPr/>
          <a:lstStyle/>
          <a:p>
            <a:r>
              <a:rPr lang="en-US" altLang="zh-CN" dirty="0"/>
              <a:t>2025-5-28</a:t>
            </a:r>
            <a:r>
              <a:rPr lang="zh-CN" altLang="en-US" dirty="0"/>
              <a:t>作业</a:t>
            </a:r>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20</a:t>
            </a:fld>
            <a:endParaRPr lang="en-US" dirty="0"/>
          </a:p>
        </p:txBody>
      </p:sp>
      <p:pic>
        <p:nvPicPr>
          <p:cNvPr id="9" name="图片 8">
            <a:extLst>
              <a:ext uri="{FF2B5EF4-FFF2-40B4-BE49-F238E27FC236}">
                <a16:creationId xmlns:a16="http://schemas.microsoft.com/office/drawing/2014/main" id="{D7A2C08E-95CD-83B6-41BB-D2EB658947CA}"/>
              </a:ext>
            </a:extLst>
          </p:cNvPr>
          <p:cNvPicPr>
            <a:picLocks noChangeAspect="1"/>
          </p:cNvPicPr>
          <p:nvPr/>
        </p:nvPicPr>
        <p:blipFill>
          <a:blip r:embed="rId3"/>
          <a:stretch>
            <a:fillRect/>
          </a:stretch>
        </p:blipFill>
        <p:spPr>
          <a:xfrm>
            <a:off x="822325" y="1850674"/>
            <a:ext cx="6982799" cy="2876951"/>
          </a:xfrm>
          <a:prstGeom prst="rect">
            <a:avLst/>
          </a:prstGeom>
        </p:spPr>
      </p:pic>
    </p:spTree>
    <p:extLst>
      <p:ext uri="{BB962C8B-B14F-4D97-AF65-F5344CB8AC3E}">
        <p14:creationId xmlns:p14="http://schemas.microsoft.com/office/powerpoint/2010/main" val="2591052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3"/>
          </p:nvPr>
        </p:nvSpPr>
        <p:spPr/>
        <p:txBody>
          <a:bodyPr/>
          <a:lstStyle/>
          <a:p>
            <a:r>
              <a:rPr lang="en-US" altLang="zh-CN" dirty="0"/>
              <a:t>2025-5-28</a:t>
            </a:r>
            <a:r>
              <a:rPr lang="zh-CN" altLang="en-US" dirty="0"/>
              <a:t>作业</a:t>
            </a:r>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21</a:t>
            </a:fld>
            <a:endParaRPr lang="en-US" dirty="0"/>
          </a:p>
        </p:txBody>
      </p:sp>
      <p:sp>
        <p:nvSpPr>
          <p:cNvPr id="8" name="文本框 7">
            <a:extLst>
              <a:ext uri="{FF2B5EF4-FFF2-40B4-BE49-F238E27FC236}">
                <a16:creationId xmlns:a16="http://schemas.microsoft.com/office/drawing/2014/main" id="{1B10994E-4D30-E356-8894-24E799ABA4F0}"/>
              </a:ext>
            </a:extLst>
          </p:cNvPr>
          <p:cNvSpPr txBox="1"/>
          <p:nvPr/>
        </p:nvSpPr>
        <p:spPr>
          <a:xfrm>
            <a:off x="914400" y="907962"/>
            <a:ext cx="9821732" cy="4524315"/>
          </a:xfrm>
          <a:prstGeom prst="rect">
            <a:avLst/>
          </a:prstGeom>
          <a:noFill/>
        </p:spPr>
        <p:txBody>
          <a:bodyPr wrap="square" rtlCol="0">
            <a:spAutoFit/>
          </a:bodyPr>
          <a:lstStyle/>
          <a:p>
            <a:pPr marL="342900" lvl="0" indent="-342900" algn="just">
              <a:buFont typeface="+mj-lt"/>
              <a:buAutoNum type="arabicPeriod"/>
              <a:tabLst>
                <a:tab pos="228600" algn="l"/>
              </a:tabLst>
            </a:pPr>
            <a:r>
              <a:rPr lang="zh-CN" altLang="zh-CN" sz="1800" kern="100" dirty="0">
                <a:effectLst/>
                <a:latin typeface="Times New Roman" panose="02020603050405020304" pitchFamily="18" charset="0"/>
                <a:ea typeface="宋体" panose="02010600030101010101" pitchFamily="2" charset="-122"/>
              </a:rPr>
              <a:t>下述说法不正确的是</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a:t>
            </a:r>
          </a:p>
          <a:p>
            <a:pPr algn="just"/>
            <a:r>
              <a:rPr lang="en-US" altLang="zh-CN" sz="1800" kern="100" dirty="0">
                <a:effectLst/>
                <a:latin typeface="宋体" panose="02010600030101010101" pitchFamily="2" charset="-122"/>
                <a:ea typeface="宋体" panose="02010600030101010101" pitchFamily="2" charset="-122"/>
              </a:rPr>
              <a:t>  A</a:t>
            </a:r>
            <a:r>
              <a:rPr lang="zh-CN" altLang="zh-CN" sz="1800" kern="100" dirty="0">
                <a:effectLst/>
                <a:latin typeface="Times New Roman" panose="02020603050405020304" pitchFamily="18" charset="0"/>
                <a:ea typeface="宋体" panose="02010600030101010101" pitchFamily="2" charset="-122"/>
              </a:rPr>
              <a:t>、阀门定位器能减少调节信号的传递滞后</a:t>
            </a:r>
          </a:p>
          <a:p>
            <a:pPr algn="just"/>
            <a:r>
              <a:rPr lang="en-US" altLang="zh-CN" sz="1800" kern="100" dirty="0">
                <a:effectLst/>
                <a:latin typeface="宋体" panose="02010600030101010101" pitchFamily="2" charset="-122"/>
                <a:ea typeface="宋体" panose="02010600030101010101" pitchFamily="2" charset="-122"/>
              </a:rPr>
              <a:t>  B</a:t>
            </a:r>
            <a:r>
              <a:rPr lang="zh-CN" altLang="zh-CN" sz="1800" kern="100" dirty="0">
                <a:effectLst/>
                <a:latin typeface="Times New Roman" panose="02020603050405020304" pitchFamily="18" charset="0"/>
                <a:ea typeface="宋体" panose="02010600030101010101" pitchFamily="2" charset="-122"/>
              </a:rPr>
              <a:t>、阀门定位器能提高阀门位置的线性度</a:t>
            </a:r>
          </a:p>
          <a:p>
            <a:pPr algn="just"/>
            <a:r>
              <a:rPr lang="en-US" altLang="zh-CN" sz="1800" kern="100" dirty="0">
                <a:effectLst/>
                <a:latin typeface="宋体" panose="02010600030101010101" pitchFamily="2" charset="-122"/>
                <a:ea typeface="宋体" panose="02010600030101010101" pitchFamily="2" charset="-122"/>
              </a:rPr>
              <a:t>  C</a:t>
            </a:r>
            <a:r>
              <a:rPr lang="zh-CN" altLang="zh-CN" sz="1800" kern="100" dirty="0">
                <a:effectLst/>
                <a:latin typeface="Times New Roman" panose="02020603050405020304" pitchFamily="18" charset="0"/>
                <a:ea typeface="宋体" panose="02010600030101010101" pitchFamily="2" charset="-122"/>
              </a:rPr>
              <a:t>、阀门定位器能克服阀杆的摩擦力和消除不平衡力的影响</a:t>
            </a:r>
          </a:p>
          <a:p>
            <a:pPr algn="just"/>
            <a:r>
              <a:rPr lang="en-US" altLang="zh-CN" sz="1800" kern="100" dirty="0">
                <a:effectLst/>
                <a:latin typeface="宋体" panose="02010600030101010101" pitchFamily="2" charset="-122"/>
                <a:ea typeface="宋体" panose="02010600030101010101" pitchFamily="2" charset="-122"/>
              </a:rPr>
              <a:t>  D</a:t>
            </a:r>
            <a:r>
              <a:rPr lang="zh-CN" altLang="zh-CN" sz="1800" kern="100" dirty="0">
                <a:effectLst/>
                <a:latin typeface="Times New Roman" panose="02020603050405020304" pitchFamily="18" charset="0"/>
                <a:ea typeface="宋体" panose="02010600030101010101" pitchFamily="2" charset="-122"/>
              </a:rPr>
              <a:t>、阀门定位器能实现调节阀气开气关的转换</a:t>
            </a:r>
          </a:p>
          <a:p>
            <a:pPr algn="just"/>
            <a:r>
              <a:rPr lang="en-US" altLang="zh-CN" sz="1800" kern="100" dirty="0">
                <a:effectLst/>
                <a:latin typeface="宋体" panose="02010600030101010101" pitchFamily="2" charset="-122"/>
                <a:ea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rPr>
              <a:t>、下述说法不正确的是</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a:t>
            </a:r>
          </a:p>
          <a:p>
            <a:pPr algn="just"/>
            <a:r>
              <a:rPr lang="en-US" altLang="zh-CN" sz="1800" kern="100" dirty="0">
                <a:effectLst/>
                <a:latin typeface="宋体" panose="02010600030101010101" pitchFamily="2" charset="-122"/>
                <a:ea typeface="宋体" panose="02010600030101010101" pitchFamily="2" charset="-122"/>
              </a:rPr>
              <a:t>  A</a:t>
            </a:r>
            <a:r>
              <a:rPr lang="zh-CN" altLang="zh-CN" sz="1800" kern="100" dirty="0">
                <a:effectLst/>
                <a:latin typeface="Times New Roman" panose="02020603050405020304" pitchFamily="18" charset="0"/>
                <a:ea typeface="宋体" panose="02010600030101010101" pitchFamily="2" charset="-122"/>
              </a:rPr>
              <a:t>、调节阀的流量特性可以通过改变反馈凸轮的几何形状来改变</a:t>
            </a:r>
          </a:p>
          <a:p>
            <a:pPr algn="just"/>
            <a:r>
              <a:rPr lang="en-US" altLang="zh-CN" sz="1800" kern="100" dirty="0">
                <a:effectLst/>
                <a:latin typeface="宋体" panose="02010600030101010101" pitchFamily="2" charset="-122"/>
                <a:ea typeface="宋体" panose="02010600030101010101" pitchFamily="2" charset="-122"/>
              </a:rPr>
              <a:t>  B</a:t>
            </a:r>
            <a:r>
              <a:rPr lang="zh-CN" altLang="zh-CN" sz="1800" kern="100" dirty="0">
                <a:effectLst/>
                <a:latin typeface="Times New Roman" panose="02020603050405020304" pitchFamily="18" charset="0"/>
                <a:ea typeface="宋体" panose="02010600030101010101" pitchFamily="2" charset="-122"/>
              </a:rPr>
              <a:t>、阀门定位器适用于分程控制的场合</a:t>
            </a:r>
          </a:p>
          <a:p>
            <a:pPr algn="just"/>
            <a:r>
              <a:rPr lang="en-US" altLang="zh-CN" sz="1800" kern="100" dirty="0">
                <a:effectLst/>
                <a:latin typeface="宋体" panose="02010600030101010101" pitchFamily="2" charset="-122"/>
                <a:ea typeface="宋体" panose="02010600030101010101" pitchFamily="2" charset="-122"/>
              </a:rPr>
              <a:t>  C</a:t>
            </a:r>
            <a:r>
              <a:rPr lang="zh-CN" altLang="zh-CN" sz="1800" kern="100" dirty="0">
                <a:effectLst/>
                <a:latin typeface="Times New Roman" panose="02020603050405020304" pitchFamily="18" charset="0"/>
                <a:ea typeface="宋体" panose="02010600030101010101" pitchFamily="2" charset="-122"/>
              </a:rPr>
              <a:t>、阀门定位器适用于高压差的场合</a:t>
            </a:r>
          </a:p>
          <a:p>
            <a:pPr indent="133350" algn="just"/>
            <a:r>
              <a:rPr lang="en-US" altLang="zh-CN" sz="1800" kern="100" dirty="0">
                <a:effectLst/>
                <a:latin typeface="宋体" panose="02010600030101010101" pitchFamily="2" charset="-122"/>
                <a:ea typeface="宋体" panose="02010600030101010101" pitchFamily="2" charset="-122"/>
              </a:rPr>
              <a:t>D</a:t>
            </a:r>
            <a:r>
              <a:rPr lang="zh-CN" altLang="zh-CN" sz="1800" kern="100" dirty="0">
                <a:effectLst/>
                <a:latin typeface="Times New Roman" panose="02020603050405020304" pitchFamily="18" charset="0"/>
                <a:ea typeface="宋体" panose="02010600030101010101" pitchFamily="2" charset="-122"/>
              </a:rPr>
              <a:t>、当调节阀口径小于</a:t>
            </a:r>
            <a:r>
              <a:rPr lang="en-US" altLang="zh-CN" sz="1800" kern="100" dirty="0">
                <a:effectLst/>
                <a:latin typeface="Times New Roman" panose="02020603050405020304" pitchFamily="18" charset="0"/>
                <a:ea typeface="宋体" panose="02010600030101010101" pitchFamily="2" charset="-122"/>
              </a:rPr>
              <a:t>100mm</a:t>
            </a:r>
            <a:r>
              <a:rPr lang="zh-CN" altLang="zh-CN" sz="1800" kern="100" dirty="0">
                <a:effectLst/>
                <a:latin typeface="Times New Roman" panose="02020603050405020304" pitchFamily="18" charset="0"/>
                <a:ea typeface="宋体" panose="02010600030101010101" pitchFamily="2" charset="-122"/>
              </a:rPr>
              <a:t>时，不必安装阀门定位器</a:t>
            </a:r>
          </a:p>
          <a:p>
            <a:pPr algn="just"/>
            <a:r>
              <a:rPr lang="en-US" altLang="zh-CN" sz="1800" kern="100" dirty="0">
                <a:effectLst/>
                <a:latin typeface="宋体" panose="02010600030101010101" pitchFamily="2" charset="-122"/>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rPr>
              <a:t>、气动阀门定位器是按</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原理工作的。</a:t>
            </a:r>
          </a:p>
          <a:p>
            <a:pPr algn="just"/>
            <a:r>
              <a:rPr lang="en-US" altLang="zh-CN" sz="1800" kern="100" dirty="0">
                <a:effectLst/>
                <a:latin typeface="宋体" panose="02010600030101010101" pitchFamily="2" charset="-122"/>
                <a:ea typeface="宋体" panose="02010600030101010101" pitchFamily="2" charset="-122"/>
              </a:rPr>
              <a:t>    A</a:t>
            </a:r>
            <a:r>
              <a:rPr lang="zh-CN" altLang="zh-CN" sz="1800" kern="100" dirty="0">
                <a:effectLst/>
                <a:latin typeface="Times New Roman" panose="02020603050405020304" pitchFamily="18" charset="0"/>
                <a:ea typeface="宋体" panose="02010600030101010101" pitchFamily="2" charset="-122"/>
              </a:rPr>
              <a:t>、负反馈</a:t>
            </a:r>
            <a:r>
              <a:rPr lang="en-US" altLang="zh-CN" sz="1800" kern="100" dirty="0">
                <a:effectLst/>
                <a:latin typeface="Times New Roman" panose="02020603050405020304" pitchFamily="18" charset="0"/>
                <a:ea typeface="宋体" panose="02010600030101010101" pitchFamily="2" charset="-122"/>
              </a:rPr>
              <a:t>       B</a:t>
            </a:r>
            <a:r>
              <a:rPr lang="zh-CN" altLang="zh-CN" sz="1800" kern="100" dirty="0">
                <a:effectLst/>
                <a:latin typeface="Times New Roman" panose="02020603050405020304" pitchFamily="18" charset="0"/>
                <a:ea typeface="宋体" panose="02010600030101010101" pitchFamily="2" charset="-122"/>
              </a:rPr>
              <a:t>、杠杆</a:t>
            </a:r>
            <a:r>
              <a:rPr lang="en-US" altLang="zh-CN" sz="1800" kern="100" dirty="0">
                <a:effectLst/>
                <a:latin typeface="Times New Roman" panose="02020603050405020304" pitchFamily="18" charset="0"/>
                <a:ea typeface="宋体" panose="02010600030101010101" pitchFamily="2" charset="-122"/>
              </a:rPr>
              <a:t>       C</a:t>
            </a:r>
            <a:r>
              <a:rPr lang="zh-CN" altLang="zh-CN" sz="1800" kern="100" dirty="0">
                <a:effectLst/>
                <a:latin typeface="Times New Roman" panose="02020603050405020304" pitchFamily="18" charset="0"/>
                <a:ea typeface="宋体" panose="02010600030101010101" pitchFamily="2" charset="-122"/>
              </a:rPr>
              <a:t>、力矩</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位移平衡</a:t>
            </a:r>
            <a:r>
              <a:rPr lang="en-US" altLang="zh-CN" sz="1800" kern="100" dirty="0">
                <a:effectLst/>
                <a:latin typeface="Times New Roman" panose="02020603050405020304" pitchFamily="18" charset="0"/>
                <a:ea typeface="宋体" panose="02010600030101010101" pitchFamily="2" charset="-122"/>
              </a:rPr>
              <a:t>    D</a:t>
            </a:r>
            <a:r>
              <a:rPr lang="zh-CN" altLang="zh-CN" sz="1800" kern="100" dirty="0">
                <a:effectLst/>
                <a:latin typeface="Times New Roman" panose="02020603050405020304" pitchFamily="18" charset="0"/>
                <a:ea typeface="宋体" panose="02010600030101010101" pitchFamily="2" charset="-122"/>
              </a:rPr>
              <a:t>、正反馈</a:t>
            </a:r>
          </a:p>
          <a:p>
            <a:pPr algn="just"/>
            <a:r>
              <a:rPr lang="en-US" altLang="zh-CN" sz="1800" kern="100" dirty="0">
                <a:effectLst/>
                <a:latin typeface="宋体" panose="02010600030101010101" pitchFamily="2" charset="-122"/>
                <a:ea typeface="宋体" panose="02010600030101010101" pitchFamily="2" charset="-122"/>
              </a:rPr>
              <a:t>4</a:t>
            </a:r>
            <a:r>
              <a:rPr lang="zh-CN" altLang="zh-CN" sz="1800" kern="100" dirty="0">
                <a:effectLst/>
                <a:latin typeface="Times New Roman" panose="02020603050405020304" pitchFamily="18" charset="0"/>
                <a:ea typeface="宋体" panose="02010600030101010101" pitchFamily="2" charset="-122"/>
              </a:rPr>
              <a:t>、电气阀门定位器接受</a:t>
            </a:r>
            <a:r>
              <a:rPr lang="en-US" altLang="zh-CN" sz="1800" kern="100" dirty="0">
                <a:effectLst/>
                <a:latin typeface="Times New Roman" panose="02020603050405020304" pitchFamily="18" charset="0"/>
                <a:ea typeface="宋体" panose="02010600030101010101" pitchFamily="2" charset="-122"/>
              </a:rPr>
              <a:t>4-20mA</a:t>
            </a:r>
            <a:r>
              <a:rPr lang="zh-CN" altLang="zh-CN" sz="1800" kern="100" dirty="0">
                <a:effectLst/>
                <a:latin typeface="Times New Roman" panose="02020603050405020304" pitchFamily="18" charset="0"/>
                <a:ea typeface="宋体" panose="02010600030101010101" pitchFamily="2" charset="-122"/>
              </a:rPr>
              <a:t>信号，变成</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信号给调节阀的执行机构。</a:t>
            </a:r>
          </a:p>
          <a:p>
            <a:pPr algn="just"/>
            <a:r>
              <a:rPr lang="en-US" altLang="zh-CN" sz="1800" kern="100" dirty="0">
                <a:effectLst/>
                <a:latin typeface="宋体" panose="02010600030101010101" pitchFamily="2" charset="-122"/>
                <a:ea typeface="宋体" panose="02010600030101010101" pitchFamily="2" charset="-122"/>
              </a:rPr>
              <a:t>    A</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0.02-0.1MPa      B</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0.4-0.28 MPa     C</a:t>
            </a:r>
            <a:r>
              <a:rPr lang="zh-CN" altLang="zh-CN" sz="1800" kern="100" dirty="0">
                <a:effectLst/>
                <a:latin typeface="Times New Roman" panose="02020603050405020304" pitchFamily="18" charset="0"/>
                <a:ea typeface="宋体" panose="02010600030101010101" pitchFamily="2" charset="-122"/>
              </a:rPr>
              <a:t>、气压</a:t>
            </a:r>
            <a:r>
              <a:rPr lang="en-US" altLang="zh-CN" sz="1800" kern="100" dirty="0">
                <a:effectLst/>
                <a:latin typeface="Times New Roman" panose="02020603050405020304" pitchFamily="18" charset="0"/>
                <a:ea typeface="宋体" panose="02010600030101010101" pitchFamily="2" charset="-122"/>
              </a:rPr>
              <a:t>      D</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0.5 MPa</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5</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　</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指其能量不足以对其周围可燃物质构成点火源。</a:t>
            </a:r>
          </a:p>
          <a:p>
            <a:pPr algn="just"/>
            <a:r>
              <a:rPr lang="en-US" altLang="zh-CN" sz="1800" kern="100" dirty="0">
                <a:effectLst/>
                <a:latin typeface="宋体" panose="02010600030101010101" pitchFamily="2" charset="-122"/>
                <a:ea typeface="宋体" panose="02010600030101010101" pitchFamily="2" charset="-122"/>
              </a:rPr>
              <a:t>     A</a:t>
            </a:r>
            <a:r>
              <a:rPr lang="zh-CN" altLang="zh-CN" sz="1800" kern="100" dirty="0">
                <a:effectLst/>
                <a:latin typeface="Times New Roman" panose="02020603050405020304" pitchFamily="18" charset="0"/>
                <a:ea typeface="宋体" panose="02010600030101010101" pitchFamily="2" charset="-122"/>
              </a:rPr>
              <a:t>、火花</a:t>
            </a:r>
            <a:r>
              <a:rPr lang="en-US" altLang="zh-CN" sz="1800" kern="100" dirty="0">
                <a:effectLst/>
                <a:latin typeface="Times New Roman" panose="02020603050405020304" pitchFamily="18" charset="0"/>
                <a:ea typeface="宋体" panose="02010600030101010101" pitchFamily="2" charset="-122"/>
              </a:rPr>
              <a:t>    B</a:t>
            </a:r>
            <a:r>
              <a:rPr lang="zh-CN" altLang="zh-CN" sz="1800" kern="100" dirty="0">
                <a:effectLst/>
                <a:latin typeface="Times New Roman" panose="02020603050405020304" pitchFamily="18" charset="0"/>
                <a:ea typeface="宋体" panose="02010600030101010101" pitchFamily="2" charset="-122"/>
              </a:rPr>
              <a:t>、局部发热</a:t>
            </a:r>
            <a:r>
              <a:rPr lang="en-US" altLang="zh-CN" sz="1800" kern="100" dirty="0">
                <a:effectLst/>
                <a:latin typeface="Times New Roman" panose="02020603050405020304" pitchFamily="18" charset="0"/>
                <a:ea typeface="宋体" panose="02010600030101010101" pitchFamily="2" charset="-122"/>
              </a:rPr>
              <a:t>      C</a:t>
            </a:r>
            <a:r>
              <a:rPr lang="zh-CN" altLang="zh-CN" sz="1800" kern="100" dirty="0">
                <a:effectLst/>
                <a:latin typeface="Times New Roman" panose="02020603050405020304" pitchFamily="18" charset="0"/>
                <a:ea typeface="宋体" panose="02010600030101010101" pitchFamily="2" charset="-122"/>
              </a:rPr>
              <a:t>、安全火花</a:t>
            </a:r>
            <a:r>
              <a:rPr lang="en-US" altLang="zh-CN" sz="1800" kern="100" dirty="0">
                <a:effectLst/>
                <a:latin typeface="Times New Roman" panose="02020603050405020304" pitchFamily="18" charset="0"/>
                <a:ea typeface="宋体" panose="02010600030101010101" pitchFamily="2" charset="-122"/>
              </a:rPr>
              <a:t>      D</a:t>
            </a:r>
            <a:r>
              <a:rPr lang="zh-CN" altLang="zh-CN" sz="1800" kern="100" dirty="0">
                <a:effectLst/>
                <a:latin typeface="Times New Roman" panose="02020603050405020304" pitchFamily="18" charset="0"/>
                <a:ea typeface="宋体" panose="02010600030101010101" pitchFamily="2" charset="-122"/>
              </a:rPr>
              <a:t>、温升过高</a:t>
            </a:r>
          </a:p>
        </p:txBody>
      </p:sp>
    </p:spTree>
    <p:extLst>
      <p:ext uri="{BB962C8B-B14F-4D97-AF65-F5344CB8AC3E}">
        <p14:creationId xmlns:p14="http://schemas.microsoft.com/office/powerpoint/2010/main" val="541212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3"/>
          </p:nvPr>
        </p:nvSpPr>
        <p:spPr/>
        <p:txBody>
          <a:bodyPr/>
          <a:lstStyle/>
          <a:p>
            <a:r>
              <a:rPr lang="en-US" altLang="zh-CN" dirty="0"/>
              <a:t>2024-5-22</a:t>
            </a:r>
            <a:r>
              <a:rPr lang="zh-CN" altLang="en-US" dirty="0"/>
              <a:t>作业</a:t>
            </a:r>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22</a:t>
            </a:fld>
            <a:endParaRPr lang="en-US" dirty="0"/>
          </a:p>
        </p:txBody>
      </p:sp>
      <p:sp>
        <p:nvSpPr>
          <p:cNvPr id="8" name="文本框 7">
            <a:extLst>
              <a:ext uri="{FF2B5EF4-FFF2-40B4-BE49-F238E27FC236}">
                <a16:creationId xmlns:a16="http://schemas.microsoft.com/office/drawing/2014/main" id="{1B10994E-4D30-E356-8894-24E799ABA4F0}"/>
              </a:ext>
            </a:extLst>
          </p:cNvPr>
          <p:cNvSpPr txBox="1"/>
          <p:nvPr/>
        </p:nvSpPr>
        <p:spPr>
          <a:xfrm>
            <a:off x="914400" y="907962"/>
            <a:ext cx="9821732" cy="4801314"/>
          </a:xfrm>
          <a:prstGeom prst="rect">
            <a:avLst/>
          </a:prstGeom>
          <a:noFill/>
        </p:spPr>
        <p:txBody>
          <a:bodyPr wrap="square" rtlCol="0">
            <a:spAutoFit/>
          </a:bodyPr>
          <a:lstStyle/>
          <a:p>
            <a:pPr marL="342900" lvl="0" indent="-342900" algn="just">
              <a:buFont typeface="+mj-lt"/>
              <a:buAutoNum type="arabicPeriod"/>
              <a:tabLst>
                <a:tab pos="228600" algn="l"/>
              </a:tabLst>
            </a:pPr>
            <a:r>
              <a:rPr lang="zh-CN" altLang="zh-CN" sz="1800" kern="100" dirty="0">
                <a:effectLst/>
                <a:latin typeface="Times New Roman" panose="02020603050405020304" pitchFamily="18" charset="0"/>
                <a:ea typeface="宋体" panose="02010600030101010101" pitchFamily="2" charset="-122"/>
              </a:rPr>
              <a:t>下述说法不正确的是</a:t>
            </a:r>
            <a:r>
              <a:rPr lang="en-US" altLang="zh-CN" sz="1800" kern="100" dirty="0">
                <a:effectLst/>
                <a:latin typeface="Times New Roman" panose="02020603050405020304" pitchFamily="18" charset="0"/>
                <a:ea typeface="宋体" panose="02010600030101010101" pitchFamily="2" charset="-122"/>
              </a:rPr>
              <a:t>(</a:t>
            </a:r>
            <a:r>
              <a:rPr lang="en-US" altLang="zh-CN" kern="100" dirty="0">
                <a:solidFill>
                  <a:srgbClr val="FF0000"/>
                </a:solidFill>
                <a:latin typeface="Times New Roman" panose="02020603050405020304" pitchFamily="18" charset="0"/>
                <a:ea typeface="宋体" panose="02010600030101010101" pitchFamily="2" charset="-122"/>
              </a:rPr>
              <a:t>D</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a:t>
            </a:r>
          </a:p>
          <a:p>
            <a:pPr algn="just"/>
            <a:r>
              <a:rPr lang="en-US" altLang="zh-CN" sz="1800" kern="100" dirty="0">
                <a:effectLst/>
                <a:latin typeface="宋体" panose="02010600030101010101" pitchFamily="2" charset="-122"/>
                <a:ea typeface="宋体" panose="02010600030101010101" pitchFamily="2" charset="-122"/>
              </a:rPr>
              <a:t>  A</a:t>
            </a:r>
            <a:r>
              <a:rPr lang="zh-CN" altLang="zh-CN" sz="1800" kern="100" dirty="0">
                <a:effectLst/>
                <a:latin typeface="Times New Roman" panose="02020603050405020304" pitchFamily="18" charset="0"/>
                <a:ea typeface="宋体" panose="02010600030101010101" pitchFamily="2" charset="-122"/>
              </a:rPr>
              <a:t>、阀门定位器能减少调节信号的传递滞后</a:t>
            </a:r>
          </a:p>
          <a:p>
            <a:pPr algn="just"/>
            <a:r>
              <a:rPr lang="en-US" altLang="zh-CN" sz="1800" kern="100" dirty="0">
                <a:effectLst/>
                <a:latin typeface="宋体" panose="02010600030101010101" pitchFamily="2" charset="-122"/>
                <a:ea typeface="宋体" panose="02010600030101010101" pitchFamily="2" charset="-122"/>
              </a:rPr>
              <a:t>  B</a:t>
            </a:r>
            <a:r>
              <a:rPr lang="zh-CN" altLang="zh-CN" sz="1800" kern="100" dirty="0">
                <a:effectLst/>
                <a:latin typeface="Times New Roman" panose="02020603050405020304" pitchFamily="18" charset="0"/>
                <a:ea typeface="宋体" panose="02010600030101010101" pitchFamily="2" charset="-122"/>
              </a:rPr>
              <a:t>、阀门定位器能提高阀门位置的线性度</a:t>
            </a:r>
          </a:p>
          <a:p>
            <a:pPr algn="just"/>
            <a:r>
              <a:rPr lang="en-US" altLang="zh-CN" sz="1800" kern="100" dirty="0">
                <a:effectLst/>
                <a:latin typeface="宋体" panose="02010600030101010101" pitchFamily="2" charset="-122"/>
                <a:ea typeface="宋体" panose="02010600030101010101" pitchFamily="2" charset="-122"/>
              </a:rPr>
              <a:t>  C</a:t>
            </a:r>
            <a:r>
              <a:rPr lang="zh-CN" altLang="zh-CN" sz="1800" kern="100" dirty="0">
                <a:effectLst/>
                <a:latin typeface="Times New Roman" panose="02020603050405020304" pitchFamily="18" charset="0"/>
                <a:ea typeface="宋体" panose="02010600030101010101" pitchFamily="2" charset="-122"/>
              </a:rPr>
              <a:t>、阀门定位器能克服阀杆的摩擦力和消除不平衡力的影响</a:t>
            </a:r>
          </a:p>
          <a:p>
            <a:pPr algn="just"/>
            <a:r>
              <a:rPr lang="en-US" altLang="zh-CN" sz="1800" kern="100" dirty="0">
                <a:effectLst/>
                <a:latin typeface="宋体" panose="02010600030101010101" pitchFamily="2" charset="-122"/>
                <a:ea typeface="宋体" panose="02010600030101010101" pitchFamily="2" charset="-122"/>
              </a:rPr>
              <a:t>  D</a:t>
            </a:r>
            <a:r>
              <a:rPr lang="zh-CN" altLang="zh-CN" sz="1800" kern="100" dirty="0">
                <a:effectLst/>
                <a:latin typeface="Times New Roman" panose="02020603050405020304" pitchFamily="18" charset="0"/>
                <a:ea typeface="宋体" panose="02010600030101010101" pitchFamily="2" charset="-122"/>
              </a:rPr>
              <a:t>、阀门定位器能实现调节阀气开气关的转换</a:t>
            </a:r>
            <a:r>
              <a:rPr lang="zh-CN" altLang="en-US" kern="100" dirty="0">
                <a:latin typeface="Times New Roman" panose="02020603050405020304" pitchFamily="18" charset="0"/>
                <a:ea typeface="宋体" panose="02010600030101010101" pitchFamily="2" charset="-122"/>
              </a:rPr>
              <a:t>  </a:t>
            </a:r>
            <a:r>
              <a:rPr lang="zh-CN" altLang="en-US" kern="100" dirty="0">
                <a:solidFill>
                  <a:srgbClr val="FF0000"/>
                </a:solidFill>
                <a:latin typeface="Times New Roman" panose="02020603050405020304" pitchFamily="18" charset="0"/>
                <a:ea typeface="宋体" panose="02010600030101010101" pitchFamily="2" charset="-122"/>
              </a:rPr>
              <a:t>是一个连续的调节定位过程，而非简单气开气关</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rPr>
              <a:t>、下述说法不正确的是</a:t>
            </a:r>
            <a:r>
              <a:rPr lang="en-US" altLang="zh-CN" sz="1800" kern="100" dirty="0">
                <a:effectLst/>
                <a:latin typeface="Times New Roman" panose="02020603050405020304" pitchFamily="18" charset="0"/>
                <a:ea typeface="宋体" panose="02010600030101010101" pitchFamily="2" charset="-122"/>
              </a:rPr>
              <a:t>(</a:t>
            </a:r>
            <a:r>
              <a:rPr lang="en-US" altLang="zh-CN" sz="1800" kern="100" dirty="0">
                <a:solidFill>
                  <a:srgbClr val="FF0000"/>
                </a:solidFill>
                <a:effectLst/>
                <a:latin typeface="Times New Roman" panose="02020603050405020304" pitchFamily="18" charset="0"/>
                <a:ea typeface="宋体" panose="02010600030101010101" pitchFamily="2" charset="-122"/>
              </a:rPr>
              <a:t>D</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a:t>
            </a:r>
          </a:p>
          <a:p>
            <a:pPr algn="just"/>
            <a:r>
              <a:rPr lang="en-US" altLang="zh-CN" sz="1800" kern="100" dirty="0">
                <a:effectLst/>
                <a:latin typeface="宋体" panose="02010600030101010101" pitchFamily="2" charset="-122"/>
                <a:ea typeface="宋体" panose="02010600030101010101" pitchFamily="2" charset="-122"/>
              </a:rPr>
              <a:t>  A</a:t>
            </a:r>
            <a:r>
              <a:rPr lang="zh-CN" altLang="zh-CN" sz="1800" kern="100" dirty="0">
                <a:effectLst/>
                <a:latin typeface="Times New Roman" panose="02020603050405020304" pitchFamily="18" charset="0"/>
                <a:ea typeface="宋体" panose="02010600030101010101" pitchFamily="2" charset="-122"/>
              </a:rPr>
              <a:t>、调节阀的流量特性可以通过改变反馈凸轮的几何形状来改变</a:t>
            </a:r>
          </a:p>
          <a:p>
            <a:pPr algn="just"/>
            <a:r>
              <a:rPr lang="en-US" altLang="zh-CN" sz="1800" kern="100" dirty="0">
                <a:effectLst/>
                <a:latin typeface="宋体" panose="02010600030101010101" pitchFamily="2" charset="-122"/>
                <a:ea typeface="宋体" panose="02010600030101010101" pitchFamily="2" charset="-122"/>
              </a:rPr>
              <a:t>  B</a:t>
            </a:r>
            <a:r>
              <a:rPr lang="zh-CN" altLang="zh-CN" sz="1800" kern="100" dirty="0">
                <a:effectLst/>
                <a:latin typeface="Times New Roman" panose="02020603050405020304" pitchFamily="18" charset="0"/>
                <a:ea typeface="宋体" panose="02010600030101010101" pitchFamily="2" charset="-122"/>
              </a:rPr>
              <a:t>、阀门定位器适用于分程控制的场合</a:t>
            </a:r>
          </a:p>
          <a:p>
            <a:pPr algn="just"/>
            <a:r>
              <a:rPr lang="en-US" altLang="zh-CN" sz="1800" kern="100" dirty="0">
                <a:effectLst/>
                <a:latin typeface="宋体" panose="02010600030101010101" pitchFamily="2" charset="-122"/>
                <a:ea typeface="宋体" panose="02010600030101010101" pitchFamily="2" charset="-122"/>
              </a:rPr>
              <a:t>  C</a:t>
            </a:r>
            <a:r>
              <a:rPr lang="zh-CN" altLang="zh-CN" sz="1800" kern="100" dirty="0">
                <a:effectLst/>
                <a:latin typeface="Times New Roman" panose="02020603050405020304" pitchFamily="18" charset="0"/>
                <a:ea typeface="宋体" panose="02010600030101010101" pitchFamily="2" charset="-122"/>
              </a:rPr>
              <a:t>、阀门定位器适用于高压差的场合</a:t>
            </a:r>
          </a:p>
          <a:p>
            <a:pPr indent="133350" algn="just"/>
            <a:r>
              <a:rPr lang="en-US" altLang="zh-CN" sz="1800" kern="100" dirty="0">
                <a:effectLst/>
                <a:latin typeface="宋体" panose="02010600030101010101" pitchFamily="2" charset="-122"/>
                <a:ea typeface="宋体" panose="02010600030101010101" pitchFamily="2" charset="-122"/>
              </a:rPr>
              <a:t>D</a:t>
            </a:r>
            <a:r>
              <a:rPr lang="zh-CN" altLang="zh-CN" sz="1800" kern="100" dirty="0">
                <a:effectLst/>
                <a:latin typeface="Times New Roman" panose="02020603050405020304" pitchFamily="18" charset="0"/>
                <a:ea typeface="宋体" panose="02010600030101010101" pitchFamily="2" charset="-122"/>
              </a:rPr>
              <a:t>、当调节阀口径小于</a:t>
            </a:r>
            <a:r>
              <a:rPr lang="en-US" altLang="zh-CN" sz="1800" kern="100" dirty="0">
                <a:effectLst/>
                <a:latin typeface="Times New Roman" panose="02020603050405020304" pitchFamily="18" charset="0"/>
                <a:ea typeface="宋体" panose="02010600030101010101" pitchFamily="2" charset="-122"/>
              </a:rPr>
              <a:t>100mm</a:t>
            </a:r>
            <a:r>
              <a:rPr lang="zh-CN" altLang="zh-CN" sz="1800" kern="100" dirty="0">
                <a:effectLst/>
                <a:latin typeface="Times New Roman" panose="02020603050405020304" pitchFamily="18" charset="0"/>
                <a:ea typeface="宋体" panose="02010600030101010101" pitchFamily="2" charset="-122"/>
              </a:rPr>
              <a:t>时，不必安装阀门定位器</a:t>
            </a:r>
            <a:r>
              <a:rPr lang="zh-CN" altLang="en-US" kern="100" dirty="0">
                <a:latin typeface="Times New Roman" panose="02020603050405020304" pitchFamily="18" charset="0"/>
                <a:ea typeface="宋体" panose="02010600030101010101" pitchFamily="2" charset="-122"/>
              </a:rPr>
              <a:t>  </a:t>
            </a:r>
            <a:r>
              <a:rPr lang="en-US" altLang="zh-CN" kern="100" dirty="0">
                <a:solidFill>
                  <a:srgbClr val="FF0000"/>
                </a:solidFill>
                <a:latin typeface="Times New Roman" panose="02020603050405020304" pitchFamily="18" charset="0"/>
                <a:ea typeface="宋体" panose="02010600030101010101" pitchFamily="2" charset="-122"/>
              </a:rPr>
              <a:t>PPT</a:t>
            </a:r>
            <a:r>
              <a:rPr lang="zh-CN" altLang="en-US" kern="100" dirty="0">
                <a:solidFill>
                  <a:srgbClr val="FF0000"/>
                </a:solidFill>
                <a:latin typeface="Times New Roman" panose="02020603050405020304" pitchFamily="18" charset="0"/>
                <a:ea typeface="宋体" panose="02010600030101010101" pitchFamily="2" charset="-122"/>
              </a:rPr>
              <a:t>：适用于调节阀口径较大的场合</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3</a:t>
            </a:r>
            <a:r>
              <a:rPr lang="zh-CN" altLang="zh-CN" sz="1800" kern="100" dirty="0">
                <a:effectLst/>
                <a:latin typeface="Times New Roman" panose="02020603050405020304" pitchFamily="18" charset="0"/>
                <a:ea typeface="宋体" panose="02010600030101010101" pitchFamily="2" charset="-122"/>
              </a:rPr>
              <a:t>、气动阀门定位器是按</a:t>
            </a:r>
            <a:r>
              <a:rPr lang="en-US" altLang="zh-CN" sz="1800" kern="100" dirty="0">
                <a:effectLst/>
                <a:latin typeface="Times New Roman" panose="02020603050405020304" pitchFamily="18" charset="0"/>
                <a:ea typeface="宋体" panose="02010600030101010101" pitchFamily="2" charset="-122"/>
              </a:rPr>
              <a:t>(</a:t>
            </a:r>
            <a:r>
              <a:rPr lang="en-US" altLang="zh-CN" sz="1800" kern="100" dirty="0">
                <a:solidFill>
                  <a:srgbClr val="FF0000"/>
                </a:solidFill>
                <a:effectLst/>
                <a:latin typeface="Times New Roman" panose="02020603050405020304" pitchFamily="18" charset="0"/>
                <a:ea typeface="宋体" panose="02010600030101010101" pitchFamily="2" charset="-122"/>
              </a:rPr>
              <a:t>C</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原理工作的。</a:t>
            </a:r>
          </a:p>
          <a:p>
            <a:pPr algn="just"/>
            <a:r>
              <a:rPr lang="en-US" altLang="zh-CN" sz="1800" kern="100" dirty="0">
                <a:effectLst/>
                <a:latin typeface="宋体" panose="02010600030101010101" pitchFamily="2" charset="-122"/>
                <a:ea typeface="宋体" panose="02010600030101010101" pitchFamily="2" charset="-122"/>
              </a:rPr>
              <a:t>    A</a:t>
            </a:r>
            <a:r>
              <a:rPr lang="zh-CN" altLang="zh-CN" sz="1800" kern="100" dirty="0">
                <a:effectLst/>
                <a:latin typeface="Times New Roman" panose="02020603050405020304" pitchFamily="18" charset="0"/>
                <a:ea typeface="宋体" panose="02010600030101010101" pitchFamily="2" charset="-122"/>
              </a:rPr>
              <a:t>、负反馈</a:t>
            </a:r>
            <a:r>
              <a:rPr lang="en-US" altLang="zh-CN" sz="1800" kern="100" dirty="0">
                <a:effectLst/>
                <a:latin typeface="Times New Roman" panose="02020603050405020304" pitchFamily="18" charset="0"/>
                <a:ea typeface="宋体" panose="02010600030101010101" pitchFamily="2" charset="-122"/>
              </a:rPr>
              <a:t>       B</a:t>
            </a:r>
            <a:r>
              <a:rPr lang="zh-CN" altLang="zh-CN" sz="1800" kern="100" dirty="0">
                <a:effectLst/>
                <a:latin typeface="Times New Roman" panose="02020603050405020304" pitchFamily="18" charset="0"/>
                <a:ea typeface="宋体" panose="02010600030101010101" pitchFamily="2" charset="-122"/>
              </a:rPr>
              <a:t>、杠杆</a:t>
            </a:r>
            <a:r>
              <a:rPr lang="en-US" altLang="zh-CN" sz="1800" kern="100" dirty="0">
                <a:effectLst/>
                <a:latin typeface="Times New Roman" panose="02020603050405020304" pitchFamily="18" charset="0"/>
                <a:ea typeface="宋体" panose="02010600030101010101" pitchFamily="2" charset="-122"/>
              </a:rPr>
              <a:t>       C</a:t>
            </a:r>
            <a:r>
              <a:rPr lang="zh-CN" altLang="zh-CN" sz="1800" kern="100" dirty="0">
                <a:effectLst/>
                <a:latin typeface="Times New Roman" panose="02020603050405020304" pitchFamily="18" charset="0"/>
                <a:ea typeface="宋体" panose="02010600030101010101" pitchFamily="2" charset="-122"/>
              </a:rPr>
              <a:t>、力矩</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位移平衡</a:t>
            </a:r>
            <a:r>
              <a:rPr lang="en-US" altLang="zh-CN" sz="1800" kern="100" dirty="0">
                <a:effectLst/>
                <a:latin typeface="Times New Roman" panose="02020603050405020304" pitchFamily="18" charset="0"/>
                <a:ea typeface="宋体" panose="02010600030101010101" pitchFamily="2" charset="-122"/>
              </a:rPr>
              <a:t>    D</a:t>
            </a:r>
            <a:r>
              <a:rPr lang="zh-CN" altLang="zh-CN" sz="1800" kern="100" dirty="0">
                <a:effectLst/>
                <a:latin typeface="Times New Roman" panose="02020603050405020304" pitchFamily="18" charset="0"/>
                <a:ea typeface="宋体" panose="02010600030101010101" pitchFamily="2" charset="-122"/>
              </a:rPr>
              <a:t>、正反馈</a:t>
            </a:r>
          </a:p>
          <a:p>
            <a:pPr algn="just"/>
            <a:r>
              <a:rPr lang="en-US" altLang="zh-CN" sz="1800" kern="100" dirty="0">
                <a:effectLst/>
                <a:latin typeface="宋体" panose="02010600030101010101" pitchFamily="2" charset="-122"/>
                <a:ea typeface="宋体" panose="02010600030101010101" pitchFamily="2" charset="-122"/>
              </a:rPr>
              <a:t>4</a:t>
            </a:r>
            <a:r>
              <a:rPr lang="zh-CN" altLang="zh-CN" sz="1800" kern="100" dirty="0">
                <a:effectLst/>
                <a:latin typeface="Times New Roman" panose="02020603050405020304" pitchFamily="18" charset="0"/>
                <a:ea typeface="宋体" panose="02010600030101010101" pitchFamily="2" charset="-122"/>
              </a:rPr>
              <a:t>、电气阀门定位器接受</a:t>
            </a:r>
            <a:r>
              <a:rPr lang="en-US" altLang="zh-CN" sz="1800" kern="100" dirty="0">
                <a:effectLst/>
                <a:latin typeface="Times New Roman" panose="02020603050405020304" pitchFamily="18" charset="0"/>
                <a:ea typeface="宋体" panose="02010600030101010101" pitchFamily="2" charset="-122"/>
              </a:rPr>
              <a:t>4-20mA</a:t>
            </a:r>
            <a:r>
              <a:rPr lang="zh-CN" altLang="zh-CN" sz="1800" kern="100" dirty="0">
                <a:effectLst/>
                <a:latin typeface="Times New Roman" panose="02020603050405020304" pitchFamily="18" charset="0"/>
                <a:ea typeface="宋体" panose="02010600030101010101" pitchFamily="2" charset="-122"/>
              </a:rPr>
              <a:t>信号，变成</a:t>
            </a:r>
            <a:r>
              <a:rPr lang="en-US" altLang="zh-CN" sz="1800" kern="100" dirty="0">
                <a:effectLst/>
                <a:latin typeface="Times New Roman" panose="02020603050405020304" pitchFamily="18" charset="0"/>
                <a:ea typeface="宋体" panose="02010600030101010101" pitchFamily="2" charset="-122"/>
              </a:rPr>
              <a:t>(</a:t>
            </a:r>
            <a:r>
              <a:rPr lang="en-US" altLang="zh-CN" kern="100" dirty="0">
                <a:solidFill>
                  <a:srgbClr val="FF0000"/>
                </a:solidFill>
                <a:latin typeface="Times New Roman" panose="02020603050405020304" pitchFamily="18" charset="0"/>
                <a:ea typeface="宋体" panose="02010600030101010101" pitchFamily="2" charset="-122"/>
              </a:rPr>
              <a:t>C</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信号给调节阀的执行机构。</a:t>
            </a:r>
          </a:p>
          <a:p>
            <a:pPr algn="just"/>
            <a:r>
              <a:rPr lang="en-US" altLang="zh-CN" sz="1800" kern="100" dirty="0">
                <a:effectLst/>
                <a:latin typeface="宋体" panose="02010600030101010101" pitchFamily="2" charset="-122"/>
                <a:ea typeface="宋体" panose="02010600030101010101" pitchFamily="2" charset="-122"/>
              </a:rPr>
              <a:t>    A</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0.02-0.1MPa </a:t>
            </a:r>
            <a:r>
              <a:rPr lang="zh-CN" altLang="en-US" sz="1800" kern="100" dirty="0">
                <a:solidFill>
                  <a:srgbClr val="FF0000"/>
                </a:solidFill>
                <a:effectLst/>
                <a:latin typeface="Times New Roman" panose="02020603050405020304" pitchFamily="18" charset="0"/>
                <a:ea typeface="宋体" panose="02010600030101010101" pitchFamily="2" charset="-122"/>
              </a:rPr>
              <a:t>电气转换器</a:t>
            </a:r>
            <a:r>
              <a:rPr lang="en-US" altLang="zh-CN" sz="1800" kern="100" dirty="0">
                <a:effectLst/>
                <a:latin typeface="Times New Roman" panose="02020603050405020304" pitchFamily="18" charset="0"/>
                <a:ea typeface="宋体" panose="02010600030101010101" pitchFamily="2" charset="-122"/>
              </a:rPr>
              <a:t>      B</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0.4-0.28 MPa     C</a:t>
            </a:r>
            <a:r>
              <a:rPr lang="zh-CN" altLang="zh-CN" sz="1800" kern="100" dirty="0">
                <a:effectLst/>
                <a:latin typeface="Times New Roman" panose="02020603050405020304" pitchFamily="18" charset="0"/>
                <a:ea typeface="宋体" panose="02010600030101010101" pitchFamily="2" charset="-122"/>
              </a:rPr>
              <a:t>、气压</a:t>
            </a:r>
            <a:r>
              <a:rPr lang="en-US" altLang="zh-CN" sz="1800" kern="100" dirty="0">
                <a:effectLst/>
                <a:latin typeface="Times New Roman" panose="02020603050405020304" pitchFamily="18" charset="0"/>
                <a:ea typeface="宋体" panose="02010600030101010101" pitchFamily="2" charset="-122"/>
              </a:rPr>
              <a:t>      D</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0.5 MPa</a:t>
            </a:r>
            <a:endParaRPr lang="zh-CN" altLang="zh-CN" sz="1800" kern="100" dirty="0">
              <a:effectLst/>
              <a:latin typeface="Times New Roman" panose="02020603050405020304" pitchFamily="18" charset="0"/>
              <a:ea typeface="宋体" panose="02010600030101010101" pitchFamily="2" charset="-122"/>
            </a:endParaRPr>
          </a:p>
          <a:p>
            <a:pPr algn="just"/>
            <a:r>
              <a:rPr lang="en-US" altLang="zh-CN" sz="1800" kern="100" dirty="0">
                <a:effectLst/>
                <a:latin typeface="宋体" panose="02010600030101010101" pitchFamily="2" charset="-122"/>
                <a:ea typeface="宋体" panose="02010600030101010101" pitchFamily="2" charset="-122"/>
              </a:rPr>
              <a:t>5</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a:t>
            </a:r>
            <a:r>
              <a:rPr lang="en-US" altLang="zh-CN" sz="1800" kern="100" dirty="0">
                <a:solidFill>
                  <a:srgbClr val="FF0000"/>
                </a:solidFill>
                <a:effectLst/>
                <a:latin typeface="Times New Roman" panose="02020603050405020304" pitchFamily="18" charset="0"/>
                <a:ea typeface="宋体" panose="02010600030101010101" pitchFamily="2" charset="-122"/>
              </a:rPr>
              <a:t>C</a:t>
            </a:r>
            <a:r>
              <a:rPr lang="en-US" altLang="zh-CN" sz="1800" kern="100" dirty="0">
                <a:effectLst/>
                <a:latin typeface="Times New Roman" panose="02020603050405020304" pitchFamily="18" charset="0"/>
                <a:ea typeface="宋体" panose="02010600030101010101" pitchFamily="2" charset="-122"/>
              </a:rPr>
              <a:t>)</a:t>
            </a:r>
            <a:r>
              <a:rPr lang="zh-CN" altLang="zh-CN" sz="1800" kern="100" dirty="0">
                <a:effectLst/>
                <a:latin typeface="Times New Roman" panose="02020603050405020304" pitchFamily="18" charset="0"/>
                <a:ea typeface="宋体" panose="02010600030101010101" pitchFamily="2" charset="-122"/>
              </a:rPr>
              <a:t>指其能量不足以对其周围可燃物质构成点火源。</a:t>
            </a:r>
          </a:p>
          <a:p>
            <a:pPr algn="just"/>
            <a:r>
              <a:rPr lang="en-US" altLang="zh-CN" sz="1800" kern="100" dirty="0">
                <a:effectLst/>
                <a:latin typeface="宋体" panose="02010600030101010101" pitchFamily="2" charset="-122"/>
                <a:ea typeface="宋体" panose="02010600030101010101" pitchFamily="2" charset="-122"/>
              </a:rPr>
              <a:t>     A</a:t>
            </a:r>
            <a:r>
              <a:rPr lang="zh-CN" altLang="zh-CN" sz="1800" kern="100" dirty="0">
                <a:effectLst/>
                <a:latin typeface="Times New Roman" panose="02020603050405020304" pitchFamily="18" charset="0"/>
                <a:ea typeface="宋体" panose="02010600030101010101" pitchFamily="2" charset="-122"/>
              </a:rPr>
              <a:t>、火花</a:t>
            </a:r>
            <a:r>
              <a:rPr lang="en-US" altLang="zh-CN" sz="1800" kern="100" dirty="0">
                <a:effectLst/>
                <a:latin typeface="Times New Roman" panose="02020603050405020304" pitchFamily="18" charset="0"/>
                <a:ea typeface="宋体" panose="02010600030101010101" pitchFamily="2" charset="-122"/>
              </a:rPr>
              <a:t>    B</a:t>
            </a:r>
            <a:r>
              <a:rPr lang="zh-CN" altLang="zh-CN" sz="1800" kern="100" dirty="0">
                <a:effectLst/>
                <a:latin typeface="Times New Roman" panose="02020603050405020304" pitchFamily="18" charset="0"/>
                <a:ea typeface="宋体" panose="02010600030101010101" pitchFamily="2" charset="-122"/>
              </a:rPr>
              <a:t>、局部发热</a:t>
            </a:r>
            <a:r>
              <a:rPr lang="en-US" altLang="zh-CN" sz="1800" kern="100" dirty="0">
                <a:effectLst/>
                <a:latin typeface="Times New Roman" panose="02020603050405020304" pitchFamily="18" charset="0"/>
                <a:ea typeface="宋体" panose="02010600030101010101" pitchFamily="2" charset="-122"/>
              </a:rPr>
              <a:t>      C</a:t>
            </a:r>
            <a:r>
              <a:rPr lang="zh-CN" altLang="zh-CN" sz="1800" kern="100" dirty="0">
                <a:effectLst/>
                <a:latin typeface="Times New Roman" panose="02020603050405020304" pitchFamily="18" charset="0"/>
                <a:ea typeface="宋体" panose="02010600030101010101" pitchFamily="2" charset="-122"/>
              </a:rPr>
              <a:t>、安全火花</a:t>
            </a:r>
            <a:r>
              <a:rPr lang="en-US" altLang="zh-CN" sz="1800" kern="100" dirty="0">
                <a:effectLst/>
                <a:latin typeface="Times New Roman" panose="02020603050405020304" pitchFamily="18" charset="0"/>
                <a:ea typeface="宋体" panose="02010600030101010101" pitchFamily="2" charset="-122"/>
              </a:rPr>
              <a:t>      D</a:t>
            </a:r>
            <a:r>
              <a:rPr lang="zh-CN" altLang="zh-CN" sz="1800" kern="100" dirty="0">
                <a:effectLst/>
                <a:latin typeface="Times New Roman" panose="02020603050405020304" pitchFamily="18" charset="0"/>
                <a:ea typeface="宋体" panose="02010600030101010101" pitchFamily="2" charset="-122"/>
              </a:rPr>
              <a:t>、温升过高</a:t>
            </a:r>
          </a:p>
          <a:p>
            <a:endParaRPr lang="zh-CN" altLang="en-US" dirty="0"/>
          </a:p>
        </p:txBody>
      </p:sp>
    </p:spTree>
    <p:extLst>
      <p:ext uri="{BB962C8B-B14F-4D97-AF65-F5344CB8AC3E}">
        <p14:creationId xmlns:p14="http://schemas.microsoft.com/office/powerpoint/2010/main" val="3729821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第四次作业</a:t>
            </a:r>
          </a:p>
        </p:txBody>
      </p:sp>
      <p:sp>
        <p:nvSpPr>
          <p:cNvPr id="5" name="灯片编号占位符 4"/>
          <p:cNvSpPr>
            <a:spLocks noGrp="1"/>
          </p:cNvSpPr>
          <p:nvPr>
            <p:ph type="sldNum" sz="quarter" idx="12"/>
          </p:nvPr>
        </p:nvSpPr>
        <p:spPr/>
        <p:txBody>
          <a:bodyPr/>
          <a:lstStyle/>
          <a:p>
            <a:fld id="{4FAB73BC-B049-4115-A692-8D63A059BFB8}" type="slidenum">
              <a:rPr lang="en-US" smtClean="0"/>
              <a:pPr/>
              <a:t>23</a:t>
            </a:fld>
            <a:endParaRPr lang="en-US" dirty="0"/>
          </a:p>
        </p:txBody>
      </p:sp>
    </p:spTree>
    <p:extLst>
      <p:ext uri="{BB962C8B-B14F-4D97-AF65-F5344CB8AC3E}">
        <p14:creationId xmlns:p14="http://schemas.microsoft.com/office/powerpoint/2010/main" val="17342295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EFC7FF-F330-4B0E-91FA-7B4C84DEED8B}"/>
              </a:ext>
            </a:extLst>
          </p:cNvPr>
          <p:cNvSpPr>
            <a:spLocks noGrp="1"/>
          </p:cNvSpPr>
          <p:nvPr>
            <p:ph type="title"/>
          </p:nvPr>
        </p:nvSpPr>
        <p:spPr>
          <a:xfrm>
            <a:off x="822325" y="1285790"/>
            <a:ext cx="9746088" cy="742416"/>
          </a:xfrm>
        </p:spPr>
        <p:txBody>
          <a:bodyPr/>
          <a:lstStyle/>
          <a:p>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1. </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请简述压电阀工作的三种状态？</a:t>
            </a:r>
            <a:b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br>
            <a:endParaRPr lang="zh-CN" altLang="en-US" dirty="0"/>
          </a:p>
        </p:txBody>
      </p:sp>
      <p:sp>
        <p:nvSpPr>
          <p:cNvPr id="3" name="内容占位符 2">
            <a:extLst>
              <a:ext uri="{FF2B5EF4-FFF2-40B4-BE49-F238E27FC236}">
                <a16:creationId xmlns:a16="http://schemas.microsoft.com/office/drawing/2014/main" id="{7E02213F-00A9-4EA8-A21B-B1802AD69904}"/>
              </a:ext>
            </a:extLst>
          </p:cNvPr>
          <p:cNvSpPr>
            <a:spLocks noGrp="1"/>
          </p:cNvSpPr>
          <p:nvPr>
            <p:ph idx="1"/>
          </p:nvPr>
        </p:nvSpPr>
        <p:spPr/>
        <p:txBody>
          <a:bodyPr/>
          <a:lstStyle/>
          <a:p>
            <a:endParaRPr lang="zh-CN" altLang="en-US" dirty="0"/>
          </a:p>
        </p:txBody>
      </p:sp>
      <p:sp>
        <p:nvSpPr>
          <p:cNvPr id="4" name="文本占位符 3">
            <a:extLst>
              <a:ext uri="{FF2B5EF4-FFF2-40B4-BE49-F238E27FC236}">
                <a16:creationId xmlns:a16="http://schemas.microsoft.com/office/drawing/2014/main" id="{BE8F20DA-920E-4AE8-99ED-774EE2DCD5FF}"/>
              </a:ext>
            </a:extLst>
          </p:cNvPr>
          <p:cNvSpPr>
            <a:spLocks noGrp="1"/>
          </p:cNvSpPr>
          <p:nvPr>
            <p:ph type="body" sz="quarter" idx="13"/>
          </p:nvPr>
        </p:nvSpPr>
        <p:spPr/>
        <p:txBody>
          <a:bodyPr/>
          <a:lstStyle/>
          <a:p>
            <a:endParaRPr lang="zh-CN" altLang="en-US"/>
          </a:p>
        </p:txBody>
      </p:sp>
      <p:sp>
        <p:nvSpPr>
          <p:cNvPr id="7" name="文本框 6">
            <a:extLst>
              <a:ext uri="{FF2B5EF4-FFF2-40B4-BE49-F238E27FC236}">
                <a16:creationId xmlns:a16="http://schemas.microsoft.com/office/drawing/2014/main" id="{671C4CBD-E6A7-4E16-B55D-94D5F61F7CC0}"/>
              </a:ext>
            </a:extLst>
          </p:cNvPr>
          <p:cNvSpPr txBox="1"/>
          <p:nvPr/>
        </p:nvSpPr>
        <p:spPr>
          <a:xfrm>
            <a:off x="6063916" y="2308355"/>
            <a:ext cx="4876800" cy="3139321"/>
          </a:xfrm>
          <a:prstGeom prst="rect">
            <a:avLst/>
          </a:prstGeom>
          <a:noFill/>
        </p:spPr>
        <p:txBody>
          <a:bodyPr wrap="square" rtlCol="0">
            <a:spAutoFit/>
          </a:bodyPr>
          <a:lstStyle/>
          <a:p>
            <a:r>
              <a:rPr lang="zh-CN" altLang="en-US" dirty="0"/>
              <a:t>压电阀结构的智能阀门定位器通常是采用两个</a:t>
            </a:r>
            <a:r>
              <a:rPr lang="en-US" altLang="zh-CN" dirty="0"/>
              <a:t>P20</a:t>
            </a:r>
            <a:r>
              <a:rPr lang="zh-CN" altLang="en-US" dirty="0"/>
              <a:t>系列压电阀组件</a:t>
            </a:r>
            <a:r>
              <a:rPr lang="en-US" altLang="zh-CN" dirty="0"/>
              <a:t>(PV1</a:t>
            </a:r>
            <a:r>
              <a:rPr lang="zh-CN" altLang="en-US" dirty="0"/>
              <a:t>、</a:t>
            </a:r>
            <a:r>
              <a:rPr lang="en-US" altLang="zh-CN" dirty="0"/>
              <a:t>PV2)</a:t>
            </a:r>
            <a:r>
              <a:rPr lang="zh-CN" altLang="en-US" dirty="0"/>
              <a:t>和两个单向阀</a:t>
            </a:r>
            <a:r>
              <a:rPr lang="en-US" altLang="zh-CN" dirty="0"/>
              <a:t>(RV1</a:t>
            </a:r>
            <a:r>
              <a:rPr lang="zh-CN" altLang="en-US" dirty="0"/>
              <a:t>、</a:t>
            </a:r>
            <a:r>
              <a:rPr lang="en-US" altLang="zh-CN" dirty="0"/>
              <a:t>RV2)</a:t>
            </a:r>
            <a:r>
              <a:rPr lang="zh-CN" altLang="en-US" dirty="0"/>
              <a:t>组成气动部件，如图 </a:t>
            </a:r>
            <a:r>
              <a:rPr lang="en-US" altLang="zh-CN" dirty="0"/>
              <a:t>(c)</a:t>
            </a:r>
            <a:r>
              <a:rPr lang="zh-CN" altLang="en-US" dirty="0"/>
              <a:t>所示。气动组件可有三种气路逻辑状态：</a:t>
            </a:r>
            <a:br>
              <a:rPr lang="zh-CN" altLang="en-US" dirty="0"/>
            </a:br>
            <a:r>
              <a:rPr lang="en-US" altLang="zh-CN" dirty="0"/>
              <a:t>PV1</a:t>
            </a:r>
            <a:r>
              <a:rPr lang="zh-CN" altLang="en-US" dirty="0"/>
              <a:t>通电、</a:t>
            </a:r>
            <a:r>
              <a:rPr lang="en-US" altLang="zh-CN" dirty="0"/>
              <a:t>PV2</a:t>
            </a:r>
            <a:r>
              <a:rPr lang="zh-CN" altLang="en-US" dirty="0"/>
              <a:t>通电、</a:t>
            </a:r>
            <a:r>
              <a:rPr lang="en-US" altLang="zh-CN" dirty="0"/>
              <a:t>RV1</a:t>
            </a:r>
            <a:r>
              <a:rPr lang="zh-CN" altLang="en-US" dirty="0"/>
              <a:t>打开、</a:t>
            </a:r>
            <a:r>
              <a:rPr lang="en-US" altLang="zh-CN" dirty="0"/>
              <a:t>RV2</a:t>
            </a:r>
            <a:r>
              <a:rPr lang="zh-CN" altLang="en-US" dirty="0"/>
              <a:t>关闭：输出气压信号到控制阀气动执行机构，如图</a:t>
            </a:r>
            <a:r>
              <a:rPr lang="en-US" altLang="zh-CN" dirty="0"/>
              <a:t>2c</a:t>
            </a:r>
            <a:r>
              <a:rPr lang="zh-CN" altLang="en-US" dirty="0"/>
              <a:t>；</a:t>
            </a:r>
            <a:br>
              <a:rPr lang="zh-CN" altLang="en-US" dirty="0"/>
            </a:br>
            <a:r>
              <a:rPr lang="en-US" altLang="zh-CN" dirty="0"/>
              <a:t>PV1</a:t>
            </a:r>
            <a:r>
              <a:rPr lang="zh-CN" altLang="en-US" dirty="0"/>
              <a:t>断电、</a:t>
            </a:r>
            <a:r>
              <a:rPr lang="en-US" altLang="zh-CN" dirty="0"/>
              <a:t>PV2</a:t>
            </a:r>
            <a:r>
              <a:rPr lang="zh-CN" altLang="en-US" dirty="0"/>
              <a:t>通电、</a:t>
            </a:r>
            <a:r>
              <a:rPr lang="en-US" altLang="zh-CN" dirty="0"/>
              <a:t>RV1</a:t>
            </a:r>
            <a:r>
              <a:rPr lang="zh-CN" altLang="en-US" dirty="0"/>
              <a:t>关闭、</a:t>
            </a:r>
            <a:r>
              <a:rPr lang="en-US" altLang="zh-CN" dirty="0"/>
              <a:t>RV2</a:t>
            </a:r>
            <a:r>
              <a:rPr lang="zh-CN" altLang="en-US" dirty="0"/>
              <a:t>关闭：气路封闭状态，封住通到气动执行机构的气路气压；</a:t>
            </a:r>
            <a:br>
              <a:rPr lang="zh-CN" altLang="en-US" dirty="0"/>
            </a:br>
            <a:r>
              <a:rPr lang="en-US" altLang="zh-CN" dirty="0"/>
              <a:t>PV1</a:t>
            </a:r>
            <a:r>
              <a:rPr lang="zh-CN" altLang="en-US" dirty="0"/>
              <a:t>断电、</a:t>
            </a:r>
            <a:r>
              <a:rPr lang="en-US" altLang="zh-CN" dirty="0"/>
              <a:t>PV2</a:t>
            </a:r>
            <a:r>
              <a:rPr lang="zh-CN" altLang="en-US" dirty="0"/>
              <a:t>断电、</a:t>
            </a:r>
            <a:r>
              <a:rPr lang="en-US" altLang="zh-CN" dirty="0"/>
              <a:t>RV1</a:t>
            </a:r>
            <a:r>
              <a:rPr lang="zh-CN" altLang="en-US" dirty="0"/>
              <a:t>关闭、</a:t>
            </a:r>
            <a:r>
              <a:rPr lang="en-US" altLang="zh-CN" dirty="0"/>
              <a:t>RV2</a:t>
            </a:r>
            <a:r>
              <a:rPr lang="zh-CN" altLang="en-US" dirty="0"/>
              <a:t>打开：排气，气动执行机构膜室经压电阀气路通大气。</a:t>
            </a:r>
          </a:p>
        </p:txBody>
      </p:sp>
      <p:pic>
        <p:nvPicPr>
          <p:cNvPr id="8" name="Picture 3">
            <a:extLst>
              <a:ext uri="{FF2B5EF4-FFF2-40B4-BE49-F238E27FC236}">
                <a16:creationId xmlns:a16="http://schemas.microsoft.com/office/drawing/2014/main" id="{324B5355-73B1-417B-8396-EFC3A7689F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8364" y="1714588"/>
            <a:ext cx="4425950" cy="464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90446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电磁阀双电控两位五通工作原理？</a:t>
            </a:r>
            <a:endParaRPr lang="zh-CN" altLang="en-US" b="1"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25</a:t>
            </a:fld>
            <a:endParaRPr lang="en-US" dirty="0"/>
          </a:p>
        </p:txBody>
      </p:sp>
      <p:pic>
        <p:nvPicPr>
          <p:cNvPr id="8" name="图片 7">
            <a:extLst>
              <a:ext uri="{FF2B5EF4-FFF2-40B4-BE49-F238E27FC236}">
                <a16:creationId xmlns:a16="http://schemas.microsoft.com/office/drawing/2014/main" id="{F4F5A786-ABC1-04BF-6B0E-A52BAEC68E28}"/>
              </a:ext>
            </a:extLst>
          </p:cNvPr>
          <p:cNvPicPr>
            <a:picLocks noChangeAspect="1"/>
          </p:cNvPicPr>
          <p:nvPr/>
        </p:nvPicPr>
        <p:blipFill>
          <a:blip r:embed="rId3"/>
          <a:stretch>
            <a:fillRect/>
          </a:stretch>
        </p:blipFill>
        <p:spPr>
          <a:xfrm>
            <a:off x="2350568" y="1691322"/>
            <a:ext cx="6688925" cy="5052542"/>
          </a:xfrm>
          <a:prstGeom prst="rect">
            <a:avLst/>
          </a:prstGeom>
        </p:spPr>
      </p:pic>
      <p:sp>
        <p:nvSpPr>
          <p:cNvPr id="4" name="文本占位符 3">
            <a:extLst>
              <a:ext uri="{FF2B5EF4-FFF2-40B4-BE49-F238E27FC236}">
                <a16:creationId xmlns:a16="http://schemas.microsoft.com/office/drawing/2014/main" id="{28721297-6276-473B-A160-EE9578A7FA42}"/>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18697235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电磁阀双电控两位五通工作原理？</a:t>
            </a:r>
            <a:endParaRPr lang="zh-CN" altLang="en-US"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26</a:t>
            </a:fld>
            <a:endParaRPr lang="en-US" dirty="0"/>
          </a:p>
        </p:txBody>
      </p:sp>
      <p:pic>
        <p:nvPicPr>
          <p:cNvPr id="4" name="图片 3">
            <a:extLst>
              <a:ext uri="{FF2B5EF4-FFF2-40B4-BE49-F238E27FC236}">
                <a16:creationId xmlns:a16="http://schemas.microsoft.com/office/drawing/2014/main" id="{B06F2257-E07D-5BD2-ABB6-3413B3FEA2B2}"/>
              </a:ext>
            </a:extLst>
          </p:cNvPr>
          <p:cNvPicPr>
            <a:picLocks noChangeAspect="1"/>
          </p:cNvPicPr>
          <p:nvPr/>
        </p:nvPicPr>
        <p:blipFill>
          <a:blip r:embed="rId3"/>
          <a:stretch>
            <a:fillRect/>
          </a:stretch>
        </p:blipFill>
        <p:spPr>
          <a:xfrm>
            <a:off x="2205317" y="1781083"/>
            <a:ext cx="6503746" cy="4687979"/>
          </a:xfrm>
          <a:prstGeom prst="rect">
            <a:avLst/>
          </a:prstGeom>
        </p:spPr>
      </p:pic>
      <p:sp>
        <p:nvSpPr>
          <p:cNvPr id="7" name="文本占位符 6">
            <a:extLst>
              <a:ext uri="{FF2B5EF4-FFF2-40B4-BE49-F238E27FC236}">
                <a16:creationId xmlns:a16="http://schemas.microsoft.com/office/drawing/2014/main" id="{0A0DAE2F-9C54-4993-A1E3-A53A0067397C}"/>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6577292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电磁阀双电控两位五通工作原理？</a:t>
            </a:r>
            <a:endParaRPr lang="zh-CN" altLang="en-US"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27</a:t>
            </a:fld>
            <a:endParaRPr lang="en-US" dirty="0"/>
          </a:p>
        </p:txBody>
      </p:sp>
      <p:pic>
        <p:nvPicPr>
          <p:cNvPr id="7" name="图片 6">
            <a:extLst>
              <a:ext uri="{FF2B5EF4-FFF2-40B4-BE49-F238E27FC236}">
                <a16:creationId xmlns:a16="http://schemas.microsoft.com/office/drawing/2014/main" id="{10D2362E-F733-899B-0688-F958F02CE6C0}"/>
              </a:ext>
            </a:extLst>
          </p:cNvPr>
          <p:cNvPicPr>
            <a:picLocks noChangeAspect="1"/>
          </p:cNvPicPr>
          <p:nvPr/>
        </p:nvPicPr>
        <p:blipFill>
          <a:blip r:embed="rId3"/>
          <a:stretch>
            <a:fillRect/>
          </a:stretch>
        </p:blipFill>
        <p:spPr>
          <a:xfrm>
            <a:off x="1990165" y="1808797"/>
            <a:ext cx="6762242" cy="4825443"/>
          </a:xfrm>
          <a:prstGeom prst="rect">
            <a:avLst/>
          </a:prstGeom>
        </p:spPr>
      </p:pic>
      <p:sp>
        <p:nvSpPr>
          <p:cNvPr id="4" name="文本占位符 3">
            <a:extLst>
              <a:ext uri="{FF2B5EF4-FFF2-40B4-BE49-F238E27FC236}">
                <a16:creationId xmlns:a16="http://schemas.microsoft.com/office/drawing/2014/main" id="{C08F0A4D-DB31-4619-B9C1-61DB0B41D4D0}"/>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4283063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3.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简述液压传动系统的组成及作用？</a:t>
            </a:r>
            <a:endParaRPr lang="zh-CN" altLang="en-US" b="1"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28</a:t>
            </a:fld>
            <a:endParaRPr lang="en-US" dirty="0"/>
          </a:p>
        </p:txBody>
      </p:sp>
      <p:sp>
        <p:nvSpPr>
          <p:cNvPr id="4" name="文本框 3">
            <a:extLst>
              <a:ext uri="{FF2B5EF4-FFF2-40B4-BE49-F238E27FC236}">
                <a16:creationId xmlns:a16="http://schemas.microsoft.com/office/drawing/2014/main" id="{3F1AD31E-9FF7-4B46-4A91-2E9806B0D336}"/>
              </a:ext>
            </a:extLst>
          </p:cNvPr>
          <p:cNvSpPr txBox="1"/>
          <p:nvPr/>
        </p:nvSpPr>
        <p:spPr>
          <a:xfrm>
            <a:off x="1226372" y="1968649"/>
            <a:ext cx="9341366" cy="3724096"/>
          </a:xfrm>
          <a:prstGeom prst="rect">
            <a:avLst/>
          </a:prstGeom>
          <a:noFill/>
        </p:spPr>
        <p:txBody>
          <a:bodyPr wrap="square" rtlCol="0">
            <a:spAutoFit/>
          </a:bodyPr>
          <a:lstStyle/>
          <a:p>
            <a:pPr marL="342900" indent="-342900">
              <a:buFont typeface="+mj-lt"/>
              <a:buAutoNum type="arabicPeriod"/>
            </a:pPr>
            <a:r>
              <a:rPr lang="zh-CN" altLang="en-US" sz="2000" dirty="0"/>
              <a:t>原动机：为电动机，发动机，向液压系统提供机械能</a:t>
            </a:r>
            <a:endParaRPr lang="en-US" altLang="zh-CN" sz="2000" dirty="0"/>
          </a:p>
          <a:p>
            <a:pPr marL="342900" indent="-342900">
              <a:buFont typeface="+mj-lt"/>
              <a:buAutoNum type="arabicPeriod"/>
            </a:pPr>
            <a:r>
              <a:rPr lang="zh-CN" altLang="en-US" sz="2000" dirty="0"/>
              <a:t>能源部分：其功能是将电动机或发动机的机械能转化为液压能，如各类油泵。</a:t>
            </a:r>
            <a:endParaRPr lang="en-US" altLang="zh-CN" sz="2000" dirty="0"/>
          </a:p>
          <a:p>
            <a:pPr marL="342900" indent="-342900">
              <a:buFont typeface="+mj-lt"/>
              <a:buAutoNum type="arabicPeriod"/>
            </a:pPr>
            <a:r>
              <a:rPr lang="zh-CN" altLang="en-US" sz="2000" dirty="0"/>
              <a:t>执行元件部分：其功能是将液压能转化为机械能，从而带动工作部件做直线运动或旋转运动，如液压油缸和液压马达。</a:t>
            </a:r>
            <a:endParaRPr lang="en-US" altLang="zh-CN" sz="2000" dirty="0"/>
          </a:p>
          <a:p>
            <a:pPr marL="342900" indent="-342900">
              <a:buFont typeface="+mj-lt"/>
              <a:buAutoNum type="arabicPeriod"/>
            </a:pPr>
            <a:r>
              <a:rPr lang="zh-CN" altLang="en-US" sz="2000" dirty="0"/>
              <a:t>控制元件部分：其功能是调节与控制液压系统中液流的压力、流量和流动方向，以满足工作部件所需力（力矩）、速度（转速）和运动方向（循环运动）的要求。如各类压力阀、流量阀和换向阀。</a:t>
            </a:r>
            <a:endParaRPr lang="en-US" altLang="zh-CN" sz="2000" dirty="0"/>
          </a:p>
          <a:p>
            <a:pPr marL="342900" indent="-342900">
              <a:buFont typeface="+mj-lt"/>
              <a:buAutoNum type="arabicPeriod"/>
            </a:pPr>
            <a:r>
              <a:rPr lang="zh-CN" altLang="en-US" sz="2000" dirty="0"/>
              <a:t>辅助元件部分：上述三项组成部分之外的其他元件都称为辅助元件，包括油箱、油管、管接头、滤油器、蓄能器，压力表、散热器等。它们对于保证液压系统工作的可靠性和稳定性具有重要作用。</a:t>
            </a:r>
            <a:endParaRPr lang="en-US" altLang="zh-CN" sz="2000" dirty="0"/>
          </a:p>
          <a:p>
            <a:pPr marL="342900" indent="-342900">
              <a:buFont typeface="+mj-lt"/>
              <a:buAutoNum type="arabicPeriod"/>
            </a:pPr>
            <a:r>
              <a:rPr lang="zh-CN" altLang="en-US" sz="2000" dirty="0"/>
              <a:t>液压油：即传动介质</a:t>
            </a:r>
          </a:p>
          <a:p>
            <a:endParaRPr lang="zh-CN" altLang="en-US" dirty="0"/>
          </a:p>
        </p:txBody>
      </p:sp>
      <p:sp>
        <p:nvSpPr>
          <p:cNvPr id="7" name="文本占位符 6">
            <a:extLst>
              <a:ext uri="{FF2B5EF4-FFF2-40B4-BE49-F238E27FC236}">
                <a16:creationId xmlns:a16="http://schemas.microsoft.com/office/drawing/2014/main" id="{C57C393F-8632-47A8-AE86-BD045BB03D4C}"/>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3753938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F50C8C-2954-49CA-B49F-BF51A99A6ABD}"/>
              </a:ext>
            </a:extLst>
          </p:cNvPr>
          <p:cNvSpPr>
            <a:spLocks noGrp="1"/>
          </p:cNvSpPr>
          <p:nvPr>
            <p:ph type="title"/>
          </p:nvPr>
        </p:nvSpPr>
        <p:spPr>
          <a:xfrm>
            <a:off x="822325" y="786063"/>
            <a:ext cx="9746088" cy="1109301"/>
          </a:xfrm>
        </p:spPr>
        <p:txBody>
          <a:bodyPr/>
          <a:lstStyle/>
          <a:p>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4. </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选择题</a:t>
            </a:r>
            <a:b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br>
            <a:endParaRPr lang="zh-CN" altLang="en-US" b="1" dirty="0"/>
          </a:p>
        </p:txBody>
      </p:sp>
      <p:sp>
        <p:nvSpPr>
          <p:cNvPr id="4" name="文本占位符 3">
            <a:extLst>
              <a:ext uri="{FF2B5EF4-FFF2-40B4-BE49-F238E27FC236}">
                <a16:creationId xmlns:a16="http://schemas.microsoft.com/office/drawing/2014/main" id="{5699868E-F436-4A18-8B29-BA89FA159738}"/>
              </a:ext>
            </a:extLst>
          </p:cNvPr>
          <p:cNvSpPr>
            <a:spLocks noGrp="1"/>
          </p:cNvSpPr>
          <p:nvPr>
            <p:ph type="body" sz="quarter" idx="13"/>
          </p:nvPr>
        </p:nvSpPr>
        <p:spPr/>
        <p:txBody>
          <a:bodyPr/>
          <a:lstStyle/>
          <a:p>
            <a:endParaRPr lang="zh-CN" altLang="en-US"/>
          </a:p>
        </p:txBody>
      </p:sp>
      <p:sp>
        <p:nvSpPr>
          <p:cNvPr id="8" name="文本框 7">
            <a:extLst>
              <a:ext uri="{FF2B5EF4-FFF2-40B4-BE49-F238E27FC236}">
                <a16:creationId xmlns:a16="http://schemas.microsoft.com/office/drawing/2014/main" id="{48A69549-7655-4224-B637-B68CC0015539}"/>
              </a:ext>
            </a:extLst>
          </p:cNvPr>
          <p:cNvSpPr txBox="1"/>
          <p:nvPr/>
        </p:nvSpPr>
        <p:spPr>
          <a:xfrm>
            <a:off x="822325" y="2140350"/>
            <a:ext cx="9501448" cy="1477328"/>
          </a:xfrm>
          <a:prstGeom prst="rect">
            <a:avLst/>
          </a:prstGeom>
          <a:noFill/>
        </p:spPr>
        <p:txBody>
          <a:bodyPr wrap="square">
            <a:spAutoFit/>
          </a:bodyPr>
          <a:lstStyle/>
          <a:p>
            <a:pPr algn="just"/>
            <a:r>
              <a:rPr lang="en-US" altLang="zh-CN" kern="100">
                <a:latin typeface="宋体" panose="02010600030101010101" pitchFamily="2" charset="-122"/>
                <a:ea typeface="宋体" panose="02010600030101010101" pitchFamily="2" charset="-122"/>
              </a:rPr>
              <a:t>1</a:t>
            </a:r>
            <a:r>
              <a:rPr lang="zh-CN" altLang="zh-CN" sz="1800" kern="100">
                <a:effectLst/>
                <a:latin typeface="Times New Roman" panose="02020603050405020304" pitchFamily="18" charset="0"/>
                <a:ea typeface="宋体" panose="02010600030101010101" pitchFamily="2" charset="-122"/>
              </a:rPr>
              <a:t>、安全火花型防爆仪表在本质上是安全的，因此称这类仪表为本质安全防爆仪表，简称</a:t>
            </a:r>
            <a:r>
              <a:rPr lang="en-US" altLang="zh-CN" sz="1800" kern="100">
                <a:effectLst/>
                <a:latin typeface="Times New Roman" panose="02020603050405020304" pitchFamily="18" charset="0"/>
                <a:ea typeface="宋体" panose="02010600030101010101" pitchFamily="2" charset="-122"/>
              </a:rPr>
              <a:t>(</a:t>
            </a:r>
            <a:r>
              <a:rPr lang="en-US" altLang="zh-CN" sz="1800" kern="100">
                <a:solidFill>
                  <a:srgbClr val="FF0000"/>
                </a:solidFill>
                <a:effectLst/>
                <a:latin typeface="Times New Roman" panose="02020603050405020304" pitchFamily="18" charset="0"/>
                <a:ea typeface="宋体" panose="02010600030101010101" pitchFamily="2" charset="-122"/>
              </a:rPr>
              <a:t>B</a:t>
            </a:r>
            <a:r>
              <a:rPr lang="en-US" altLang="zh-CN" sz="1800" kern="100">
                <a:effectLst/>
                <a:latin typeface="Times New Roman" panose="02020603050405020304" pitchFamily="18" charset="0"/>
                <a:ea typeface="宋体" panose="02010600030101010101" pitchFamily="2" charset="-122"/>
              </a:rPr>
              <a:t>)</a:t>
            </a:r>
            <a:r>
              <a:rPr lang="zh-CN" altLang="zh-CN" sz="1800" kern="100">
                <a:effectLst/>
                <a:latin typeface="Times New Roman" panose="02020603050405020304" pitchFamily="18" charset="0"/>
                <a:ea typeface="宋体" panose="02010600030101010101" pitchFamily="2" charset="-122"/>
              </a:rPr>
              <a:t>。</a:t>
            </a:r>
          </a:p>
          <a:p>
            <a:pPr algn="just"/>
            <a:r>
              <a:rPr lang="en-US" altLang="zh-CN" sz="1800" kern="100">
                <a:effectLst/>
                <a:latin typeface="宋体" panose="02010600030101010101" pitchFamily="2" charset="-122"/>
                <a:ea typeface="宋体" panose="02010600030101010101" pitchFamily="2" charset="-122"/>
              </a:rPr>
              <a:t>     A</a:t>
            </a:r>
            <a:r>
              <a:rPr lang="zh-CN" altLang="zh-CN" sz="1800" kern="100">
                <a:effectLst/>
                <a:latin typeface="Times New Roman" panose="02020603050405020304" pitchFamily="18" charset="0"/>
                <a:ea typeface="宋体" panose="02010600030101010101" pitchFamily="2" charset="-122"/>
              </a:rPr>
              <a:t>、隔爆仪表  </a:t>
            </a:r>
            <a:r>
              <a:rPr lang="en-US" altLang="zh-CN" sz="1800" kern="100">
                <a:effectLst/>
                <a:latin typeface="Times New Roman" panose="02020603050405020304" pitchFamily="18" charset="0"/>
                <a:ea typeface="宋体" panose="02010600030101010101" pitchFamily="2" charset="-122"/>
              </a:rPr>
              <a:t>  B</a:t>
            </a:r>
            <a:r>
              <a:rPr lang="zh-CN" altLang="zh-CN" sz="1800" kern="100">
                <a:effectLst/>
                <a:latin typeface="Times New Roman" panose="02020603050405020304" pitchFamily="18" charset="0"/>
                <a:ea typeface="宋体" panose="02010600030101010101" pitchFamily="2" charset="-122"/>
              </a:rPr>
              <a:t>、本安仪表</a:t>
            </a:r>
            <a:r>
              <a:rPr lang="en-US" altLang="zh-CN" sz="1800" kern="100">
                <a:effectLst/>
                <a:latin typeface="Times New Roman" panose="02020603050405020304" pitchFamily="18" charset="0"/>
                <a:ea typeface="宋体" panose="02010600030101010101" pitchFamily="2" charset="-122"/>
              </a:rPr>
              <a:t>   C</a:t>
            </a:r>
            <a:r>
              <a:rPr lang="zh-CN" altLang="zh-CN" sz="1800" kern="100">
                <a:effectLst/>
                <a:latin typeface="Times New Roman" panose="02020603050405020304" pitchFamily="18" charset="0"/>
                <a:ea typeface="宋体" panose="02010600030101010101" pitchFamily="2" charset="-122"/>
              </a:rPr>
              <a:t>、无火花仪表</a:t>
            </a:r>
            <a:r>
              <a:rPr lang="en-US" altLang="zh-CN" sz="1800" kern="100">
                <a:effectLst/>
                <a:latin typeface="Times New Roman" panose="02020603050405020304" pitchFamily="18" charset="0"/>
                <a:ea typeface="宋体" panose="02010600030101010101" pitchFamily="2" charset="-122"/>
              </a:rPr>
              <a:t>  D</a:t>
            </a:r>
            <a:r>
              <a:rPr lang="zh-CN" altLang="zh-CN" sz="1800" kern="100">
                <a:effectLst/>
                <a:latin typeface="Times New Roman" panose="02020603050405020304" pitchFamily="18" charset="0"/>
                <a:ea typeface="宋体" panose="02010600030101010101" pitchFamily="2" charset="-122"/>
              </a:rPr>
              <a:t>、防爆仪表</a:t>
            </a:r>
          </a:p>
          <a:p>
            <a:pPr algn="just"/>
            <a:r>
              <a:rPr lang="en-US" altLang="zh-CN" kern="100">
                <a:latin typeface="宋体" panose="02010600030101010101" pitchFamily="2" charset="-122"/>
                <a:ea typeface="宋体" panose="02010600030101010101" pitchFamily="2" charset="-122"/>
              </a:rPr>
              <a:t>2</a:t>
            </a:r>
            <a:r>
              <a:rPr lang="zh-CN" altLang="zh-CN" sz="1800" kern="100">
                <a:effectLst/>
                <a:latin typeface="Times New Roman" panose="02020603050405020304" pitchFamily="18" charset="0"/>
                <a:ea typeface="宋体" panose="02010600030101010101" pitchFamily="2" charset="-122"/>
              </a:rPr>
              <a:t>、安全火花型防爆仪表的防爆系统不仅在危险场所使用了</a:t>
            </a:r>
            <a:r>
              <a:rPr lang="en-US" altLang="zh-CN" sz="1800" kern="100">
                <a:effectLst/>
                <a:latin typeface="Times New Roman" panose="02020603050405020304" pitchFamily="18" charset="0"/>
                <a:ea typeface="宋体" panose="02010600030101010101" pitchFamily="2" charset="-122"/>
              </a:rPr>
              <a:t>(</a:t>
            </a:r>
            <a:r>
              <a:rPr lang="en-US" altLang="zh-CN" sz="1800" kern="100">
                <a:solidFill>
                  <a:srgbClr val="FF0000"/>
                </a:solidFill>
                <a:effectLst/>
                <a:latin typeface="Times New Roman" panose="02020603050405020304" pitchFamily="18" charset="0"/>
                <a:ea typeface="宋体" panose="02010600030101010101" pitchFamily="2" charset="-122"/>
              </a:rPr>
              <a:t>C</a:t>
            </a:r>
            <a:r>
              <a:rPr lang="en-US" altLang="zh-CN" sz="1800" kern="100">
                <a:effectLst/>
                <a:latin typeface="Times New Roman" panose="02020603050405020304" pitchFamily="18" charset="0"/>
                <a:ea typeface="宋体" panose="02010600030101010101" pitchFamily="2" charset="-122"/>
              </a:rPr>
              <a:t>)</a:t>
            </a:r>
            <a:r>
              <a:rPr lang="zh-CN" altLang="zh-CN" sz="1800" kern="100">
                <a:effectLst/>
                <a:latin typeface="Times New Roman" panose="02020603050405020304" pitchFamily="18" charset="0"/>
                <a:ea typeface="宋体" panose="02010600030101010101" pitchFamily="2" charset="-122"/>
              </a:rPr>
              <a:t>，而且在控制室仪表与危险场所仪表之间设置了安全栅。</a:t>
            </a:r>
          </a:p>
          <a:p>
            <a:pPr algn="just"/>
            <a:r>
              <a:rPr lang="en-US" altLang="zh-CN" sz="1800" kern="100">
                <a:effectLst/>
                <a:latin typeface="宋体" panose="02010600030101010101" pitchFamily="2" charset="-122"/>
                <a:ea typeface="宋体" panose="02010600030101010101" pitchFamily="2" charset="-122"/>
              </a:rPr>
              <a:t>     A</a:t>
            </a:r>
            <a:r>
              <a:rPr lang="zh-CN" altLang="zh-CN" sz="1800" kern="100">
                <a:effectLst/>
                <a:latin typeface="Times New Roman" panose="02020603050405020304" pitchFamily="18" charset="0"/>
                <a:ea typeface="宋体" panose="02010600030101010101" pitchFamily="2" charset="-122"/>
              </a:rPr>
              <a:t>、隔爆仪表</a:t>
            </a:r>
            <a:r>
              <a:rPr lang="en-US" altLang="zh-CN" sz="1800" kern="100">
                <a:effectLst/>
                <a:latin typeface="Times New Roman" panose="02020603050405020304" pitchFamily="18" charset="0"/>
                <a:ea typeface="宋体" panose="02010600030101010101" pitchFamily="2" charset="-122"/>
              </a:rPr>
              <a:t>      B</a:t>
            </a:r>
            <a:r>
              <a:rPr lang="zh-CN" altLang="zh-CN" sz="1800" kern="100">
                <a:effectLst/>
                <a:latin typeface="Times New Roman" panose="02020603050405020304" pitchFamily="18" charset="0"/>
                <a:ea typeface="宋体" panose="02010600030101010101" pitchFamily="2" charset="-122"/>
              </a:rPr>
              <a:t>、无火花仪表</a:t>
            </a:r>
            <a:r>
              <a:rPr lang="en-US" altLang="zh-CN" sz="1800" kern="100">
                <a:effectLst/>
                <a:latin typeface="Times New Roman" panose="02020603050405020304" pitchFamily="18" charset="0"/>
                <a:ea typeface="宋体" panose="02010600030101010101" pitchFamily="2" charset="-122"/>
              </a:rPr>
              <a:t>     C</a:t>
            </a:r>
            <a:r>
              <a:rPr lang="zh-CN" altLang="zh-CN" sz="1800" kern="100">
                <a:effectLst/>
                <a:latin typeface="Times New Roman" panose="02020603050405020304" pitchFamily="18" charset="0"/>
                <a:ea typeface="宋体" panose="02010600030101010101" pitchFamily="2" charset="-122"/>
              </a:rPr>
              <a:t>、本安仪表</a:t>
            </a:r>
            <a:r>
              <a:rPr lang="en-US" altLang="zh-CN" sz="1800" kern="100">
                <a:effectLst/>
                <a:latin typeface="Times New Roman" panose="02020603050405020304" pitchFamily="18" charset="0"/>
                <a:ea typeface="宋体" panose="02010600030101010101" pitchFamily="2" charset="-122"/>
              </a:rPr>
              <a:t>     D</a:t>
            </a:r>
            <a:r>
              <a:rPr lang="zh-CN" altLang="zh-CN" sz="1800" kern="100">
                <a:effectLst/>
                <a:latin typeface="Times New Roman" panose="02020603050405020304" pitchFamily="18" charset="0"/>
                <a:ea typeface="宋体" panose="02010600030101010101" pitchFamily="2" charset="-122"/>
              </a:rPr>
              <a:t>、防爆仪表</a:t>
            </a:r>
            <a:endParaRPr lang="zh-CN" altLang="zh-CN" sz="18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5579960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第五次作业</a:t>
            </a:r>
          </a:p>
        </p:txBody>
      </p:sp>
      <p:sp>
        <p:nvSpPr>
          <p:cNvPr id="5" name="灯片编号占位符 4"/>
          <p:cNvSpPr>
            <a:spLocks noGrp="1"/>
          </p:cNvSpPr>
          <p:nvPr>
            <p:ph type="sldNum" sz="quarter" idx="12"/>
          </p:nvPr>
        </p:nvSpPr>
        <p:spPr/>
        <p:txBody>
          <a:bodyPr/>
          <a:lstStyle/>
          <a:p>
            <a:fld id="{4FAB73BC-B049-4115-A692-8D63A059BFB8}" type="slidenum">
              <a:rPr lang="en-US" smtClean="0"/>
              <a:pPr/>
              <a:t>30</a:t>
            </a:fld>
            <a:endParaRPr lang="en-US" dirty="0"/>
          </a:p>
        </p:txBody>
      </p:sp>
    </p:spTree>
    <p:extLst>
      <p:ext uri="{BB962C8B-B14F-4D97-AF65-F5344CB8AC3E}">
        <p14:creationId xmlns:p14="http://schemas.microsoft.com/office/powerpoint/2010/main" val="2548117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en-US" sz="1800" b="1" kern="100" dirty="0">
                <a:effectLst/>
                <a:latin typeface="Times New Roman" panose="02020603050405020304" pitchFamily="18" charset="0"/>
                <a:ea typeface="宋体" panose="02010600030101010101" pitchFamily="2" charset="-122"/>
                <a:cs typeface="Times New Roman" panose="02020603050405020304" pitchFamily="18" charset="0"/>
              </a:rPr>
              <a:t>简述液压系统中泵和马达的功能，并简述有什么不同</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31</a:t>
            </a:fld>
            <a:endParaRPr lang="en-US" dirty="0"/>
          </a:p>
        </p:txBody>
      </p:sp>
      <p:sp>
        <p:nvSpPr>
          <p:cNvPr id="4" name="文本框 3">
            <a:extLst>
              <a:ext uri="{FF2B5EF4-FFF2-40B4-BE49-F238E27FC236}">
                <a16:creationId xmlns:a16="http://schemas.microsoft.com/office/drawing/2014/main" id="{3F1AD31E-9FF7-4B46-4A91-2E9806B0D336}"/>
              </a:ext>
            </a:extLst>
          </p:cNvPr>
          <p:cNvSpPr txBox="1"/>
          <p:nvPr/>
        </p:nvSpPr>
        <p:spPr>
          <a:xfrm>
            <a:off x="1226372" y="1968649"/>
            <a:ext cx="9187030" cy="937564"/>
          </a:xfrm>
          <a:prstGeom prst="rect">
            <a:avLst/>
          </a:prstGeom>
          <a:noFill/>
        </p:spPr>
        <p:txBody>
          <a:bodyPr wrap="square" rtlCol="0">
            <a:spAutoFit/>
          </a:bodyPr>
          <a:lstStyle/>
          <a:p>
            <a:pPr marL="808038" lvl="2" indent="-177800" eaLnBrk="1" hangingPunct="1">
              <a:lnSpc>
                <a:spcPct val="110000"/>
              </a:lnSpc>
            </a:pPr>
            <a:r>
              <a:rPr lang="zh-CN" altLang="en-US" sz="2600" dirty="0">
                <a:latin typeface="宋体" panose="02010600030101010101" pitchFamily="2" charset="-122"/>
              </a:rPr>
              <a:t>泵</a:t>
            </a:r>
            <a:r>
              <a:rPr lang="en-US" altLang="zh-CN" sz="2600" dirty="0">
                <a:latin typeface="宋体" panose="02010600030101010101" pitchFamily="2" charset="-122"/>
              </a:rPr>
              <a:t>:</a:t>
            </a:r>
            <a:r>
              <a:rPr lang="zh-CN" altLang="en-US" sz="2600" dirty="0">
                <a:latin typeface="宋体" panose="02010600030101010101" pitchFamily="2" charset="-122"/>
              </a:rPr>
              <a:t>用电机带动</a:t>
            </a:r>
            <a:r>
              <a:rPr lang="en-US" altLang="zh-CN" sz="2600" dirty="0">
                <a:latin typeface="宋体" panose="02010600030101010101" pitchFamily="2" charset="-122"/>
              </a:rPr>
              <a:t>,</a:t>
            </a:r>
            <a:r>
              <a:rPr lang="zh-CN" altLang="en-US" sz="2600" dirty="0">
                <a:latin typeface="宋体" panose="02010600030101010101" pitchFamily="2" charset="-122"/>
              </a:rPr>
              <a:t>输出压力能（压力和流量）</a:t>
            </a:r>
            <a:endParaRPr lang="en-US" altLang="zh-CN" sz="2600" dirty="0">
              <a:latin typeface="宋体" panose="02010600030101010101" pitchFamily="2" charset="-122"/>
            </a:endParaRPr>
          </a:p>
          <a:p>
            <a:pPr marL="808038" lvl="2" indent="-177800" eaLnBrk="1" hangingPunct="1">
              <a:lnSpc>
                <a:spcPct val="110000"/>
              </a:lnSpc>
            </a:pPr>
            <a:r>
              <a:rPr lang="zh-CN" altLang="en-US" sz="2600" dirty="0">
                <a:latin typeface="宋体" panose="02010600030101010101" pitchFamily="2" charset="-122"/>
              </a:rPr>
              <a:t>马达</a:t>
            </a:r>
            <a:r>
              <a:rPr lang="en-US" altLang="zh-CN" sz="2600" dirty="0">
                <a:latin typeface="宋体" panose="02010600030101010101" pitchFamily="2" charset="-122"/>
              </a:rPr>
              <a:t>:</a:t>
            </a:r>
            <a:r>
              <a:rPr lang="zh-CN" altLang="en-US" sz="2600" dirty="0">
                <a:latin typeface="宋体" panose="02010600030101010101" pitchFamily="2" charset="-122"/>
              </a:rPr>
              <a:t>输入压力油</a:t>
            </a:r>
            <a:r>
              <a:rPr lang="en-US" altLang="zh-CN" sz="2600" dirty="0">
                <a:latin typeface="宋体" panose="02010600030101010101" pitchFamily="2" charset="-122"/>
              </a:rPr>
              <a:t>,</a:t>
            </a:r>
            <a:r>
              <a:rPr lang="zh-CN" altLang="en-US" sz="2600" dirty="0">
                <a:latin typeface="宋体" panose="02010600030101010101" pitchFamily="2" charset="-122"/>
              </a:rPr>
              <a:t>输出机械能（转矩和转速）</a:t>
            </a:r>
            <a:endParaRPr lang="en-US" altLang="zh-CN" sz="2600" dirty="0">
              <a:latin typeface="宋体" panose="02010600030101010101" pitchFamily="2" charset="-122"/>
            </a:endParaRPr>
          </a:p>
        </p:txBody>
      </p:sp>
      <p:sp>
        <p:nvSpPr>
          <p:cNvPr id="3" name="文本框 2">
            <a:extLst>
              <a:ext uri="{FF2B5EF4-FFF2-40B4-BE49-F238E27FC236}">
                <a16:creationId xmlns:a16="http://schemas.microsoft.com/office/drawing/2014/main" id="{CE1B8A8B-A5FC-B6DF-EFF3-10A237F3AB3F}"/>
              </a:ext>
            </a:extLst>
          </p:cNvPr>
          <p:cNvSpPr txBox="1"/>
          <p:nvPr/>
        </p:nvSpPr>
        <p:spPr>
          <a:xfrm>
            <a:off x="1380707" y="3014224"/>
            <a:ext cx="9441485" cy="3112390"/>
          </a:xfrm>
          <a:prstGeom prst="rect">
            <a:avLst/>
          </a:prstGeom>
          <a:noFill/>
        </p:spPr>
        <p:txBody>
          <a:bodyPr wrap="square" rtlCol="0">
            <a:spAutoFit/>
          </a:bodyPr>
          <a:lstStyle/>
          <a:p>
            <a:pPr marL="808038" lvl="2" indent="-177800" eaLnBrk="1" hangingPunct="1">
              <a:lnSpc>
                <a:spcPct val="110000"/>
              </a:lnSpc>
            </a:pPr>
            <a:r>
              <a:rPr lang="zh-CN" altLang="en-US" sz="2000" dirty="0">
                <a:latin typeface="宋体" panose="02010600030101010101" pitchFamily="2" charset="-122"/>
              </a:rPr>
              <a:t>泵和马达的不同点 </a:t>
            </a:r>
          </a:p>
          <a:p>
            <a:pPr marL="808038" lvl="2" indent="-177800" eaLnBrk="1" hangingPunct="1">
              <a:lnSpc>
                <a:spcPct val="110000"/>
              </a:lnSpc>
            </a:pPr>
            <a:r>
              <a:rPr lang="en-US" altLang="zh-CN" sz="2000" dirty="0">
                <a:latin typeface="宋体" panose="02010600030101010101" pitchFamily="2" charset="-122"/>
              </a:rPr>
              <a:t>1</a:t>
            </a:r>
            <a:r>
              <a:rPr lang="zh-CN" altLang="en-US" sz="2000" dirty="0">
                <a:latin typeface="宋体" panose="02010600030101010101" pitchFamily="2" charset="-122"/>
              </a:rPr>
              <a:t>、泵是能源装置</a:t>
            </a:r>
            <a:r>
              <a:rPr lang="en-US" altLang="zh-CN" sz="2000" dirty="0">
                <a:latin typeface="宋体" panose="02010600030101010101" pitchFamily="2" charset="-122"/>
              </a:rPr>
              <a:t>,</a:t>
            </a:r>
            <a:r>
              <a:rPr lang="zh-CN" altLang="en-US" sz="2000" dirty="0">
                <a:latin typeface="宋体" panose="02010600030101010101" pitchFamily="2" charset="-122"/>
              </a:rPr>
              <a:t>马达是执行元件</a:t>
            </a:r>
            <a:r>
              <a:rPr lang="en-US" altLang="zh-CN" sz="2000" dirty="0">
                <a:latin typeface="宋体" panose="02010600030101010101" pitchFamily="2" charset="-122"/>
              </a:rPr>
              <a:t>. </a:t>
            </a:r>
          </a:p>
          <a:p>
            <a:pPr marL="808038" lvl="2" indent="-177800" eaLnBrk="1" hangingPunct="1">
              <a:lnSpc>
                <a:spcPct val="110000"/>
              </a:lnSpc>
            </a:pPr>
            <a:r>
              <a:rPr lang="en-US" altLang="zh-CN" sz="2000" dirty="0">
                <a:latin typeface="宋体" panose="02010600030101010101" pitchFamily="2" charset="-122"/>
              </a:rPr>
              <a:t>2</a:t>
            </a:r>
            <a:r>
              <a:rPr lang="zh-CN" altLang="en-US" sz="2000" dirty="0">
                <a:latin typeface="宋体" panose="02010600030101010101" pitchFamily="2" charset="-122"/>
              </a:rPr>
              <a:t>、泵的吸油腔一般为真空</a:t>
            </a:r>
            <a:r>
              <a:rPr lang="en-US" altLang="zh-CN" sz="2000" dirty="0">
                <a:latin typeface="宋体" panose="02010600030101010101" pitchFamily="2" charset="-122"/>
              </a:rPr>
              <a:t>(</a:t>
            </a:r>
            <a:r>
              <a:rPr lang="zh-CN" altLang="en-US" sz="2000" dirty="0">
                <a:latin typeface="宋体" panose="02010600030101010101" pitchFamily="2" charset="-122"/>
              </a:rPr>
              <a:t>为改善吸油性和抗气蚀耐力</a:t>
            </a:r>
            <a:r>
              <a:rPr lang="en-US" altLang="zh-CN" sz="2000" dirty="0">
                <a:latin typeface="宋体" panose="02010600030101010101" pitchFamily="2" charset="-122"/>
              </a:rPr>
              <a:t>),</a:t>
            </a:r>
            <a:r>
              <a:rPr lang="zh-CN" altLang="en-US" sz="2000" dirty="0">
                <a:latin typeface="宋体" panose="02010600030101010101" pitchFamily="2" charset="-122"/>
              </a:rPr>
              <a:t>一般进口尺寸大于出口</a:t>
            </a:r>
            <a:r>
              <a:rPr lang="en-US" altLang="zh-CN" sz="2000" dirty="0">
                <a:latin typeface="宋体" panose="02010600030101010101" pitchFamily="2" charset="-122"/>
              </a:rPr>
              <a:t>,</a:t>
            </a:r>
            <a:r>
              <a:rPr lang="zh-CN" altLang="en-US" sz="2000" dirty="0">
                <a:latin typeface="宋体" panose="02010600030101010101" pitchFamily="2" charset="-122"/>
              </a:rPr>
              <a:t>马达排油腔的压力稍高于大气压力</a:t>
            </a:r>
            <a:r>
              <a:rPr lang="en-US" altLang="zh-CN" sz="2000" dirty="0">
                <a:latin typeface="宋体" panose="02010600030101010101" pitchFamily="2" charset="-122"/>
              </a:rPr>
              <a:t>,</a:t>
            </a:r>
            <a:r>
              <a:rPr lang="zh-CN" altLang="en-US" sz="2000" dirty="0">
                <a:latin typeface="宋体" panose="02010600030101010101" pitchFamily="2" charset="-122"/>
              </a:rPr>
              <a:t>没有特殊要求</a:t>
            </a:r>
            <a:r>
              <a:rPr lang="en-US" altLang="zh-CN" sz="2000" dirty="0">
                <a:latin typeface="宋体" panose="02010600030101010101" pitchFamily="2" charset="-122"/>
              </a:rPr>
              <a:t>,</a:t>
            </a:r>
            <a:r>
              <a:rPr lang="zh-CN" altLang="en-US" sz="2000" dirty="0">
                <a:latin typeface="宋体" panose="02010600030101010101" pitchFamily="2" charset="-122"/>
              </a:rPr>
              <a:t>可以进出油口尺寸相同</a:t>
            </a:r>
            <a:r>
              <a:rPr lang="en-US" altLang="zh-CN" sz="2000" dirty="0">
                <a:latin typeface="宋体" panose="02010600030101010101" pitchFamily="2" charset="-122"/>
              </a:rPr>
              <a:t>. </a:t>
            </a:r>
          </a:p>
          <a:p>
            <a:pPr marL="808038" lvl="2" indent="-177800" eaLnBrk="1" hangingPunct="1">
              <a:lnSpc>
                <a:spcPct val="110000"/>
              </a:lnSpc>
            </a:pPr>
            <a:r>
              <a:rPr lang="en-US" altLang="zh-CN" sz="2000" dirty="0">
                <a:latin typeface="宋体" panose="02010600030101010101" pitchFamily="2" charset="-122"/>
              </a:rPr>
              <a:t>3</a:t>
            </a:r>
            <a:r>
              <a:rPr lang="zh-CN" altLang="en-US" sz="2000" dirty="0">
                <a:latin typeface="宋体" panose="02010600030101010101" pitchFamily="2" charset="-122"/>
              </a:rPr>
              <a:t>、泵的结构需保证自吸能力</a:t>
            </a:r>
            <a:r>
              <a:rPr lang="en-US" altLang="zh-CN" sz="2000" dirty="0">
                <a:latin typeface="宋体" panose="02010600030101010101" pitchFamily="2" charset="-122"/>
              </a:rPr>
              <a:t>,</a:t>
            </a:r>
            <a:r>
              <a:rPr lang="zh-CN" altLang="en-US" sz="2000" dirty="0">
                <a:latin typeface="宋体" panose="02010600030101010101" pitchFamily="2" charset="-122"/>
              </a:rPr>
              <a:t>而马达无此要求</a:t>
            </a:r>
            <a:r>
              <a:rPr lang="en-US" altLang="zh-CN" sz="2000" dirty="0">
                <a:latin typeface="宋体" panose="02010600030101010101" pitchFamily="2" charset="-122"/>
              </a:rPr>
              <a:t>. </a:t>
            </a:r>
          </a:p>
          <a:p>
            <a:pPr marL="808038" lvl="2" indent="-177800" eaLnBrk="1" hangingPunct="1">
              <a:lnSpc>
                <a:spcPct val="110000"/>
              </a:lnSpc>
            </a:pPr>
            <a:r>
              <a:rPr lang="en-US" altLang="zh-CN" sz="2000" dirty="0">
                <a:latin typeface="宋体" panose="02010600030101010101" pitchFamily="2" charset="-122"/>
              </a:rPr>
              <a:t>4</a:t>
            </a:r>
            <a:r>
              <a:rPr lang="zh-CN" altLang="en-US" sz="2000" dirty="0">
                <a:latin typeface="宋体" panose="02010600030101010101" pitchFamily="2" charset="-122"/>
              </a:rPr>
              <a:t>、马达需要正反转</a:t>
            </a:r>
            <a:r>
              <a:rPr lang="en-US" altLang="zh-CN" sz="2000" dirty="0">
                <a:latin typeface="宋体" panose="02010600030101010101" pitchFamily="2" charset="-122"/>
              </a:rPr>
              <a:t>(</a:t>
            </a:r>
            <a:r>
              <a:rPr lang="zh-CN" altLang="en-US" sz="2000" dirty="0">
                <a:latin typeface="宋体" panose="02010600030101010101" pitchFamily="2" charset="-122"/>
              </a:rPr>
              <a:t>内部结构对称</a:t>
            </a:r>
            <a:r>
              <a:rPr lang="en-US" altLang="zh-CN" sz="2000" dirty="0">
                <a:latin typeface="宋体" panose="02010600030101010101" pitchFamily="2" charset="-122"/>
              </a:rPr>
              <a:t>),</a:t>
            </a:r>
            <a:r>
              <a:rPr lang="zh-CN" altLang="en-US" sz="2000" dirty="0">
                <a:latin typeface="宋体" panose="02010600030101010101" pitchFamily="2" charset="-122"/>
              </a:rPr>
              <a:t>泵一般是单向旋转</a:t>
            </a:r>
            <a:r>
              <a:rPr lang="en-US" altLang="zh-CN" sz="2000" dirty="0">
                <a:latin typeface="宋体" panose="02010600030101010101" pitchFamily="2" charset="-122"/>
              </a:rPr>
              <a:t>.</a:t>
            </a:r>
          </a:p>
          <a:p>
            <a:pPr marL="808038" lvl="2" indent="-177800" eaLnBrk="1" hangingPunct="1">
              <a:lnSpc>
                <a:spcPct val="110000"/>
              </a:lnSpc>
            </a:pPr>
            <a:r>
              <a:rPr lang="en-US" altLang="zh-CN" sz="2000" dirty="0">
                <a:latin typeface="宋体" panose="02010600030101010101" pitchFamily="2" charset="-122"/>
              </a:rPr>
              <a:t>5</a:t>
            </a:r>
            <a:r>
              <a:rPr lang="zh-CN" altLang="en-US" sz="2000" dirty="0">
                <a:latin typeface="宋体" panose="02010600030101010101" pitchFamily="2" charset="-122"/>
              </a:rPr>
              <a:t>、马达需保证在很宽的速度范围内使用</a:t>
            </a:r>
            <a:r>
              <a:rPr lang="en-US" altLang="zh-CN" sz="2000" dirty="0">
                <a:latin typeface="宋体" panose="02010600030101010101" pitchFamily="2" charset="-122"/>
              </a:rPr>
              <a:t>,</a:t>
            </a:r>
            <a:r>
              <a:rPr lang="zh-CN" altLang="en-US" sz="2000" dirty="0">
                <a:latin typeface="宋体" panose="02010600030101010101" pitchFamily="2" charset="-122"/>
              </a:rPr>
              <a:t>而泵的转速虽相对比较高</a:t>
            </a:r>
            <a:r>
              <a:rPr lang="en-US" altLang="zh-CN" sz="2000" dirty="0">
                <a:latin typeface="宋体" panose="02010600030101010101" pitchFamily="2" charset="-122"/>
              </a:rPr>
              <a:t>,</a:t>
            </a:r>
            <a:r>
              <a:rPr lang="zh-CN" altLang="en-US" sz="2000" dirty="0">
                <a:latin typeface="宋体" panose="02010600030101010101" pitchFamily="2" charset="-122"/>
              </a:rPr>
              <a:t>但变化小</a:t>
            </a:r>
            <a:r>
              <a:rPr lang="en-US" altLang="zh-CN" sz="2000" dirty="0">
                <a:latin typeface="宋体" panose="02010600030101010101" pitchFamily="2" charset="-122"/>
              </a:rPr>
              <a:t>,</a:t>
            </a:r>
            <a:r>
              <a:rPr lang="zh-CN" altLang="en-US" sz="2000" dirty="0">
                <a:latin typeface="宋体" panose="02010600030101010101" pitchFamily="2" charset="-122"/>
              </a:rPr>
              <a:t>故无此苛刻要求</a:t>
            </a:r>
            <a:r>
              <a:rPr lang="en-US" altLang="zh-CN" sz="2000" dirty="0">
                <a:latin typeface="宋体" panose="02010600030101010101" pitchFamily="2" charset="-122"/>
              </a:rPr>
              <a:t>.</a:t>
            </a:r>
          </a:p>
        </p:txBody>
      </p:sp>
      <p:sp>
        <p:nvSpPr>
          <p:cNvPr id="8" name="文本占位符 7">
            <a:extLst>
              <a:ext uri="{FF2B5EF4-FFF2-40B4-BE49-F238E27FC236}">
                <a16:creationId xmlns:a16="http://schemas.microsoft.com/office/drawing/2014/main" id="{B8845ECA-527E-4E72-8AFF-770D4779372F}"/>
              </a:ext>
            </a:extLst>
          </p:cNvPr>
          <p:cNvSpPr>
            <a:spLocks noGrp="1"/>
          </p:cNvSpPr>
          <p:nvPr>
            <p:ph type="body" sz="quarter" idx="13"/>
          </p:nvPr>
        </p:nvSpPr>
        <p:spPr/>
        <p:txBody>
          <a:bodyPr/>
          <a:lstStyle/>
          <a:p>
            <a:endParaRPr lang="zh-CN" altLang="en-US"/>
          </a:p>
        </p:txBody>
      </p:sp>
    </p:spTree>
    <p:extLst>
      <p:ext uri="{BB962C8B-B14F-4D97-AF65-F5344CB8AC3E}">
        <p14:creationId xmlns:p14="http://schemas.microsoft.com/office/powerpoint/2010/main" val="413307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285750" indent="-285750">
              <a:buFont typeface="Arial" panose="020B0604020202020204" pitchFamily="34" charset="0"/>
              <a:buChar char="•"/>
            </a:pP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简述液压系统中泵和马达的功能，并简述有什么不同？</a:t>
            </a:r>
            <a:endParaRPr lang="zh-CN" altLang="en-US" dirty="0"/>
          </a:p>
        </p:txBody>
      </p:sp>
      <p:sp>
        <p:nvSpPr>
          <p:cNvPr id="6" name="文本占位符 5"/>
          <p:cNvSpPr>
            <a:spLocks noGrp="1"/>
          </p:cNvSpPr>
          <p:nvPr>
            <p:ph type="body" sz="quarter" idx="13"/>
          </p:nvPr>
        </p:nvSpPr>
        <p:spPr/>
        <p:txBody>
          <a:bodyPr/>
          <a:lstStyle/>
          <a:p>
            <a:r>
              <a:rPr lang="en-US" altLang="zh-CN" dirty="0"/>
              <a:t>2024-5-29</a:t>
            </a:r>
            <a:r>
              <a:rPr lang="zh-CN" altLang="en-US" dirty="0"/>
              <a:t>作业</a:t>
            </a:r>
          </a:p>
        </p:txBody>
      </p:sp>
      <p:sp>
        <p:nvSpPr>
          <p:cNvPr id="5" name="灯片编号占位符 4"/>
          <p:cNvSpPr>
            <a:spLocks noGrp="1"/>
          </p:cNvSpPr>
          <p:nvPr>
            <p:ph type="sldNum" sz="quarter" idx="12"/>
          </p:nvPr>
        </p:nvSpPr>
        <p:spPr/>
        <p:txBody>
          <a:bodyPr>
            <a:normAutofit/>
          </a:bodyPr>
          <a:lstStyle/>
          <a:p>
            <a:fld id="{4FAB73BC-B049-4115-A692-8D63A059BFB8}" type="slidenum">
              <a:rPr lang="en-US" smtClean="0"/>
              <a:t>32</a:t>
            </a:fld>
            <a:endParaRPr lang="en-US" dirty="0"/>
          </a:p>
        </p:txBody>
      </p:sp>
      <p:sp>
        <p:nvSpPr>
          <p:cNvPr id="3" name="文本框 2">
            <a:extLst>
              <a:ext uri="{FF2B5EF4-FFF2-40B4-BE49-F238E27FC236}">
                <a16:creationId xmlns:a16="http://schemas.microsoft.com/office/drawing/2014/main" id="{CE1B8A8B-A5FC-B6DF-EFF3-10A237F3AB3F}"/>
              </a:ext>
            </a:extLst>
          </p:cNvPr>
          <p:cNvSpPr txBox="1"/>
          <p:nvPr/>
        </p:nvSpPr>
        <p:spPr>
          <a:xfrm>
            <a:off x="1375257" y="1872805"/>
            <a:ext cx="9441485" cy="3097964"/>
          </a:xfrm>
          <a:prstGeom prst="rect">
            <a:avLst/>
          </a:prstGeom>
          <a:noFill/>
        </p:spPr>
        <p:txBody>
          <a:bodyPr wrap="square" rtlCol="0">
            <a:spAutoFit/>
          </a:bodyPr>
          <a:lstStyle/>
          <a:p>
            <a:pPr marL="808038" lvl="2" indent="-177800" eaLnBrk="1" hangingPunct="1">
              <a:lnSpc>
                <a:spcPct val="110000"/>
              </a:lnSpc>
            </a:pPr>
            <a:r>
              <a:rPr lang="zh-CN" altLang="en-US" sz="2000" dirty="0">
                <a:latin typeface="宋体" panose="02010600030101010101" pitchFamily="2" charset="-122"/>
              </a:rPr>
              <a:t>泵和马达的不同点 </a:t>
            </a:r>
            <a:endParaRPr lang="en-US" altLang="zh-CN" sz="2000" dirty="0">
              <a:latin typeface="宋体" panose="02010600030101010101" pitchFamily="2" charset="-122"/>
            </a:endParaRPr>
          </a:p>
          <a:p>
            <a:pPr marL="808038" lvl="2" indent="-177800" eaLnBrk="1" hangingPunct="1">
              <a:lnSpc>
                <a:spcPct val="110000"/>
              </a:lnSpc>
            </a:pPr>
            <a:r>
              <a:rPr lang="en-US" altLang="zh-CN" sz="2000" dirty="0">
                <a:latin typeface="宋体" panose="02010600030101010101" pitchFamily="2" charset="-122"/>
              </a:rPr>
              <a:t>6</a:t>
            </a:r>
            <a:r>
              <a:rPr lang="zh-CN" altLang="en-US" sz="2000" dirty="0">
                <a:latin typeface="宋体" panose="02010600030101010101" pitchFamily="2" charset="-122"/>
              </a:rPr>
              <a:t>、泵</a:t>
            </a:r>
            <a:r>
              <a:rPr lang="en-US" altLang="zh-CN" sz="2000" dirty="0">
                <a:latin typeface="宋体" panose="02010600030101010101" pitchFamily="2" charset="-122"/>
              </a:rPr>
              <a:t>:</a:t>
            </a:r>
            <a:r>
              <a:rPr lang="zh-CN" altLang="en-US" sz="2000" dirty="0">
                <a:latin typeface="宋体" panose="02010600030101010101" pitchFamily="2" charset="-122"/>
              </a:rPr>
              <a:t>希望容积效率高</a:t>
            </a:r>
            <a:r>
              <a:rPr lang="en-US" altLang="zh-CN" sz="2000" dirty="0">
                <a:latin typeface="宋体" panose="02010600030101010101" pitchFamily="2" charset="-122"/>
              </a:rPr>
              <a:t>;</a:t>
            </a:r>
            <a:r>
              <a:rPr lang="zh-CN" altLang="en-US" sz="2000" dirty="0">
                <a:latin typeface="宋体" panose="02010600030101010101" pitchFamily="2" charset="-122"/>
              </a:rPr>
              <a:t>马达</a:t>
            </a:r>
            <a:r>
              <a:rPr lang="en-US" altLang="zh-CN" sz="2000" dirty="0">
                <a:latin typeface="宋体" panose="02010600030101010101" pitchFamily="2" charset="-122"/>
              </a:rPr>
              <a:t>:</a:t>
            </a:r>
            <a:r>
              <a:rPr lang="zh-CN" altLang="en-US" sz="2000" dirty="0">
                <a:latin typeface="宋体" panose="02010600030101010101" pitchFamily="2" charset="-122"/>
              </a:rPr>
              <a:t>希望机械效率高</a:t>
            </a:r>
            <a:r>
              <a:rPr lang="en-US" altLang="zh-CN" sz="2000" dirty="0">
                <a:latin typeface="宋体" panose="02010600030101010101" pitchFamily="2" charset="-122"/>
              </a:rPr>
              <a:t>. </a:t>
            </a:r>
          </a:p>
          <a:p>
            <a:pPr marL="808038" lvl="2" indent="-177800" eaLnBrk="1" hangingPunct="1">
              <a:lnSpc>
                <a:spcPct val="110000"/>
              </a:lnSpc>
            </a:pPr>
            <a:r>
              <a:rPr lang="en-US" altLang="zh-CN" sz="2000" dirty="0">
                <a:latin typeface="宋体" panose="02010600030101010101" pitchFamily="2" charset="-122"/>
              </a:rPr>
              <a:t>7</a:t>
            </a:r>
            <a:r>
              <a:rPr lang="zh-CN" altLang="en-US" sz="2000" dirty="0">
                <a:latin typeface="宋体" panose="02010600030101010101" pitchFamily="2" charset="-122"/>
              </a:rPr>
              <a:t>、叶片泵的叶片倾斜安装</a:t>
            </a:r>
            <a:r>
              <a:rPr lang="en-US" altLang="zh-CN" sz="2000" dirty="0">
                <a:latin typeface="宋体" panose="02010600030101010101" pitchFamily="2" charset="-122"/>
              </a:rPr>
              <a:t>,</a:t>
            </a:r>
            <a:r>
              <a:rPr lang="zh-CN" altLang="en-US" sz="2000" dirty="0">
                <a:latin typeface="宋体" panose="02010600030101010101" pitchFamily="2" charset="-122"/>
              </a:rPr>
              <a:t>叶片马达的叶片则径向安装</a:t>
            </a:r>
            <a:r>
              <a:rPr lang="en-US" altLang="zh-CN" sz="2000" dirty="0">
                <a:latin typeface="宋体" panose="02010600030101010101" pitchFamily="2" charset="-122"/>
              </a:rPr>
              <a:t>(</a:t>
            </a:r>
            <a:r>
              <a:rPr lang="zh-CN" altLang="en-US" sz="2000" dirty="0">
                <a:latin typeface="宋体" panose="02010600030101010101" pitchFamily="2" charset="-122"/>
              </a:rPr>
              <a:t>考虑正反转</a:t>
            </a:r>
            <a:r>
              <a:rPr lang="en-US" altLang="zh-CN" sz="2000" dirty="0">
                <a:latin typeface="宋体" panose="02010600030101010101" pitchFamily="2" charset="-122"/>
              </a:rPr>
              <a:t>). </a:t>
            </a:r>
          </a:p>
          <a:p>
            <a:pPr marL="808038" lvl="2" indent="-177800" eaLnBrk="1" hangingPunct="1">
              <a:lnSpc>
                <a:spcPct val="110000"/>
              </a:lnSpc>
            </a:pPr>
            <a:r>
              <a:rPr lang="en-US" altLang="zh-CN" sz="2000" dirty="0">
                <a:latin typeface="宋体" panose="02010600030101010101" pitchFamily="2" charset="-122"/>
              </a:rPr>
              <a:t>8</a:t>
            </a:r>
            <a:r>
              <a:rPr lang="zh-CN" altLang="en-US" sz="2000" dirty="0">
                <a:latin typeface="宋体" panose="02010600030101010101" pitchFamily="2" charset="-122"/>
              </a:rPr>
              <a:t>、液压马达的容积效率比泵低</a:t>
            </a:r>
            <a:r>
              <a:rPr lang="en-US" altLang="zh-CN" sz="2000" dirty="0">
                <a:latin typeface="宋体" panose="02010600030101010101" pitchFamily="2" charset="-122"/>
              </a:rPr>
              <a:t>,</a:t>
            </a:r>
            <a:r>
              <a:rPr lang="zh-CN" altLang="en-US" sz="2000" dirty="0">
                <a:latin typeface="宋体" panose="02010600030101010101" pitchFamily="2" charset="-122"/>
              </a:rPr>
              <a:t>通常泵的转速高</a:t>
            </a:r>
            <a:r>
              <a:rPr lang="en-US" altLang="zh-CN" sz="2000" dirty="0">
                <a:latin typeface="宋体" panose="02010600030101010101" pitchFamily="2" charset="-122"/>
              </a:rPr>
              <a:t>.</a:t>
            </a:r>
            <a:r>
              <a:rPr lang="zh-CN" altLang="en-US" sz="2000" dirty="0">
                <a:latin typeface="宋体" panose="02010600030101010101" pitchFamily="2" charset="-122"/>
              </a:rPr>
              <a:t>而马达输出较低的转速</a:t>
            </a:r>
            <a:r>
              <a:rPr lang="en-US" altLang="zh-CN" sz="2000" dirty="0">
                <a:latin typeface="宋体" panose="02010600030101010101" pitchFamily="2" charset="-122"/>
              </a:rPr>
              <a:t>. </a:t>
            </a:r>
          </a:p>
          <a:p>
            <a:pPr marL="808038" lvl="2" indent="-177800" eaLnBrk="1" hangingPunct="1">
              <a:lnSpc>
                <a:spcPct val="110000"/>
              </a:lnSpc>
            </a:pPr>
            <a:r>
              <a:rPr lang="en-US" altLang="zh-CN" sz="2000" dirty="0">
                <a:latin typeface="宋体" panose="02010600030101010101" pitchFamily="2" charset="-122"/>
              </a:rPr>
              <a:t>9</a:t>
            </a:r>
            <a:r>
              <a:rPr lang="zh-CN" altLang="en-US" sz="2000" dirty="0">
                <a:latin typeface="宋体" panose="02010600030101010101" pitchFamily="2" charset="-122"/>
              </a:rPr>
              <a:t>、泵与原动机装在一起</a:t>
            </a:r>
            <a:r>
              <a:rPr lang="en-US" altLang="zh-CN" sz="2000" dirty="0">
                <a:latin typeface="宋体" panose="02010600030101010101" pitchFamily="2" charset="-122"/>
              </a:rPr>
              <a:t>,</a:t>
            </a:r>
            <a:r>
              <a:rPr lang="zh-CN" altLang="en-US" sz="2000" dirty="0">
                <a:latin typeface="宋体" panose="02010600030101010101" pitchFamily="2" charset="-122"/>
              </a:rPr>
              <a:t>主轴不受额外的径向负载</a:t>
            </a:r>
            <a:r>
              <a:rPr lang="en-US" altLang="zh-CN" sz="2000" dirty="0">
                <a:latin typeface="宋体" panose="02010600030101010101" pitchFamily="2" charset="-122"/>
              </a:rPr>
              <a:t>.</a:t>
            </a:r>
            <a:r>
              <a:rPr lang="zh-CN" altLang="en-US" sz="2000" dirty="0">
                <a:latin typeface="宋体" panose="02010600030101010101" pitchFamily="2" charset="-122"/>
              </a:rPr>
              <a:t>而马达直接装在轮子上或与皮带</a:t>
            </a:r>
            <a:r>
              <a:rPr lang="en-US" altLang="zh-CN" sz="2000" dirty="0">
                <a:latin typeface="宋体" panose="02010600030101010101" pitchFamily="2" charset="-122"/>
              </a:rPr>
              <a:t>\</a:t>
            </a:r>
            <a:r>
              <a:rPr lang="zh-CN" altLang="en-US" sz="2000" dirty="0">
                <a:latin typeface="宋体" panose="02010600030101010101" pitchFamily="2" charset="-122"/>
              </a:rPr>
              <a:t>链轮</a:t>
            </a:r>
            <a:r>
              <a:rPr lang="en-US" altLang="zh-CN" sz="2000" dirty="0">
                <a:latin typeface="宋体" panose="02010600030101010101" pitchFamily="2" charset="-122"/>
              </a:rPr>
              <a:t>\</a:t>
            </a:r>
            <a:r>
              <a:rPr lang="zh-CN" altLang="en-US" sz="2000" dirty="0">
                <a:latin typeface="宋体" panose="02010600030101010101" pitchFamily="2" charset="-122"/>
              </a:rPr>
              <a:t>齿轮相连接时</a:t>
            </a:r>
            <a:r>
              <a:rPr lang="en-US" altLang="zh-CN" sz="2000" dirty="0">
                <a:latin typeface="宋体" panose="02010600030101010101" pitchFamily="2" charset="-122"/>
              </a:rPr>
              <a:t>,</a:t>
            </a:r>
            <a:r>
              <a:rPr lang="zh-CN" altLang="en-US" sz="2000" dirty="0">
                <a:latin typeface="宋体" panose="02010600030101010101" pitchFamily="2" charset="-122"/>
              </a:rPr>
              <a:t>主轴将受较高的径向负载</a:t>
            </a:r>
            <a:r>
              <a:rPr lang="en-US" altLang="zh-CN" sz="2000" dirty="0">
                <a:latin typeface="宋体" panose="02010600030101010101" pitchFamily="2" charset="-122"/>
              </a:rPr>
              <a:t>. </a:t>
            </a:r>
          </a:p>
          <a:p>
            <a:pPr marL="808038" lvl="2" indent="-177800" eaLnBrk="1" hangingPunct="1">
              <a:lnSpc>
                <a:spcPct val="110000"/>
              </a:lnSpc>
            </a:pPr>
            <a:r>
              <a:rPr lang="zh-CN" altLang="en-US" sz="2000" dirty="0">
                <a:latin typeface="宋体" panose="02010600030101010101" pitchFamily="2" charset="-122"/>
              </a:rPr>
              <a:t>从工作原理而言，液压马达与液压泵都是依靠密封工作腔容积的变化而工作的，但因两者使用目的不同，结构上存在许多差异，一般不能直接互逆通用。</a:t>
            </a:r>
          </a:p>
          <a:p>
            <a:pPr marL="808038" lvl="2" indent="-177800" eaLnBrk="1" hangingPunct="1">
              <a:lnSpc>
                <a:spcPct val="110000"/>
              </a:lnSpc>
            </a:pPr>
            <a:endParaRPr lang="zh-CN" altLang="en-US" sz="2000" dirty="0">
              <a:latin typeface="宋体" panose="02010600030101010101" pitchFamily="2" charset="-122"/>
            </a:endParaRPr>
          </a:p>
        </p:txBody>
      </p:sp>
    </p:spTree>
    <p:extLst>
      <p:ext uri="{BB962C8B-B14F-4D97-AF65-F5344CB8AC3E}">
        <p14:creationId xmlns:p14="http://schemas.microsoft.com/office/powerpoint/2010/main" val="15448978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7BFA59-73FF-4631-AF0E-A0142F99B34D}"/>
              </a:ext>
            </a:extLst>
          </p:cNvPr>
          <p:cNvSpPr>
            <a:spLocks noGrp="1"/>
          </p:cNvSpPr>
          <p:nvPr>
            <p:ph type="title"/>
          </p:nvPr>
        </p:nvSpPr>
        <p:spPr>
          <a:xfrm>
            <a:off x="822386" y="1086384"/>
            <a:ext cx="9746088" cy="742416"/>
          </a:xfrm>
        </p:spPr>
        <p:txBody>
          <a:bodyPr/>
          <a:lstStyle/>
          <a:p>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2</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、方向控制阀中滑阀三位四通的中位机能有哪些？简述下工作方式</a:t>
            </a:r>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a:t>
            </a:r>
            <a:b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br>
            <a:endParaRPr lang="zh-CN" altLang="en-US" dirty="0"/>
          </a:p>
        </p:txBody>
      </p:sp>
      <p:sp>
        <p:nvSpPr>
          <p:cNvPr id="4" name="文本占位符 3">
            <a:extLst>
              <a:ext uri="{FF2B5EF4-FFF2-40B4-BE49-F238E27FC236}">
                <a16:creationId xmlns:a16="http://schemas.microsoft.com/office/drawing/2014/main" id="{0151D110-3057-4145-AE14-4E9ABB94534A}"/>
              </a:ext>
            </a:extLst>
          </p:cNvPr>
          <p:cNvSpPr>
            <a:spLocks noGrp="1"/>
          </p:cNvSpPr>
          <p:nvPr>
            <p:ph type="body" sz="quarter" idx="13"/>
          </p:nvPr>
        </p:nvSpPr>
        <p:spPr>
          <a:xfrm>
            <a:off x="661904" y="134181"/>
            <a:ext cx="9745413" cy="404813"/>
          </a:xfrm>
        </p:spPr>
        <p:txBody>
          <a:bodyPr/>
          <a:lstStyle/>
          <a:p>
            <a:endParaRPr lang="zh-CN" altLang="en-US" dirty="0"/>
          </a:p>
        </p:txBody>
      </p:sp>
      <p:pic>
        <p:nvPicPr>
          <p:cNvPr id="5" name="图片 4">
            <a:extLst>
              <a:ext uri="{FF2B5EF4-FFF2-40B4-BE49-F238E27FC236}">
                <a16:creationId xmlns:a16="http://schemas.microsoft.com/office/drawing/2014/main" id="{D8785AA7-E018-4441-AF48-27E0F4321ACF}"/>
              </a:ext>
            </a:extLst>
          </p:cNvPr>
          <p:cNvPicPr/>
          <p:nvPr/>
        </p:nvPicPr>
        <p:blipFill>
          <a:blip r:embed="rId2"/>
          <a:stretch>
            <a:fillRect/>
          </a:stretch>
        </p:blipFill>
        <p:spPr>
          <a:xfrm>
            <a:off x="1485666" y="1313213"/>
            <a:ext cx="7915008" cy="5410606"/>
          </a:xfrm>
          <a:prstGeom prst="rect">
            <a:avLst/>
          </a:prstGeom>
        </p:spPr>
      </p:pic>
    </p:spTree>
    <p:extLst>
      <p:ext uri="{BB962C8B-B14F-4D97-AF65-F5344CB8AC3E}">
        <p14:creationId xmlns:p14="http://schemas.microsoft.com/office/powerpoint/2010/main" val="4478802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谢谢</a:t>
            </a:r>
            <a:r>
              <a:rPr lang="en-US" altLang="zh-CN"/>
              <a:t>	</a:t>
            </a:r>
            <a:r>
              <a:rPr lang="zh-CN" altLang="en-US"/>
              <a:t>！</a:t>
            </a:r>
            <a:endParaRPr lang="zh-CN" altLang="en-US" dirty="0"/>
          </a:p>
        </p:txBody>
      </p:sp>
      <p:sp>
        <p:nvSpPr>
          <p:cNvPr id="5" name="副标题 4">
            <a:extLst>
              <a:ext uri="{FF2B5EF4-FFF2-40B4-BE49-F238E27FC236}">
                <a16:creationId xmlns:a16="http://schemas.microsoft.com/office/drawing/2014/main" id="{7684A11B-A02A-7A13-D398-E4649CD39CD6}"/>
              </a:ext>
            </a:extLst>
          </p:cNvPr>
          <p:cNvSpPr>
            <a:spLocks noGrp="1"/>
          </p:cNvSpPr>
          <p:nvPr>
            <p:ph type="subTitle" idx="1"/>
          </p:nvPr>
        </p:nvSpPr>
        <p:spPr/>
        <p:txBody>
          <a:bodyPr/>
          <a:lstStyle/>
          <a:p>
            <a:r>
              <a:rPr lang="zh-CN" altLang="en-US" dirty="0"/>
              <a:t>请大家批评指正</a:t>
            </a:r>
          </a:p>
        </p:txBody>
      </p:sp>
    </p:spTree>
    <p:extLst>
      <p:ext uri="{BB962C8B-B14F-4D97-AF65-F5344CB8AC3E}">
        <p14:creationId xmlns:p14="http://schemas.microsoft.com/office/powerpoint/2010/main" val="1061201652"/>
      </p:ext>
    </p:extLst>
  </p:cSld>
  <p:clrMapOvr>
    <a:masterClrMapping/>
  </p:clrMapOvr>
</p:sld>
</file>

<file path=ppt/theme/theme1.xml><?xml version="1.0" encoding="utf-8"?>
<a:theme xmlns:a="http://schemas.openxmlformats.org/drawingml/2006/main" name="风景">
  <a:themeElements>
    <a:clrScheme name="自定义 1">
      <a:dk1>
        <a:srgbClr val="3F3F3F"/>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微软雅黑">
      <a:majorFont>
        <a:latin typeface="微软雅黑 bold"/>
        <a:ea typeface="微软雅黑 bold"/>
        <a:cs typeface=""/>
      </a:majorFont>
      <a:minorFont>
        <a:latin typeface="微软雅黑"/>
        <a:ea typeface="微软雅黑"/>
        <a:cs typeface=""/>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USTC_PPT模板002.pptx" id="{18B5CE26-88CE-4E31-9408-359412B5C0AB}" vid="{784B27B1-AE5C-4EB3-81AA-C20AF986AAE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USTC_PPT模板002</Template>
  <TotalTime>1897</TotalTime>
  <Words>3167</Words>
  <Application>Microsoft Office PowerPoint</Application>
  <PresentationFormat>宽屏</PresentationFormat>
  <Paragraphs>248</Paragraphs>
  <Slides>34</Slides>
  <Notes>30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34</vt:i4>
      </vt:variant>
    </vt:vector>
  </HeadingPairs>
  <TitlesOfParts>
    <vt:vector size="46" baseType="lpstr">
      <vt:lpstr>宋体</vt:lpstr>
      <vt:lpstr>微软雅黑</vt:lpstr>
      <vt:lpstr>微软雅黑 bold</vt:lpstr>
      <vt:lpstr>等线</vt:lpstr>
      <vt:lpstr>Arial</vt:lpstr>
      <vt:lpstr>Calibri</vt:lpstr>
      <vt:lpstr>Cambria Math</vt:lpstr>
      <vt:lpstr>Times New Roman</vt:lpstr>
      <vt:lpstr>Verdana</vt:lpstr>
      <vt:lpstr>Wingdings</vt:lpstr>
      <vt:lpstr>Wingdings 2</vt:lpstr>
      <vt:lpstr>风景</vt:lpstr>
      <vt:lpstr>执行器技术 第二次习题课</vt:lpstr>
      <vt:lpstr>第一次作业</vt:lpstr>
      <vt:lpstr>1. 手动、外螺纹连接、浮动直通式，阀座密封面材料为氟塑料，公称压力PN为1.6MPa、阀体材料为1Cr18Ni9Ti的球阀编号是什么？</vt:lpstr>
      <vt:lpstr>手动、外螺纹连接、浮动直通式，阀座密封面材料为氟塑料，公称压力PN为1.6MPa、阀体材料为1Cr18Ni9Ti的球阀编号是什么？</vt:lpstr>
      <vt:lpstr>手动、外螺纹连接、浮动直通式，阀座密封面材料为氟塑料，公称压力PN为1.6MPa、阀体材料为1Cr18Ni9Ti的球阀编号是什么？</vt:lpstr>
      <vt:lpstr>2. Kv和Cv的关系推导过程？</vt:lpstr>
      <vt:lpstr>Kv和Cv的关系推导过程？</vt:lpstr>
      <vt:lpstr>3. 在下表的第一列填上适合的阀门：</vt:lpstr>
      <vt:lpstr>4. 阀门的技术性能里的密封性能里要注意的泄露有几处?</vt:lpstr>
      <vt:lpstr>第二次作业</vt:lpstr>
      <vt:lpstr>1. 直线流量特性的阀芯，在40%，60%开度时变化10%相对流量变化量是多少？</vt:lpstr>
      <vt:lpstr>直线流量特性的阀芯，在40%，60%开度时变化10%相对流量变化量是多少？</vt:lpstr>
      <vt:lpstr>2. 串并联管道时阀的选择要考虑哪些因素？</vt:lpstr>
      <vt:lpstr>3. 某系统中，需选用一台直线流量特性的直通双座调节阀。被调介质为水。工艺要求，最大流量Qmax=110m3/h，最小流量Qmin=25m3/h，最小压差△pmin=60kPa，s = 0.5，试确定调节阀的口径</vt:lpstr>
      <vt:lpstr>某系统中，需选用一台直线流量特性的直通双座调节阀。被调介质为水。工艺要求，最大流量Qmax=110m3/h，最小流量Qmin=25m3/h，最小压差△pmin=60kPa，s = 0.5，试确定调节阀的口径</vt:lpstr>
      <vt:lpstr>4. 气动执行器的开关方式怎样选择？什么是执行机构的正作用，反作用？</vt:lpstr>
      <vt:lpstr>5. 简答调节阀汽蚀空化的对策是什么？</vt:lpstr>
      <vt:lpstr>第三次作业</vt:lpstr>
      <vt:lpstr>1. 阀门定位器的作用是什么？</vt:lpstr>
      <vt:lpstr>2. 气动薄膜式执行机构其行程规格有几种？有效面积有几种？</vt:lpstr>
      <vt:lpstr>PowerPoint 演示文稿</vt:lpstr>
      <vt:lpstr>PowerPoint 演示文稿</vt:lpstr>
      <vt:lpstr>第四次作业</vt:lpstr>
      <vt:lpstr>1. 请简述压电阀工作的三种状态？ </vt:lpstr>
      <vt:lpstr>2. 电磁阀双电控两位五通工作原理？</vt:lpstr>
      <vt:lpstr>电磁阀双电控两位五通工作原理？</vt:lpstr>
      <vt:lpstr>电磁阀双电控两位五通工作原理？</vt:lpstr>
      <vt:lpstr>3. 简述液压传动系统的组成及作用？</vt:lpstr>
      <vt:lpstr>4. 选择题 </vt:lpstr>
      <vt:lpstr>第五次作业</vt:lpstr>
      <vt:lpstr>1. 简述液压系统中泵和马达的功能，并简述有什么不同？</vt:lpstr>
      <vt:lpstr>简述液压系统中泵和马达的功能，并简述有什么不同？</vt:lpstr>
      <vt:lpstr>2、方向控制阀中滑阀三位四通的中位机能有哪些？简述下工作方式。 </vt:lpstr>
      <vt:lpstr>谢谢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点击此处编辑主标题</dc:title>
  <dc:creator>Albert Bariko</dc:creator>
  <cp:lastModifiedBy>Yvonne Yan</cp:lastModifiedBy>
  <cp:revision>26</cp:revision>
  <dcterms:created xsi:type="dcterms:W3CDTF">2023-06-12T06:29:04Z</dcterms:created>
  <dcterms:modified xsi:type="dcterms:W3CDTF">2025-06-16T03:18:58Z</dcterms:modified>
</cp:coreProperties>
</file>