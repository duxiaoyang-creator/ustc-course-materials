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65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6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10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967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76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468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99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54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71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11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28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15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95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82576-8ABF-49DF-8CCB-95F6601E6BCA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55F7-DE37-4090-B2FD-2C20FD0019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1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1344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</a:t>
            </a:r>
            <a:r>
              <a:rPr lang="zh-CN" altLang="zh-CN" dirty="0"/>
              <a:t>数字</a:t>
            </a:r>
            <a:r>
              <a:rPr lang="en-US" altLang="zh-CN" dirty="0"/>
              <a:t>PID</a:t>
            </a:r>
            <a:r>
              <a:rPr lang="zh-CN" altLang="zh-CN" dirty="0"/>
              <a:t>控制参数工程整定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1735810"/>
            <a:ext cx="9144000" cy="3521990"/>
          </a:xfrm>
        </p:spPr>
        <p:txBody>
          <a:bodyPr>
            <a:normAutofit/>
          </a:bodyPr>
          <a:lstStyle/>
          <a:p>
            <a:pPr algn="l"/>
            <a:r>
              <a:rPr lang="zh-CN" altLang="zh-CN" dirty="0" smtClean="0"/>
              <a:t>实验</a:t>
            </a:r>
            <a:r>
              <a:rPr lang="zh-CN" altLang="zh-CN" dirty="0"/>
              <a:t>目的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1.</a:t>
            </a:r>
            <a:r>
              <a:rPr lang="zh-CN" altLang="zh-CN" dirty="0"/>
              <a:t>学习数字</a:t>
            </a:r>
            <a:r>
              <a:rPr lang="en-US" altLang="zh-CN" dirty="0"/>
              <a:t>PID</a:t>
            </a:r>
            <a:r>
              <a:rPr lang="zh-CN" altLang="zh-CN" dirty="0"/>
              <a:t>控制器参数常用的工程整定</a:t>
            </a:r>
            <a:r>
              <a:rPr lang="zh-CN" altLang="zh-CN" dirty="0" smtClean="0"/>
              <a:t>方法</a:t>
            </a:r>
            <a:r>
              <a:rPr lang="en-US" altLang="zh-CN" dirty="0" smtClean="0"/>
              <a:t>,</a:t>
            </a:r>
            <a:r>
              <a:rPr lang="zh-CN" altLang="zh-CN" dirty="0"/>
              <a:t>了解数字</a:t>
            </a:r>
            <a:r>
              <a:rPr lang="en-US" altLang="zh-CN" dirty="0"/>
              <a:t>PID</a:t>
            </a:r>
            <a:r>
              <a:rPr lang="zh-CN" altLang="zh-CN" dirty="0"/>
              <a:t>控制器参数（采样周期，比例系数</a:t>
            </a:r>
            <a:r>
              <a:rPr lang="en-US" altLang="zh-CN" dirty="0" err="1"/>
              <a:t>Kp</a:t>
            </a:r>
            <a:r>
              <a:rPr lang="zh-CN" altLang="zh-CN" dirty="0"/>
              <a:t>，积分</a:t>
            </a:r>
            <a:r>
              <a:rPr lang="zh-CN" altLang="en-US" dirty="0"/>
              <a:t>系数</a:t>
            </a:r>
            <a:r>
              <a:rPr lang="en-US" altLang="zh-CN" dirty="0"/>
              <a:t>Ki</a:t>
            </a:r>
            <a:r>
              <a:rPr lang="zh-CN" altLang="zh-CN" dirty="0"/>
              <a:t>，微分</a:t>
            </a:r>
            <a:r>
              <a:rPr lang="zh-CN" altLang="en-US" dirty="0"/>
              <a:t>系数</a:t>
            </a:r>
            <a:r>
              <a:rPr lang="en-US" altLang="zh-CN" dirty="0" err="1"/>
              <a:t>Kd</a:t>
            </a:r>
            <a:r>
              <a:rPr lang="zh-CN" altLang="zh-CN" dirty="0"/>
              <a:t>）对控制系统的影响。</a:t>
            </a:r>
            <a:endParaRPr lang="en-US" altLang="zh-CN" dirty="0"/>
          </a:p>
          <a:p>
            <a:pPr algn="l"/>
            <a:endParaRPr lang="zh-CN" altLang="zh-CN" dirty="0"/>
          </a:p>
          <a:p>
            <a:pPr algn="l"/>
            <a:r>
              <a:rPr lang="en-US" altLang="zh-CN" dirty="0" smtClean="0"/>
              <a:t>2.</a:t>
            </a:r>
            <a:r>
              <a:rPr lang="zh-CN" altLang="zh-CN" dirty="0"/>
              <a:t>掌握数字</a:t>
            </a:r>
            <a:r>
              <a:rPr lang="en-US" altLang="zh-CN" dirty="0"/>
              <a:t>PID</a:t>
            </a:r>
            <a:r>
              <a:rPr lang="zh-CN" altLang="zh-CN" dirty="0"/>
              <a:t>控制器的设计方法。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278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PID</a:t>
            </a:r>
            <a:r>
              <a:rPr lang="zh-CN" altLang="en-US" dirty="0" smtClean="0"/>
              <a:t>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  PID</a:t>
            </a:r>
            <a:r>
              <a:rPr lang="zh-CN" altLang="zh-CN" dirty="0"/>
              <a:t>控制器是一种常见的控制器，它可以通过对系统的反馈信号进行处理，来控制系统的输出，使其达到期望的状态。</a:t>
            </a:r>
            <a:r>
              <a:rPr lang="en-US" altLang="zh-CN" dirty="0"/>
              <a:t>PID</a:t>
            </a:r>
            <a:r>
              <a:rPr lang="zh-CN" altLang="zh-CN" dirty="0"/>
              <a:t>控制器广泛应用于工业自动化、机器人控制、电子设备等</a:t>
            </a:r>
            <a:r>
              <a:rPr lang="zh-CN" altLang="zh-CN" dirty="0" smtClean="0"/>
              <a:t>领域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1. </a:t>
            </a:r>
            <a:r>
              <a:rPr lang="zh-CN" altLang="zh-CN" dirty="0" smtClean="0"/>
              <a:t>工业自动化</a:t>
            </a:r>
            <a:r>
              <a:rPr lang="en-US" altLang="zh-CN" dirty="0" smtClean="0"/>
              <a:t>    </a:t>
            </a:r>
            <a:r>
              <a:rPr lang="zh-CN" altLang="zh-CN" dirty="0"/>
              <a:t>在工业自动化中，</a:t>
            </a:r>
            <a:r>
              <a:rPr lang="en-US" altLang="zh-CN" dirty="0"/>
              <a:t>PID</a:t>
            </a:r>
            <a:r>
              <a:rPr lang="zh-CN" altLang="zh-CN" dirty="0"/>
              <a:t>控制器被广泛应用于温度、压力、流量等参数的控制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 2. </a:t>
            </a:r>
            <a:r>
              <a:rPr lang="zh-CN" altLang="zh-CN" dirty="0"/>
              <a:t>机器人</a:t>
            </a:r>
            <a:r>
              <a:rPr lang="zh-CN" altLang="zh-CN" dirty="0" smtClean="0"/>
              <a:t>控制</a:t>
            </a:r>
            <a:r>
              <a:rPr lang="en-US" altLang="zh-CN" dirty="0" smtClean="0"/>
              <a:t>   </a:t>
            </a:r>
            <a:r>
              <a:rPr lang="zh-CN" altLang="zh-CN" dirty="0" smtClean="0"/>
              <a:t>在</a:t>
            </a:r>
            <a:r>
              <a:rPr lang="zh-CN" altLang="zh-CN" dirty="0"/>
              <a:t>机器人控制中，</a:t>
            </a:r>
            <a:r>
              <a:rPr lang="en-US" altLang="zh-CN" dirty="0"/>
              <a:t>PID</a:t>
            </a:r>
            <a:r>
              <a:rPr lang="zh-CN" altLang="zh-CN" dirty="0"/>
              <a:t>控制器被用于控制机器人的位置、速度和姿态等参数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3. </a:t>
            </a:r>
            <a:r>
              <a:rPr lang="zh-CN" altLang="zh-CN" dirty="0"/>
              <a:t>电子</a:t>
            </a:r>
            <a:r>
              <a:rPr lang="zh-CN" altLang="zh-CN" dirty="0" smtClean="0"/>
              <a:t>设备</a:t>
            </a:r>
            <a:r>
              <a:rPr lang="en-US" altLang="zh-CN" dirty="0" smtClean="0"/>
              <a:t>         </a:t>
            </a:r>
            <a:r>
              <a:rPr lang="zh-CN" altLang="zh-CN" dirty="0"/>
              <a:t>在电子设备中，</a:t>
            </a:r>
            <a:r>
              <a:rPr lang="en-US" altLang="zh-CN" dirty="0"/>
              <a:t>PID</a:t>
            </a:r>
            <a:r>
              <a:rPr lang="zh-CN" altLang="zh-CN" dirty="0"/>
              <a:t>控制器被用于控制电压、电流、功率等参数。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462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 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5"/>
                <a:ext cx="10515600" cy="5811838"/>
              </a:xfrm>
            </p:spPr>
            <p:txBody>
              <a:bodyPr/>
              <a:lstStyle/>
              <a:p>
                <a:r>
                  <a:rPr lang="en-US" altLang="zh-CN" dirty="0" smtClean="0"/>
                  <a:t>2.</a:t>
                </a:r>
                <a:r>
                  <a:rPr lang="zh-CN" altLang="en-US" dirty="0" smtClean="0"/>
                  <a:t>设计</a:t>
                </a:r>
                <a:r>
                  <a:rPr lang="en-US" altLang="zh-CN" dirty="0" smtClean="0"/>
                  <a:t>PID</a:t>
                </a:r>
                <a:r>
                  <a:rPr lang="zh-CN" altLang="en-US" dirty="0" smtClean="0"/>
                  <a:t>数字控制器</a:t>
                </a:r>
                <a:endParaRPr lang="en-US" altLang="zh-CN" dirty="0" smtClean="0"/>
              </a:p>
              <a:p>
                <a:r>
                  <a:rPr lang="en-US" altLang="zh-CN" dirty="0" smtClean="0"/>
                  <a:t>PID</a:t>
                </a:r>
                <a:r>
                  <a:rPr lang="zh-CN" altLang="en-US" dirty="0" smtClean="0"/>
                  <a:t>控制器</a:t>
                </a:r>
                <a:r>
                  <a:rPr lang="en-US" altLang="zh-CN" dirty="0" smtClean="0"/>
                  <a:t>Z</a:t>
                </a:r>
                <a:r>
                  <a:rPr lang="zh-CN" altLang="en-US" dirty="0" smtClean="0"/>
                  <a:t>传递函数为：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               D(z)=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box>
                      <m:box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e>
                    </m:box>
                  </m:oMath>
                </a14:m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dirty="0" smtClean="0"/>
                  <a:t>(1-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dirty="0" smtClean="0"/>
                  <a:t>)</a:t>
                </a:r>
              </a:p>
              <a:p>
                <a:pPr marL="0" indent="0">
                  <a:buNone/>
                </a:pPr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比例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系数</m:t>
                    </m:r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积分系数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微分系数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为采样周期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差分方程为：</a:t>
                </a:r>
                <a:r>
                  <a:rPr lang="en-US" altLang="zh-CN" dirty="0" smtClean="0"/>
                  <a:t>u(k)=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dirty="0" smtClean="0"/>
                  <a:t>e(k)+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dirty="0" smtClean="0"/>
                  <a:t>[e(k)-e(k-1)]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由于实际编程中一般改为递推算法。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5"/>
                <a:ext cx="10515600" cy="5811838"/>
              </a:xfrm>
              <a:blipFill rotWithShape="0">
                <a:blip r:embed="rId2"/>
                <a:stretch>
                  <a:fillRect l="-1217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24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500062"/>
            <a:ext cx="10515600" cy="32134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实验内容：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60895"/>
            <a:ext cx="10515600" cy="52160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zh-CN" dirty="0"/>
              <a:t>用扩充响应曲线法，整定所选的控制率中的参数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                   </a:t>
            </a:r>
            <a:r>
              <a:rPr lang="zh-CN" altLang="zh-CN" dirty="0" smtClean="0"/>
              <a:t>扩充</a:t>
            </a:r>
            <a:r>
              <a:rPr lang="zh-CN" altLang="zh-CN" dirty="0"/>
              <a:t>响应曲线法</a:t>
            </a:r>
            <a:r>
              <a:rPr lang="en-US" altLang="zh-CN" dirty="0"/>
              <a:t>PID</a:t>
            </a:r>
            <a:r>
              <a:rPr lang="zh-CN" altLang="zh-CN" dirty="0"/>
              <a:t>参数</a:t>
            </a:r>
            <a:r>
              <a:rPr lang="zh-CN" altLang="zh-CN" dirty="0" smtClean="0"/>
              <a:t>表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449453" y="2541720"/>
          <a:ext cx="9469461" cy="3487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7689"/>
                <a:gridCol w="1577689"/>
                <a:gridCol w="1577689"/>
                <a:gridCol w="1578798"/>
                <a:gridCol w="1578798"/>
                <a:gridCol w="1578798"/>
              </a:tblGrid>
              <a:tr h="49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控制度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控制率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Ts/</a:t>
                      </a:r>
                      <a:r>
                        <a:rPr lang="zh-CN" sz="1200" kern="100">
                          <a:effectLst/>
                        </a:rPr>
                        <a:t>τ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Kp</a:t>
                      </a:r>
                      <a:r>
                        <a:rPr lang="en-US" sz="1200" kern="100" dirty="0">
                          <a:effectLst/>
                        </a:rPr>
                        <a:t>/</a:t>
                      </a:r>
                      <a:r>
                        <a:rPr lang="zh-CN" sz="1200" kern="100" dirty="0" smtClean="0">
                          <a:effectLst/>
                        </a:rPr>
                        <a:t>（</a:t>
                      </a:r>
                      <a:r>
                        <a:rPr lang="en-US" altLang="zh-CN" sz="1200" kern="100" dirty="0" smtClean="0">
                          <a:effectLst/>
                        </a:rPr>
                        <a:t>Q</a:t>
                      </a:r>
                      <a:r>
                        <a:rPr lang="en-US" sz="1200" kern="100" dirty="0" smtClean="0">
                          <a:effectLst/>
                        </a:rPr>
                        <a:t>/</a:t>
                      </a:r>
                      <a:r>
                        <a:rPr lang="zh-CN" sz="1200" kern="100" dirty="0">
                          <a:effectLst/>
                        </a:rPr>
                        <a:t>τ）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Ti/</a:t>
                      </a:r>
                      <a:r>
                        <a:rPr lang="zh-CN" sz="1200" kern="100">
                          <a:effectLst/>
                        </a:rPr>
                        <a:t>τ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Td/</a:t>
                      </a:r>
                      <a:r>
                        <a:rPr lang="zh-CN" sz="1200" kern="100">
                          <a:effectLst/>
                        </a:rPr>
                        <a:t>τ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1.05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Pi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0.1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0.84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3.4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1.05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PID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0.05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1.15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2.0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0.45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Pi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0.72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3.6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PID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0.16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0.55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Pi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0.68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3.9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PID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0.34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0.85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1.62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0.65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39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557939"/>
            <a:ext cx="10515600" cy="5619024"/>
          </a:xfrm>
        </p:spPr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积分分离</a:t>
            </a:r>
            <a:r>
              <a:rPr lang="en-US" altLang="zh-CN" dirty="0" smtClean="0"/>
              <a:t>PID</a:t>
            </a:r>
            <a:r>
              <a:rPr lang="zh-CN" altLang="en-US" dirty="0" smtClean="0"/>
              <a:t>控制算法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梯形积分</a:t>
            </a:r>
            <a:r>
              <a:rPr lang="en-US" altLang="zh-CN" dirty="0" smtClean="0"/>
              <a:t>PID</a:t>
            </a:r>
            <a:r>
              <a:rPr lang="zh-CN" altLang="en-US" dirty="0" smtClean="0"/>
              <a:t>控制算法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抗积分饱和</a:t>
            </a:r>
            <a:r>
              <a:rPr lang="en-US" altLang="zh-CN" dirty="0" smtClean="0"/>
              <a:t>PID</a:t>
            </a:r>
            <a:r>
              <a:rPr lang="zh-CN" altLang="en-US" dirty="0" smtClean="0"/>
              <a:t>控制算法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微分先行</a:t>
            </a:r>
            <a:r>
              <a:rPr lang="en-US" altLang="zh-CN" dirty="0" smtClean="0"/>
              <a:t>PID</a:t>
            </a:r>
            <a:r>
              <a:rPr lang="zh-CN" altLang="en-US" dirty="0" smtClean="0"/>
              <a:t>控制算法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0412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 smtClean="0"/>
              <a:t>教材</a:t>
            </a:r>
            <a:r>
              <a:rPr lang="en-US" altLang="zh-CN" sz="4000" dirty="0" smtClean="0"/>
              <a:t>168</a:t>
            </a:r>
            <a:r>
              <a:rPr lang="zh-CN" altLang="en-US" sz="4000" dirty="0" smtClean="0"/>
              <a:t>页 公式</a:t>
            </a:r>
            <a:r>
              <a:rPr lang="en-US" altLang="zh-CN" sz="4000" dirty="0" smtClean="0"/>
              <a:t>5.2.10-5.2.13</a:t>
            </a:r>
            <a:endParaRPr lang="zh-CN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增量输出方程：▽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(k)=(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CN" dirty="0" smtClean="0"/>
                  <a:t>)e(k)-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dirty="0" smtClean="0"/>
                  <a:t>e(k-1)</a:t>
                </a:r>
              </a:p>
              <a:p>
                <a:r>
                  <a:rPr lang="en-US" altLang="zh-CN" dirty="0" smtClean="0"/>
                  <a:t>D</a:t>
                </a:r>
                <a:r>
                  <a:rPr lang="zh-CN" altLang="en-US" dirty="0" smtClean="0"/>
                  <a:t>项增量输出方程：▽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dirty="0" smtClean="0"/>
                  <a:t>(k)=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dirty="0" smtClean="0"/>
                          <m:t>▽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dirty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CN" dirty="0" smtClean="0"/>
                          <m:t>k</m:t>
                        </m:r>
                        <m:r>
                          <m:rPr>
                            <m:nor/>
                          </m:rPr>
                          <a:rPr lang="en-US" altLang="zh-CN" b="0" i="0" dirty="0" smtClean="0"/>
                          <m:t>−1</m:t>
                        </m:r>
                        <m:r>
                          <m:rPr>
                            <m:nor/>
                          </m:rPr>
                          <a:rPr lang="en-US" altLang="zh-CN" dirty="0" smtClean="0"/>
                          <m:t>)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dirty="0" smtClean="0"/>
                  <a:t>[e(k)-2e(k-1)</a:t>
                </a:r>
              </a:p>
              <a:p>
                <a:pPr marL="0" indent="0">
                  <a:buNone/>
                </a:pPr>
                <a:r>
                  <a:rPr lang="en-US" altLang="zh-CN" dirty="0" smtClean="0"/>
                  <a:t>                                                                   +e(k-2)]}</a:t>
                </a:r>
              </a:p>
              <a:p>
                <a:pPr marL="0" indent="0">
                  <a:buNone/>
                </a:pPr>
                <a:r>
                  <a:rPr lang="en-US" altLang="zh-CN" dirty="0" smtClean="0"/>
                  <a:t>u(k)=u(k-1)+</a:t>
                </a:r>
                <a:r>
                  <a:rPr lang="zh-CN" altLang="en-US" dirty="0" smtClean="0"/>
                  <a:t> 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(k)+</a:t>
                </a:r>
                <a:r>
                  <a:rPr lang="zh-CN" altLang="en-US" dirty="0" smtClean="0"/>
                  <a:t> 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dirty="0" smtClean="0"/>
                  <a:t>(k)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225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176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 smtClean="0"/>
              <a:t> </a:t>
            </a:r>
          </a:p>
          <a:p>
            <a:pPr marL="0" indent="0">
              <a:buNone/>
            </a:pPr>
            <a:r>
              <a:rPr lang="en-US" altLang="zh-CN" dirty="0" smtClean="0"/>
              <a:t>float </a:t>
            </a:r>
            <a:r>
              <a:rPr lang="en-US" altLang="zh-CN" dirty="0" err="1"/>
              <a:t>CMyView</a:t>
            </a:r>
            <a:r>
              <a:rPr lang="en-US" altLang="zh-CN" dirty="0"/>
              <a:t>::pidcontrol1(float </a:t>
            </a:r>
            <a:r>
              <a:rPr lang="en-US" altLang="zh-CN" dirty="0" err="1"/>
              <a:t>inDataOne,float</a:t>
            </a:r>
            <a:r>
              <a:rPr lang="en-US" altLang="zh-CN" dirty="0"/>
              <a:t> </a:t>
            </a:r>
            <a:r>
              <a:rPr lang="en-US" altLang="zh-CN" dirty="0" err="1"/>
              <a:t>SetDataOne,float</a:t>
            </a:r>
            <a:r>
              <a:rPr lang="en-US" altLang="zh-CN" dirty="0"/>
              <a:t> </a:t>
            </a:r>
            <a:r>
              <a:rPr lang="en-US" altLang="zh-CN" dirty="0" err="1"/>
              <a:t>inDataTwo,float</a:t>
            </a:r>
            <a:r>
              <a:rPr lang="en-US" altLang="zh-CN" dirty="0"/>
              <a:t> </a:t>
            </a:r>
            <a:r>
              <a:rPr lang="en-US" altLang="zh-CN" dirty="0" err="1"/>
              <a:t>SetDataTwo,double</a:t>
            </a:r>
            <a:r>
              <a:rPr lang="en-US" altLang="zh-CN" dirty="0"/>
              <a:t> </a:t>
            </a:r>
            <a:r>
              <a:rPr lang="en-US" altLang="zh-CN" dirty="0" err="1"/>
              <a:t>Kp</a:t>
            </a:r>
            <a:r>
              <a:rPr lang="en-US" altLang="zh-CN" dirty="0"/>
              <a:t>, double </a:t>
            </a:r>
            <a:r>
              <a:rPr lang="en-US" altLang="zh-CN" dirty="0" err="1"/>
              <a:t>Ki,double</a:t>
            </a:r>
            <a:r>
              <a:rPr lang="en-US" altLang="zh-CN" dirty="0"/>
              <a:t> </a:t>
            </a:r>
            <a:r>
              <a:rPr lang="en-US" altLang="zh-CN" dirty="0" err="1" smtClean="0"/>
              <a:t>Kd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{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it-IT" altLang="zh-CN" dirty="0" smtClean="0"/>
              <a:t>static </a:t>
            </a:r>
            <a:r>
              <a:rPr lang="it-IT" altLang="zh-CN" dirty="0"/>
              <a:t>float </a:t>
            </a:r>
            <a:r>
              <a:rPr lang="it-IT" altLang="zh-CN" dirty="0" smtClean="0"/>
              <a:t>e1=0,e2=0,e3=0;static </a:t>
            </a:r>
            <a:r>
              <a:rPr lang="it-IT" altLang="zh-CN" dirty="0"/>
              <a:t>float u1=4,u2=4,eu=0;</a:t>
            </a:r>
          </a:p>
          <a:p>
            <a:pPr marL="0" indent="0">
              <a:buNone/>
            </a:pPr>
            <a:r>
              <a:rPr lang="it-IT" altLang="zh-CN" dirty="0"/>
              <a:t>	</a:t>
            </a:r>
            <a:r>
              <a:rPr lang="it-IT" altLang="zh-CN" dirty="0" smtClean="0"/>
              <a:t>u1=yellowv;u2=yellowv</a:t>
            </a:r>
            <a:r>
              <a:rPr lang="it-IT" altLang="zh-CN" dirty="0"/>
              <a:t>;</a:t>
            </a:r>
          </a:p>
          <a:p>
            <a:pPr marL="0" indent="0">
              <a:buNone/>
            </a:pPr>
            <a:r>
              <a:rPr lang="it-IT" altLang="zh-CN" dirty="0"/>
              <a:t>   </a:t>
            </a:r>
            <a:r>
              <a:rPr lang="it-IT" altLang="zh-CN" dirty="0" smtClean="0"/>
              <a:t>           u1=u2;e1=e2;e2=e3</a:t>
            </a:r>
            <a:r>
              <a:rPr lang="it-IT" altLang="zh-CN" dirty="0"/>
              <a:t>;</a:t>
            </a:r>
          </a:p>
          <a:p>
            <a:pPr marL="0" indent="0">
              <a:buNone/>
            </a:pPr>
            <a:r>
              <a:rPr lang="it-IT" altLang="zh-CN" dirty="0"/>
              <a:t>	e3=SetDataOne-inDataOne;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inDataOne</a:t>
            </a:r>
            <a:r>
              <a:rPr lang="zh-CN" altLang="en-US" dirty="0" smtClean="0"/>
              <a:t>（动态液位值）</a:t>
            </a:r>
            <a:r>
              <a:rPr lang="en-US" altLang="zh-CN" dirty="0" err="1" smtClean="0"/>
              <a:t>SetDataOne</a:t>
            </a:r>
            <a:r>
              <a:rPr lang="zh-CN" altLang="en-US" dirty="0" smtClean="0"/>
              <a:t>（设定液位值）（</a:t>
            </a:r>
            <a:r>
              <a:rPr lang="en-US" altLang="zh-CN" dirty="0" err="1" smtClean="0"/>
              <a:t>pid</a:t>
            </a:r>
            <a:r>
              <a:rPr lang="zh-CN" altLang="en-US" dirty="0" smtClean="0"/>
              <a:t>控制器的输入值）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        if(u2&gt;float(m_mvuplimit1</a:t>
            </a:r>
            <a:r>
              <a:rPr lang="en-US" altLang="zh-CN" dirty="0"/>
              <a:t>)/1000)</a:t>
            </a:r>
          </a:p>
          <a:p>
            <a:pPr marL="0" indent="0">
              <a:buNone/>
            </a:pPr>
            <a:r>
              <a:rPr lang="en-US" altLang="zh-CN" dirty="0"/>
              <a:t>		u2 = float(m_mvuplimit1)/1000;</a:t>
            </a:r>
          </a:p>
          <a:p>
            <a:pPr marL="0" indent="0">
              <a:buNone/>
            </a:pPr>
            <a:r>
              <a:rPr lang="en-US" altLang="zh-CN" dirty="0"/>
              <a:t>	if(u2&lt;float(m_mvdownlimit1)/1000)</a:t>
            </a:r>
          </a:p>
          <a:p>
            <a:pPr marL="0" indent="0">
              <a:buNone/>
            </a:pPr>
            <a:r>
              <a:rPr lang="en-US" altLang="zh-CN" dirty="0"/>
              <a:t>		u2 = float(m_mvdownlimit1)/1000</a:t>
            </a:r>
            <a:r>
              <a:rPr lang="en-US" altLang="zh-CN" dirty="0" smtClean="0"/>
              <a:t>;</a:t>
            </a:r>
          </a:p>
          <a:p>
            <a:pPr marL="0" indent="0">
              <a:buNone/>
            </a:pPr>
            <a:r>
              <a:rPr lang="en-US" altLang="zh-CN" dirty="0" smtClean="0"/>
              <a:t>            </a:t>
            </a:r>
            <a:r>
              <a:rPr lang="it-IT" altLang="zh-CN" dirty="0" smtClean="0"/>
              <a:t>yellowv</a:t>
            </a:r>
            <a:r>
              <a:rPr lang="en-US" altLang="zh-CN" dirty="0" smtClean="0"/>
              <a:t>=</a:t>
            </a:r>
            <a:r>
              <a:rPr lang="en-US" altLang="zh-CN" dirty="0"/>
              <a:t> u2    </a:t>
            </a:r>
            <a:r>
              <a:rPr lang="en-US" altLang="zh-CN" dirty="0" smtClean="0"/>
              <a:t>return u2;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}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37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5574"/>
            <a:ext cx="12147415" cy="6702425"/>
          </a:xfrm>
        </p:spPr>
      </p:pic>
    </p:spTree>
    <p:extLst>
      <p:ext uri="{BB962C8B-B14F-4D97-AF65-F5344CB8AC3E}">
        <p14:creationId xmlns:p14="http://schemas.microsoft.com/office/powerpoint/2010/main" val="306805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</TotalTime>
  <Words>329</Words>
  <Application>Microsoft Office PowerPoint</Application>
  <PresentationFormat>宽屏</PresentationFormat>
  <Paragraphs>95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宋体</vt:lpstr>
      <vt:lpstr>Arial</vt:lpstr>
      <vt:lpstr>Calibri</vt:lpstr>
      <vt:lpstr>Calibri Light</vt:lpstr>
      <vt:lpstr>Cambria Math</vt:lpstr>
      <vt:lpstr>Times New Roman</vt:lpstr>
      <vt:lpstr>Office 主题</vt:lpstr>
      <vt:lpstr>2.数字PID控制参数工程整定 </vt:lpstr>
      <vt:lpstr>PID的应用</vt:lpstr>
      <vt:lpstr>    </vt:lpstr>
      <vt:lpstr>实验内容：</vt:lpstr>
      <vt:lpstr>   </vt:lpstr>
      <vt:lpstr>教材168页 公式5.2.10-5.2.13</vt:lpstr>
      <vt:lpstr>  </vt:lpstr>
      <vt:lpstr> 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2.数字PID控制参数工程整定 </dc:title>
  <dc:creator>Lenovo</dc:creator>
  <cp:lastModifiedBy>Lenovo</cp:lastModifiedBy>
  <cp:revision>28</cp:revision>
  <dcterms:created xsi:type="dcterms:W3CDTF">2019-05-20T00:36:21Z</dcterms:created>
  <dcterms:modified xsi:type="dcterms:W3CDTF">2024-05-15T06:54:47Z</dcterms:modified>
</cp:coreProperties>
</file>