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4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FB717-874B-4BD9-BA17-747D144E0D66}" type="datetimeFigureOut">
              <a:rPr lang="zh-CN" altLang="en-US" smtClean="0"/>
              <a:t>2021/11/24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81805-F2B9-487C-8A7D-2459BF3C69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2841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FB717-874B-4BD9-BA17-747D144E0D66}" type="datetimeFigureOut">
              <a:rPr lang="zh-CN" altLang="en-US" smtClean="0"/>
              <a:t>2021/11/24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81805-F2B9-487C-8A7D-2459BF3C69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5036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FB717-874B-4BD9-BA17-747D144E0D66}" type="datetimeFigureOut">
              <a:rPr lang="zh-CN" altLang="en-US" smtClean="0"/>
              <a:t>2021/11/24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81805-F2B9-487C-8A7D-2459BF3C69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30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FB717-874B-4BD9-BA17-747D144E0D66}" type="datetimeFigureOut">
              <a:rPr lang="zh-CN" altLang="en-US" smtClean="0"/>
              <a:t>2021/11/24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81805-F2B9-487C-8A7D-2459BF3C69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44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FB717-874B-4BD9-BA17-747D144E0D66}" type="datetimeFigureOut">
              <a:rPr lang="zh-CN" altLang="en-US" smtClean="0"/>
              <a:t>2021/11/24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81805-F2B9-487C-8A7D-2459BF3C69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0873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FB717-874B-4BD9-BA17-747D144E0D66}" type="datetimeFigureOut">
              <a:rPr lang="zh-CN" altLang="en-US" smtClean="0"/>
              <a:t>2021/11/24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81805-F2B9-487C-8A7D-2459BF3C69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923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FB717-874B-4BD9-BA17-747D144E0D66}" type="datetimeFigureOut">
              <a:rPr lang="zh-CN" altLang="en-US" smtClean="0"/>
              <a:t>2021/11/24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81805-F2B9-487C-8A7D-2459BF3C69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884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FB717-874B-4BD9-BA17-747D144E0D66}" type="datetimeFigureOut">
              <a:rPr lang="zh-CN" altLang="en-US" smtClean="0"/>
              <a:t>2021/11/24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81805-F2B9-487C-8A7D-2459BF3C69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7618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FB717-874B-4BD9-BA17-747D144E0D66}" type="datetimeFigureOut">
              <a:rPr lang="zh-CN" altLang="en-US" smtClean="0"/>
              <a:t>2021/11/24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81805-F2B9-487C-8A7D-2459BF3C69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426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FB717-874B-4BD9-BA17-747D144E0D66}" type="datetimeFigureOut">
              <a:rPr lang="zh-CN" altLang="en-US" smtClean="0"/>
              <a:t>2021/11/24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81805-F2B9-487C-8A7D-2459BF3C69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1294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FB717-874B-4BD9-BA17-747D144E0D66}" type="datetimeFigureOut">
              <a:rPr lang="zh-CN" altLang="en-US" smtClean="0"/>
              <a:t>2021/11/24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81805-F2B9-487C-8A7D-2459BF3C69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2661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BFB717-874B-4BD9-BA17-747D144E0D66}" type="datetimeFigureOut">
              <a:rPr lang="zh-CN" altLang="en-US" smtClean="0"/>
              <a:t>2021/11/24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C81805-F2B9-487C-8A7D-2459BF3C69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433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 Smith</a:t>
            </a:r>
            <a:r>
              <a:rPr lang="zh-CN" altLang="zh-CN" dirty="0"/>
              <a:t>时延补偿器</a:t>
            </a:r>
            <a:br>
              <a:rPr lang="zh-CN" altLang="zh-CN" dirty="0"/>
            </a:br>
            <a:endParaRPr lang="zh-CN" altLang="en-US" dirty="0"/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 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4831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实验目的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大多数工业系统都有或大或小的时延，若系统的难控制度（即时延</a:t>
            </a:r>
            <a:r>
              <a:rPr lang="en-US" altLang="zh-CN" dirty="0"/>
              <a:t>t</a:t>
            </a:r>
            <a:r>
              <a:rPr lang="zh-CN" altLang="zh-CN" dirty="0"/>
              <a:t>和等效时间</a:t>
            </a:r>
            <a:r>
              <a:rPr lang="en-US" altLang="zh-CN" dirty="0"/>
              <a:t>T</a:t>
            </a:r>
            <a:r>
              <a:rPr lang="zh-CN" altLang="zh-CN" dirty="0"/>
              <a:t>之比）大于</a:t>
            </a:r>
            <a:r>
              <a:rPr lang="en-US" altLang="zh-CN" dirty="0"/>
              <a:t>0.5</a:t>
            </a:r>
            <a:r>
              <a:rPr lang="zh-CN" altLang="zh-CN" dirty="0"/>
              <a:t>，则用常规的</a:t>
            </a:r>
            <a:r>
              <a:rPr lang="en-US" altLang="zh-CN" dirty="0"/>
              <a:t>PID</a:t>
            </a:r>
            <a:r>
              <a:rPr lang="zh-CN" altLang="zh-CN" dirty="0"/>
              <a:t>控制很难获得满意的控制性能。如果生产要求较高的控制性能，则必须采用较复杂的控制策略。工业上，控制大时延系统常用的一种控制策略是加</a:t>
            </a:r>
            <a:r>
              <a:rPr lang="en-US" altLang="zh-CN" dirty="0"/>
              <a:t>Smith</a:t>
            </a:r>
            <a:r>
              <a:rPr lang="zh-CN" altLang="zh-CN" dirty="0"/>
              <a:t>时延补偿器的</a:t>
            </a:r>
            <a:r>
              <a:rPr lang="en-US" altLang="zh-CN" dirty="0"/>
              <a:t>PID</a:t>
            </a:r>
            <a:r>
              <a:rPr lang="zh-CN" altLang="zh-CN" dirty="0"/>
              <a:t>控制算法。一般情况下可以得到较好的控制效果。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8432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32651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实验内容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zh-CN" dirty="0"/>
              <a:t>将模型进行等效离散化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lvl="0"/>
            <a:endParaRPr lang="zh-CN" altLang="zh-CN" dirty="0"/>
          </a:p>
          <a:p>
            <a:r>
              <a:rPr lang="zh-CN" altLang="zh-CN" dirty="0"/>
              <a:t>基于被控对象</a:t>
            </a:r>
            <a:r>
              <a:rPr lang="zh-CN" altLang="zh-CN" dirty="0" smtClean="0"/>
              <a:t>模型</a:t>
            </a:r>
            <a:r>
              <a:rPr lang="zh-CN" altLang="en-US" dirty="0" smtClean="0"/>
              <a:t>，</a:t>
            </a:r>
            <a:r>
              <a:rPr lang="zh-CN" altLang="zh-CN" dirty="0" smtClean="0"/>
              <a:t>设计</a:t>
            </a:r>
            <a:r>
              <a:rPr lang="zh-CN" altLang="en-US" dirty="0" smtClean="0"/>
              <a:t>出</a:t>
            </a:r>
            <a:r>
              <a:rPr lang="zh-CN" altLang="zh-CN" dirty="0" smtClean="0"/>
              <a:t>系统</a:t>
            </a:r>
            <a:r>
              <a:rPr lang="zh-CN" altLang="zh-CN" dirty="0"/>
              <a:t>的</a:t>
            </a:r>
            <a:r>
              <a:rPr lang="en-US" altLang="zh-CN" dirty="0"/>
              <a:t>Smith</a:t>
            </a:r>
            <a:r>
              <a:rPr lang="zh-CN" altLang="zh-CN" dirty="0"/>
              <a:t>时延</a:t>
            </a:r>
            <a:r>
              <a:rPr lang="zh-CN" altLang="zh-CN" dirty="0" smtClean="0"/>
              <a:t>补偿器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042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273318" y="1066800"/>
            <a:ext cx="8121113" cy="5544801"/>
          </a:xfrm>
        </p:spPr>
        <p:txBody>
          <a:bodyPr>
            <a:normAutofit fontScale="25000" lnSpcReduction="20000"/>
          </a:bodyPr>
          <a:lstStyle/>
          <a:p>
            <a:r>
              <a:rPr lang="zh-CN" altLang="en-US" dirty="0"/>
              <a:t> </a:t>
            </a:r>
          </a:p>
          <a:p>
            <a:endParaRPr lang="zh-CN" altLang="en-US" dirty="0"/>
          </a:p>
          <a:p>
            <a:endParaRPr lang="zh-CN" altLang="en-US" dirty="0" smtClean="0"/>
          </a:p>
          <a:p>
            <a:r>
              <a:rPr lang="zh-CN" altLang="en-US" dirty="0"/>
              <a:t>	</a:t>
            </a:r>
          </a:p>
          <a:p>
            <a:r>
              <a:rPr lang="zh-CN" altLang="en-US" dirty="0"/>
              <a:t>             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	</a:t>
            </a:r>
          </a:p>
          <a:p>
            <a:r>
              <a:rPr lang="zh-CN" altLang="en-US" dirty="0"/>
              <a:t>            </a:t>
            </a:r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en-US" altLang="zh-CN" sz="7200" dirty="0" smtClean="0"/>
          </a:p>
          <a:p>
            <a:endParaRPr lang="en-US" altLang="zh-CN" sz="7200" dirty="0"/>
          </a:p>
          <a:p>
            <a:r>
              <a:rPr lang="zh-CN" altLang="en-US" sz="7200" dirty="0"/>
              <a:t>原先</a:t>
            </a:r>
            <a:r>
              <a:rPr lang="en-US" altLang="zh-CN" sz="7200" dirty="0" smtClean="0"/>
              <a:t>PID</a:t>
            </a:r>
            <a:r>
              <a:rPr lang="zh-CN" altLang="en-US" sz="7200" dirty="0" smtClean="0"/>
              <a:t>的输入为：</a:t>
            </a:r>
            <a:r>
              <a:rPr lang="en-US" altLang="zh-CN" sz="7200" dirty="0" smtClean="0"/>
              <a:t>e(k)=R(k)-C(k)</a:t>
            </a:r>
          </a:p>
          <a:p>
            <a:r>
              <a:rPr lang="zh-CN" altLang="en-US" sz="7200" dirty="0" smtClean="0"/>
              <a:t>加上</a:t>
            </a:r>
            <a:r>
              <a:rPr lang="en-US" altLang="zh-CN" sz="7200" dirty="0" smtClean="0"/>
              <a:t>smith</a:t>
            </a:r>
            <a:r>
              <a:rPr lang="zh-CN" altLang="en-US" sz="7200" dirty="0" smtClean="0"/>
              <a:t>预估补偿器后的输入为：</a:t>
            </a:r>
            <a:r>
              <a:rPr lang="en-US" altLang="zh-CN" sz="7200" dirty="0"/>
              <a:t>e(k)=R(k</a:t>
            </a:r>
            <a:r>
              <a:rPr lang="en-US" altLang="zh-CN" sz="7200" dirty="0" smtClean="0"/>
              <a:t>)-</a:t>
            </a:r>
            <a:r>
              <a:rPr lang="en-US" altLang="zh-CN" sz="7200" dirty="0"/>
              <a:t>[</a:t>
            </a:r>
            <a:r>
              <a:rPr lang="en-US" altLang="zh-CN" sz="7200" dirty="0" smtClean="0"/>
              <a:t>C(k)+Cl(k)</a:t>
            </a:r>
            <a:r>
              <a:rPr lang="en-US" altLang="zh-CN" sz="7200" dirty="0"/>
              <a:t>]</a:t>
            </a:r>
          </a:p>
          <a:p>
            <a:endParaRPr lang="zh-CN" altLang="en-US" sz="7200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sz="7200" dirty="0" smtClean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	</a:t>
            </a:r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	</a:t>
            </a:r>
          </a:p>
          <a:p>
            <a:endParaRPr lang="zh-CN" altLang="en-US" dirty="0"/>
          </a:p>
        </p:txBody>
      </p:sp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1857375" y="1885950"/>
            <a:ext cx="247650" cy="257175"/>
          </a:xfrm>
          <a:prstGeom prst="flowChartConnector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800" b="1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sz="1050" kern="10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" name="AutoShape 9"/>
          <p:cNvCxnSpPr>
            <a:cxnSpLocks noChangeShapeType="1"/>
          </p:cNvCxnSpPr>
          <p:nvPr/>
        </p:nvCxnSpPr>
        <p:spPr bwMode="auto">
          <a:xfrm>
            <a:off x="2105025" y="2009775"/>
            <a:ext cx="581025" cy="63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2543175" y="1771650"/>
            <a:ext cx="10287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sz="1500" b="1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P I D</a:t>
            </a:r>
            <a:endParaRPr lang="zh-CN" sz="1050" kern="10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7" name="AutoShape 12"/>
          <p:cNvCxnSpPr>
            <a:cxnSpLocks noChangeShapeType="1"/>
          </p:cNvCxnSpPr>
          <p:nvPr/>
        </p:nvCxnSpPr>
        <p:spPr bwMode="auto">
          <a:xfrm>
            <a:off x="3581400" y="2011045"/>
            <a:ext cx="74295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Rectangle 14"/>
          <p:cNvSpPr>
            <a:spLocks noChangeArrowheads="1"/>
          </p:cNvSpPr>
          <p:nvPr/>
        </p:nvSpPr>
        <p:spPr bwMode="auto">
          <a:xfrm>
            <a:off x="4333875" y="1771650"/>
            <a:ext cx="10668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5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sz="15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对 象</a:t>
            </a:r>
            <a:endParaRPr lang="zh-CN" sz="1050" kern="10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9" name="AutoShape 15"/>
          <p:cNvCxnSpPr>
            <a:cxnSpLocks noChangeShapeType="1"/>
          </p:cNvCxnSpPr>
          <p:nvPr/>
        </p:nvCxnSpPr>
        <p:spPr bwMode="auto">
          <a:xfrm flipV="1">
            <a:off x="5400675" y="2010410"/>
            <a:ext cx="885825" cy="63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AutoShape 17"/>
          <p:cNvCxnSpPr>
            <a:cxnSpLocks noChangeShapeType="1"/>
          </p:cNvCxnSpPr>
          <p:nvPr/>
        </p:nvCxnSpPr>
        <p:spPr bwMode="auto">
          <a:xfrm flipV="1">
            <a:off x="1285875" y="2010410"/>
            <a:ext cx="571500" cy="63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AutoShape 18"/>
          <p:cNvSpPr>
            <a:spLocks noChangeArrowheads="1"/>
          </p:cNvSpPr>
          <p:nvPr/>
        </p:nvSpPr>
        <p:spPr bwMode="auto">
          <a:xfrm>
            <a:off x="5962650" y="3057525"/>
            <a:ext cx="266700" cy="276225"/>
          </a:xfrm>
          <a:prstGeom prst="flowChartOr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zh-CN" altLang="en-US"/>
          </a:p>
        </p:txBody>
      </p:sp>
      <p:cxnSp>
        <p:nvCxnSpPr>
          <p:cNvPr id="12" name="AutoShape 19"/>
          <p:cNvCxnSpPr>
            <a:cxnSpLocks noChangeShapeType="1"/>
          </p:cNvCxnSpPr>
          <p:nvPr/>
        </p:nvCxnSpPr>
        <p:spPr bwMode="auto">
          <a:xfrm>
            <a:off x="1857375" y="2009775"/>
            <a:ext cx="24765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Rectangle 20"/>
          <p:cNvSpPr>
            <a:spLocks noChangeArrowheads="1"/>
          </p:cNvSpPr>
          <p:nvPr/>
        </p:nvSpPr>
        <p:spPr bwMode="auto">
          <a:xfrm>
            <a:off x="4295775" y="2981325"/>
            <a:ext cx="1076325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5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Gl(s)</a:t>
            </a:r>
            <a:endParaRPr lang="zh-CN" sz="1050" kern="10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sz="105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sz="1050" kern="10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4" name="AutoShape 27"/>
          <p:cNvCxnSpPr>
            <a:cxnSpLocks noChangeShapeType="1"/>
          </p:cNvCxnSpPr>
          <p:nvPr/>
        </p:nvCxnSpPr>
        <p:spPr bwMode="auto">
          <a:xfrm>
            <a:off x="5372100" y="3200400"/>
            <a:ext cx="59055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AutoShape 28"/>
          <p:cNvCxnSpPr>
            <a:cxnSpLocks noChangeShapeType="1"/>
          </p:cNvCxnSpPr>
          <p:nvPr/>
        </p:nvCxnSpPr>
        <p:spPr bwMode="auto">
          <a:xfrm>
            <a:off x="6106160" y="2010410"/>
            <a:ext cx="0" cy="104711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AutoShape 33"/>
          <p:cNvCxnSpPr>
            <a:cxnSpLocks noChangeShapeType="1"/>
          </p:cNvCxnSpPr>
          <p:nvPr/>
        </p:nvCxnSpPr>
        <p:spPr bwMode="auto">
          <a:xfrm>
            <a:off x="3790950" y="2011045"/>
            <a:ext cx="635" cy="118935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AutoShape 34"/>
          <p:cNvCxnSpPr>
            <a:cxnSpLocks noChangeShapeType="1"/>
          </p:cNvCxnSpPr>
          <p:nvPr/>
        </p:nvCxnSpPr>
        <p:spPr bwMode="auto">
          <a:xfrm>
            <a:off x="3790950" y="3200400"/>
            <a:ext cx="4953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AutoShape 35"/>
          <p:cNvCxnSpPr>
            <a:cxnSpLocks noChangeShapeType="1"/>
          </p:cNvCxnSpPr>
          <p:nvPr/>
        </p:nvCxnSpPr>
        <p:spPr bwMode="auto">
          <a:xfrm>
            <a:off x="6106160" y="3333750"/>
            <a:ext cx="0" cy="60007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AutoShape 36"/>
          <p:cNvCxnSpPr>
            <a:cxnSpLocks noChangeShapeType="1"/>
          </p:cNvCxnSpPr>
          <p:nvPr/>
        </p:nvCxnSpPr>
        <p:spPr bwMode="auto">
          <a:xfrm flipH="1">
            <a:off x="1952625" y="3933825"/>
            <a:ext cx="4134485" cy="63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AutoShape 37"/>
          <p:cNvCxnSpPr>
            <a:cxnSpLocks noChangeShapeType="1"/>
          </p:cNvCxnSpPr>
          <p:nvPr/>
        </p:nvCxnSpPr>
        <p:spPr bwMode="auto">
          <a:xfrm flipV="1">
            <a:off x="1952625" y="2143125"/>
            <a:ext cx="0" cy="17907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Text Box 38"/>
          <p:cNvSpPr txBox="1">
            <a:spLocks noChangeArrowheads="1"/>
          </p:cNvSpPr>
          <p:nvPr/>
        </p:nvSpPr>
        <p:spPr bwMode="auto">
          <a:xfrm>
            <a:off x="1368425" y="1517650"/>
            <a:ext cx="488950" cy="368300"/>
          </a:xfrm>
          <a:prstGeom prst="rect">
            <a:avLst/>
          </a:prstGeom>
          <a:noFill/>
          <a:ln w="9525">
            <a:solidFill>
              <a:schemeClr val="bg1">
                <a:lumMod val="100000"/>
                <a:lumOff val="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 smtClean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R(s)</a:t>
            </a:r>
            <a:endParaRPr lang="zh-CN" sz="105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Text Box 39"/>
          <p:cNvSpPr txBox="1">
            <a:spLocks noChangeArrowheads="1"/>
          </p:cNvSpPr>
          <p:nvPr/>
        </p:nvSpPr>
        <p:spPr bwMode="auto">
          <a:xfrm>
            <a:off x="3655060" y="1517650"/>
            <a:ext cx="564515" cy="400050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>
                <a:lumMod val="100000"/>
                <a:lumOff val="0"/>
              </a:schemeClr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u(k)</a:t>
            </a:r>
            <a:endParaRPr lang="zh-CN" sz="105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Text Box 40"/>
          <p:cNvSpPr txBox="1">
            <a:spLocks noChangeArrowheads="1"/>
          </p:cNvSpPr>
          <p:nvPr/>
        </p:nvSpPr>
        <p:spPr bwMode="auto">
          <a:xfrm>
            <a:off x="5550535" y="1490345"/>
            <a:ext cx="536575" cy="427355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>
                <a:lumMod val="100000"/>
                <a:lumOff val="0"/>
              </a:schemeClr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c(s)</a:t>
            </a:r>
            <a:endParaRPr lang="zh-CN" sz="105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Text Box 41"/>
          <p:cNvSpPr txBox="1">
            <a:spLocks noChangeArrowheads="1"/>
          </p:cNvSpPr>
          <p:nvPr/>
        </p:nvSpPr>
        <p:spPr bwMode="auto">
          <a:xfrm>
            <a:off x="5406390" y="2752725"/>
            <a:ext cx="498475" cy="389890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>
                <a:lumMod val="100000"/>
                <a:lumOff val="0"/>
              </a:schemeClr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cl(s)</a:t>
            </a:r>
            <a:endParaRPr lang="zh-CN" sz="1050" kern="10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Rectangle 22"/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6" name="Rectangle 26"/>
          <p:cNvSpPr>
            <a:spLocks noChangeArrowheads="1"/>
          </p:cNvSpPr>
          <p:nvPr/>
        </p:nvSpPr>
        <p:spPr bwMode="auto">
          <a:xfrm>
            <a:off x="15240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5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Rectangle 29"/>
          <p:cNvSpPr>
            <a:spLocks noChangeArrowheads="1"/>
          </p:cNvSpPr>
          <p:nvPr/>
        </p:nvSpPr>
        <p:spPr bwMode="auto">
          <a:xfrm>
            <a:off x="15240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636838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636838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636838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636838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636838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636838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636838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636838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636838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ctr"/>
              </a:tabLst>
            </a:pPr>
            <a:endParaRPr kumimoji="0" lang="en-US" altLang="zh-CN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ctr"/>
              </a:tabLst>
            </a:pPr>
            <a:r>
              <a:rPr kumimoji="0" lang="en-US" altLang="zh-CN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endParaRPr kumimoji="0" lang="en-US" altLang="zh-CN" sz="15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ctr"/>
              </a:tabLst>
            </a:pP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Rectangle 31"/>
          <p:cNvSpPr>
            <a:spLocks noChangeArrowheads="1"/>
          </p:cNvSpPr>
          <p:nvPr/>
        </p:nvSpPr>
        <p:spPr bwMode="auto">
          <a:xfrm>
            <a:off x="15240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endParaRPr kumimoji="0" lang="en-US" altLang="zh-CN" sz="15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Rectangle 34"/>
          <p:cNvSpPr>
            <a:spLocks noChangeArrowheads="1"/>
          </p:cNvSpPr>
          <p:nvPr/>
        </p:nvSpPr>
        <p:spPr bwMode="auto">
          <a:xfrm>
            <a:off x="15240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4866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 flipV="1">
            <a:off x="781373" y="-183832"/>
            <a:ext cx="10515600" cy="45719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/>
              <a:t>  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1757" y="-448487"/>
            <a:ext cx="7804764" cy="7143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389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03133"/>
            <a:ext cx="10515600" cy="53328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/>
              <a:t> 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303133"/>
            <a:ext cx="10515600" cy="5873830"/>
          </a:xfrm>
        </p:spPr>
        <p:txBody>
          <a:bodyPr>
            <a:normAutofit/>
          </a:bodyPr>
          <a:lstStyle/>
          <a:p>
            <a:r>
              <a:rPr lang="en-US" altLang="zh-CN" dirty="0"/>
              <a:t>double </a:t>
            </a:r>
            <a:r>
              <a:rPr lang="en-US" altLang="zh-CN" dirty="0" err="1"/>
              <a:t>Ke</a:t>
            </a:r>
            <a:r>
              <a:rPr lang="en-US" altLang="zh-CN" dirty="0"/>
              <a:t>=0.2125;	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 smtClean="0"/>
              <a:t>Te</a:t>
            </a:r>
            <a:r>
              <a:rPr lang="en-US" altLang="zh-CN" dirty="0" smtClean="0"/>
              <a:t>=20;float </a:t>
            </a:r>
            <a:r>
              <a:rPr lang="en-US" altLang="zh-CN" dirty="0"/>
              <a:t>out;	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Ts</a:t>
            </a:r>
            <a:r>
              <a:rPr lang="en-US" altLang="zh-CN" dirty="0"/>
              <a:t>=1;int l=20;</a:t>
            </a:r>
          </a:p>
          <a:p>
            <a:r>
              <a:rPr lang="en-US" altLang="zh-CN" dirty="0"/>
              <a:t>		 float q = float (</a:t>
            </a:r>
            <a:r>
              <a:rPr lang="en-US" altLang="zh-CN" dirty="0" err="1"/>
              <a:t>Ts</a:t>
            </a:r>
            <a:r>
              <a:rPr lang="en-US" altLang="zh-CN" dirty="0"/>
              <a:t>/(</a:t>
            </a:r>
            <a:r>
              <a:rPr lang="en-US" altLang="zh-CN" dirty="0" err="1"/>
              <a:t>Ts+Te</a:t>
            </a:r>
            <a:r>
              <a:rPr lang="en-US" altLang="zh-CN" dirty="0"/>
              <a:t>));</a:t>
            </a:r>
          </a:p>
          <a:p>
            <a:r>
              <a:rPr lang="en-US" altLang="zh-CN" dirty="0"/>
              <a:t>		 double </a:t>
            </a:r>
            <a:r>
              <a:rPr lang="en-US" altLang="zh-CN" dirty="0" err="1"/>
              <a:t>Cls</a:t>
            </a:r>
            <a:r>
              <a:rPr lang="en-US" altLang="zh-CN" dirty="0"/>
              <a:t>=</a:t>
            </a:r>
            <a:r>
              <a:rPr lang="en-US" altLang="zh-CN" dirty="0" err="1"/>
              <a:t>Ke</a:t>
            </a:r>
            <a:r>
              <a:rPr lang="en-US" altLang="zh-CN" dirty="0"/>
              <a:t>*(v[l]-v[0]);</a:t>
            </a:r>
          </a:p>
          <a:p>
            <a:r>
              <a:rPr lang="en-US" altLang="zh-CN" dirty="0"/>
              <a:t>		 out=(float) pidcontrol1(</a:t>
            </a:r>
            <a:r>
              <a:rPr lang="en-US" altLang="zh-CN" dirty="0" err="1"/>
              <a:t>dataone+Cls,SetDataone,inDataTwo,SetDataTwo,Kp,Ki,Kd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		 for 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=0;i&lt;</a:t>
            </a:r>
            <a:r>
              <a:rPr lang="en-US" altLang="zh-CN" dirty="0" err="1"/>
              <a:t>l;i</a:t>
            </a:r>
            <a:r>
              <a:rPr lang="en-US" altLang="zh-CN" dirty="0"/>
              <a:t>++)</a:t>
            </a:r>
          </a:p>
          <a:p>
            <a:r>
              <a:rPr lang="en-US" altLang="zh-CN" dirty="0"/>
              <a:t>		 {</a:t>
            </a:r>
          </a:p>
          <a:p>
            <a:r>
              <a:rPr lang="en-US" altLang="zh-CN" dirty="0"/>
              <a:t>			 v[</a:t>
            </a:r>
            <a:r>
              <a:rPr lang="en-US" altLang="zh-CN" dirty="0" err="1"/>
              <a:t>i</a:t>
            </a:r>
            <a:r>
              <a:rPr lang="en-US" altLang="zh-CN" dirty="0"/>
              <a:t>]=v[i+1];</a:t>
            </a:r>
          </a:p>
          <a:p>
            <a:r>
              <a:rPr lang="en-US" altLang="zh-CN" dirty="0"/>
              <a:t>		 }</a:t>
            </a:r>
          </a:p>
          <a:p>
            <a:r>
              <a:rPr lang="en-US" altLang="zh-CN" dirty="0"/>
              <a:t>		 v[l</a:t>
            </a:r>
            <a:r>
              <a:rPr lang="en-US" altLang="zh-CN" dirty="0" smtClean="0"/>
              <a:t>]=(1-q</a:t>
            </a:r>
            <a:r>
              <a:rPr lang="en-US" altLang="zh-CN" dirty="0"/>
              <a:t>)*v[l-1]+q*out;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0208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</TotalTime>
  <Words>147</Words>
  <Application>Microsoft Office PowerPoint</Application>
  <PresentationFormat>宽屏</PresentationFormat>
  <Paragraphs>72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宋体</vt:lpstr>
      <vt:lpstr>Arial</vt:lpstr>
      <vt:lpstr>Calibri</vt:lpstr>
      <vt:lpstr>Calibri Light</vt:lpstr>
      <vt:lpstr>Times New Roman</vt:lpstr>
      <vt:lpstr>Office 主题</vt:lpstr>
      <vt:lpstr> Smith时延补偿器 </vt:lpstr>
      <vt:lpstr>实验目的</vt:lpstr>
      <vt:lpstr>实验内容</vt:lpstr>
      <vt:lpstr>PowerPoint 演示文稿</vt:lpstr>
      <vt:lpstr>  </vt:lpstr>
      <vt:lpstr>  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Smith时延补偿器</dc:title>
  <dc:creator>Lenovo</dc:creator>
  <cp:lastModifiedBy>Lenovo</cp:lastModifiedBy>
  <cp:revision>13</cp:revision>
  <dcterms:created xsi:type="dcterms:W3CDTF">2019-05-20T02:53:03Z</dcterms:created>
  <dcterms:modified xsi:type="dcterms:W3CDTF">2021-11-24T02:40:33Z</dcterms:modified>
</cp:coreProperties>
</file>