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59" r:id="rId6"/>
    <p:sldId id="260"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2" autoAdjust="0"/>
    <p:restoredTop sz="94660"/>
  </p:normalViewPr>
  <p:slideViewPr>
    <p:cSldViewPr snapToGrid="0">
      <p:cViewPr varScale="1">
        <p:scale>
          <a:sx n="62" d="100"/>
          <a:sy n="62" d="100"/>
        </p:scale>
        <p:origin x="5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957567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2325970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1309123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772482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625191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547479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2957009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321912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3337226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3409827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91B4810-65FD-43A2-B75E-BB80E7F95590}"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664759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1B4810-65FD-43A2-B75E-BB80E7F95590}" type="datetimeFigureOut">
              <a:rPr lang="zh-CN" altLang="en-US" smtClean="0"/>
              <a:t>2026/5/20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5A6D55-BBDC-4994-9E95-0D628E9C133B}" type="slidenum">
              <a:rPr lang="zh-CN" altLang="en-US" smtClean="0"/>
              <a:t>‹#›</a:t>
            </a:fld>
            <a:endParaRPr lang="zh-CN" altLang="en-US"/>
          </a:p>
        </p:txBody>
      </p:sp>
    </p:spTree>
    <p:extLst>
      <p:ext uri="{BB962C8B-B14F-4D97-AF65-F5344CB8AC3E}">
        <p14:creationId xmlns:p14="http://schemas.microsoft.com/office/powerpoint/2010/main" val="2858589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系统</a:t>
            </a:r>
            <a:r>
              <a:rPr lang="zh-CN" altLang="en-US" smtClean="0"/>
              <a:t>与控制二</a:t>
            </a:r>
            <a:endParaRPr lang="zh-CN" altLang="en-US" dirty="0"/>
          </a:p>
        </p:txBody>
      </p:sp>
      <p:sp>
        <p:nvSpPr>
          <p:cNvPr id="3" name="副标题 2"/>
          <p:cNvSpPr>
            <a:spLocks noGrp="1"/>
          </p:cNvSpPr>
          <p:nvPr>
            <p:ph type="subTitle" idx="1"/>
          </p:nvPr>
        </p:nvSpPr>
        <p:spPr/>
        <p:txBody>
          <a:bodyPr/>
          <a:lstStyle/>
          <a:p>
            <a:r>
              <a:rPr lang="zh-CN" altLang="en-US" dirty="0" smtClean="0"/>
              <a:t>水箱部分</a:t>
            </a:r>
            <a:endParaRPr lang="en-US" altLang="zh-CN" dirty="0" smtClean="0"/>
          </a:p>
          <a:p>
            <a:r>
              <a:rPr lang="zh-CN" altLang="en-US" dirty="0" smtClean="0"/>
              <a:t>主讲人：汪越 </a:t>
            </a:r>
            <a:r>
              <a:rPr lang="en-US" altLang="zh-CN" dirty="0" smtClean="0"/>
              <a:t>wangyue@ustc.edu.cn</a:t>
            </a:r>
          </a:p>
        </p:txBody>
      </p:sp>
    </p:spTree>
    <p:extLst>
      <p:ext uri="{BB962C8B-B14F-4D97-AF65-F5344CB8AC3E}">
        <p14:creationId xmlns:p14="http://schemas.microsoft.com/office/powerpoint/2010/main" val="10633851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实验内容</a:t>
            </a:r>
            <a:br>
              <a:rPr lang="zh-CN" altLang="zh-CN" dirty="0"/>
            </a:br>
            <a:endParaRPr lang="zh-CN" altLang="en-US" dirty="0"/>
          </a:p>
        </p:txBody>
      </p:sp>
      <p:sp>
        <p:nvSpPr>
          <p:cNvPr id="6" name="内容占位符 5"/>
          <p:cNvSpPr>
            <a:spLocks noGrp="1"/>
          </p:cNvSpPr>
          <p:nvPr>
            <p:ph idx="1"/>
          </p:nvPr>
        </p:nvSpPr>
        <p:spPr/>
        <p:txBody>
          <a:bodyPr/>
          <a:lstStyle/>
          <a:p>
            <a:r>
              <a:rPr lang="en-US" altLang="zh-CN" dirty="0" smtClean="0"/>
              <a:t>  1</a:t>
            </a:r>
            <a:r>
              <a:rPr lang="en-US" altLang="zh-CN" dirty="0"/>
              <a:t>.</a:t>
            </a:r>
            <a:r>
              <a:rPr lang="zh-CN" altLang="zh-CN" dirty="0"/>
              <a:t>控制对象的建模</a:t>
            </a:r>
          </a:p>
          <a:p>
            <a:r>
              <a:rPr lang="en-US" altLang="zh-CN" dirty="0"/>
              <a:t>  2.</a:t>
            </a:r>
            <a:r>
              <a:rPr lang="zh-CN" altLang="zh-CN" dirty="0"/>
              <a:t>数字</a:t>
            </a:r>
            <a:r>
              <a:rPr lang="en-US" altLang="zh-CN" dirty="0"/>
              <a:t>PID</a:t>
            </a:r>
            <a:r>
              <a:rPr lang="zh-CN" altLang="zh-CN" dirty="0"/>
              <a:t>控制器参数工程整定</a:t>
            </a:r>
          </a:p>
          <a:p>
            <a:r>
              <a:rPr lang="en-US" altLang="zh-CN" dirty="0"/>
              <a:t>  3.Smith</a:t>
            </a:r>
            <a:r>
              <a:rPr lang="zh-CN" altLang="zh-CN" dirty="0"/>
              <a:t>时延补偿器设计和调试</a:t>
            </a:r>
          </a:p>
          <a:p>
            <a:r>
              <a:rPr lang="en-US" altLang="zh-CN" dirty="0"/>
              <a:t>  4.</a:t>
            </a:r>
            <a:r>
              <a:rPr lang="zh-CN" altLang="zh-CN" dirty="0"/>
              <a:t>大林算法设计和调试</a:t>
            </a:r>
          </a:p>
          <a:p>
            <a:r>
              <a:rPr lang="en-US" altLang="zh-CN" dirty="0"/>
              <a:t>  5.</a:t>
            </a:r>
            <a:r>
              <a:rPr lang="zh-CN" altLang="zh-CN" dirty="0"/>
              <a:t>模型预测控制算法设计和调试</a:t>
            </a:r>
          </a:p>
          <a:p>
            <a:r>
              <a:rPr lang="en-US" altLang="zh-CN" dirty="0"/>
              <a:t>  6.</a:t>
            </a:r>
            <a:r>
              <a:rPr lang="zh-CN" altLang="zh-CN" dirty="0"/>
              <a:t>卡尔曼算法设计和调试</a:t>
            </a:r>
          </a:p>
          <a:p>
            <a:r>
              <a:rPr lang="en-US" altLang="zh-CN" dirty="0"/>
              <a:t>  7.</a:t>
            </a:r>
            <a:r>
              <a:rPr lang="zh-CN" altLang="zh-CN" dirty="0"/>
              <a:t>自主设计 </a:t>
            </a:r>
          </a:p>
          <a:p>
            <a:endParaRPr lang="zh-CN" altLang="en-US" dirty="0"/>
          </a:p>
        </p:txBody>
      </p:sp>
    </p:spTree>
    <p:extLst>
      <p:ext uri="{BB962C8B-B14F-4D97-AF65-F5344CB8AC3E}">
        <p14:creationId xmlns:p14="http://schemas.microsoft.com/office/powerpoint/2010/main" val="2269355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实验目的</a:t>
            </a:r>
            <a:br>
              <a:rPr lang="zh-CN" altLang="zh-CN" dirty="0"/>
            </a:br>
            <a:endParaRPr lang="zh-CN" altLang="en-US" dirty="0"/>
          </a:p>
        </p:txBody>
      </p:sp>
      <p:sp>
        <p:nvSpPr>
          <p:cNvPr id="3" name="内容占位符 2"/>
          <p:cNvSpPr>
            <a:spLocks noGrp="1"/>
          </p:cNvSpPr>
          <p:nvPr>
            <p:ph idx="1"/>
          </p:nvPr>
        </p:nvSpPr>
        <p:spPr/>
        <p:txBody>
          <a:bodyPr/>
          <a:lstStyle/>
          <a:p>
            <a:r>
              <a:rPr lang="zh-CN" altLang="zh-CN" dirty="0"/>
              <a:t> </a:t>
            </a:r>
            <a:r>
              <a:rPr lang="en-US" altLang="zh-CN" dirty="0"/>
              <a:t>1.</a:t>
            </a:r>
            <a:r>
              <a:rPr lang="zh-CN" altLang="zh-CN" dirty="0"/>
              <a:t>加深对计算机控制系统设计的基本理论和方法的理解。</a:t>
            </a:r>
          </a:p>
          <a:p>
            <a:r>
              <a:rPr lang="en-US" altLang="zh-CN" dirty="0"/>
              <a:t>  2.</a:t>
            </a:r>
            <a:r>
              <a:rPr lang="zh-CN" altLang="zh-CN" dirty="0"/>
              <a:t>掌握几种实用的数学控制器设计与调试的方法和技术。</a:t>
            </a:r>
          </a:p>
          <a:p>
            <a:r>
              <a:rPr lang="en-US" altLang="zh-CN" dirty="0"/>
              <a:t>  3.</a:t>
            </a:r>
            <a:r>
              <a:rPr lang="zh-CN" altLang="zh-CN" dirty="0"/>
              <a:t>增加对计算机实时控制及其硬件和软件系统的基本结构等方面的感性知识。</a:t>
            </a:r>
          </a:p>
          <a:p>
            <a:endParaRPr lang="zh-CN" altLang="en-US" dirty="0"/>
          </a:p>
        </p:txBody>
      </p:sp>
    </p:spTree>
    <p:extLst>
      <p:ext uri="{BB962C8B-B14F-4D97-AF65-F5344CB8AC3E}">
        <p14:creationId xmlns:p14="http://schemas.microsoft.com/office/powerpoint/2010/main" val="3648367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实验设备与系统</a:t>
            </a:r>
            <a:br>
              <a:rPr lang="zh-CN" altLang="zh-CN" dirty="0"/>
            </a:br>
            <a:endParaRPr lang="zh-CN" altLang="en-US" dirty="0"/>
          </a:p>
        </p:txBody>
      </p:sp>
      <p:sp>
        <p:nvSpPr>
          <p:cNvPr id="3" name="内容占位符 2"/>
          <p:cNvSpPr>
            <a:spLocks noGrp="1"/>
          </p:cNvSpPr>
          <p:nvPr>
            <p:ph idx="1"/>
          </p:nvPr>
        </p:nvSpPr>
        <p:spPr/>
        <p:txBody>
          <a:bodyPr/>
          <a:lstStyle/>
          <a:p>
            <a:r>
              <a:rPr lang="zh-CN" altLang="zh-CN" dirty="0"/>
              <a:t>选用的水箱液位控制系统作为实验对象，该系统由水箱，压力传感器，控制箱，计算机和</a:t>
            </a:r>
            <a:r>
              <a:rPr lang="en-US" altLang="zh-CN" dirty="0"/>
              <a:t>I/O</a:t>
            </a:r>
            <a:r>
              <a:rPr lang="zh-CN" altLang="zh-CN" dirty="0"/>
              <a:t>借口等环节组成。</a:t>
            </a:r>
          </a:p>
          <a:p>
            <a:r>
              <a:rPr lang="en-US" altLang="zh-CN" dirty="0"/>
              <a:t>  </a:t>
            </a:r>
            <a:r>
              <a:rPr lang="zh-CN" altLang="zh-CN" dirty="0"/>
              <a:t>该实验是一个液位控制系统。水箱作为控制对象，水箱的液位作为被控量。水箱液位的变动，被转换</a:t>
            </a:r>
            <a:r>
              <a:rPr lang="zh-CN" altLang="zh-CN" dirty="0" smtClean="0"/>
              <a:t>成</a:t>
            </a:r>
            <a:r>
              <a:rPr lang="en-US" altLang="zh-CN" dirty="0" smtClean="0"/>
              <a:t>1-5V</a:t>
            </a:r>
            <a:r>
              <a:rPr lang="zh-CN" altLang="zh-CN" dirty="0" smtClean="0"/>
              <a:t>的</a:t>
            </a:r>
            <a:r>
              <a:rPr lang="zh-CN" altLang="zh-CN" dirty="0"/>
              <a:t>标准电信号，再由</a:t>
            </a:r>
            <a:r>
              <a:rPr lang="en-US" altLang="zh-CN" dirty="0"/>
              <a:t>I/O</a:t>
            </a:r>
            <a:r>
              <a:rPr lang="zh-CN" altLang="zh-CN" dirty="0"/>
              <a:t>接口的</a:t>
            </a:r>
            <a:r>
              <a:rPr lang="en-US" altLang="zh-CN" dirty="0"/>
              <a:t>A/D</a:t>
            </a:r>
            <a:r>
              <a:rPr lang="zh-CN" altLang="zh-CN" dirty="0"/>
              <a:t>转换成二进制的数字信号后，送人计算机存储，并按照设定的控制算法，由读入的液位数字信号和键盘输入的液位设定值，计算出下一步的控制量，经</a:t>
            </a:r>
            <a:r>
              <a:rPr lang="en-US" altLang="zh-CN" dirty="0"/>
              <a:t>I/O</a:t>
            </a:r>
            <a:r>
              <a:rPr lang="zh-CN" altLang="zh-CN" dirty="0"/>
              <a:t>接口中的</a:t>
            </a:r>
            <a:r>
              <a:rPr lang="en-US" altLang="zh-CN" dirty="0"/>
              <a:t>D/A</a:t>
            </a:r>
            <a:r>
              <a:rPr lang="zh-CN" altLang="zh-CN" dirty="0"/>
              <a:t>转换</a:t>
            </a:r>
            <a:r>
              <a:rPr lang="zh-CN" altLang="zh-CN" dirty="0" smtClean="0"/>
              <a:t>成</a:t>
            </a:r>
            <a:r>
              <a:rPr lang="en-US" altLang="zh-CN" dirty="0" smtClean="0"/>
              <a:t>4-24mA</a:t>
            </a:r>
            <a:r>
              <a:rPr lang="zh-CN" altLang="zh-CN" dirty="0" smtClean="0"/>
              <a:t>标准</a:t>
            </a:r>
            <a:r>
              <a:rPr lang="zh-CN" altLang="zh-CN" dirty="0"/>
              <a:t>模拟信号。该信号在经过控制器功放后水泵加水，从而实现对水箱液位的反馈控制。</a:t>
            </a:r>
          </a:p>
          <a:p>
            <a:endParaRPr lang="zh-CN" altLang="en-US" dirty="0"/>
          </a:p>
        </p:txBody>
      </p:sp>
    </p:spTree>
    <p:extLst>
      <p:ext uri="{BB962C8B-B14F-4D97-AF65-F5344CB8AC3E}">
        <p14:creationId xmlns:p14="http://schemas.microsoft.com/office/powerpoint/2010/main" val="40765384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endParaRPr lang="zh-CN" altLang="en-US"/>
          </a:p>
        </p:txBody>
      </p:sp>
      <p:pic>
        <p:nvPicPr>
          <p:cNvPr id="6" name="内容占位符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2198823" y="1825625"/>
            <a:ext cx="2460354" cy="4351338"/>
          </a:xfrm>
        </p:spPr>
      </p:pic>
      <p:pic>
        <p:nvPicPr>
          <p:cNvPr id="9" name="内容占位符 8"/>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5220650" y="2858584"/>
            <a:ext cx="4340444" cy="2927105"/>
          </a:xfrm>
        </p:spPr>
      </p:pic>
    </p:spTree>
    <p:extLst>
      <p:ext uri="{BB962C8B-B14F-4D97-AF65-F5344CB8AC3E}">
        <p14:creationId xmlns:p14="http://schemas.microsoft.com/office/powerpoint/2010/main" val="30229108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2198711" y="1825625"/>
            <a:ext cx="2460578" cy="4351338"/>
          </a:xfrm>
        </p:spPr>
      </p:pic>
      <p:pic>
        <p:nvPicPr>
          <p:cNvPr id="6" name="内容占位符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5190563" y="1825625"/>
            <a:ext cx="2460578" cy="4351338"/>
          </a:xfrm>
        </p:spPr>
      </p:pic>
    </p:spTree>
    <p:extLst>
      <p:ext uri="{BB962C8B-B14F-4D97-AF65-F5344CB8AC3E}">
        <p14:creationId xmlns:p14="http://schemas.microsoft.com/office/powerpoint/2010/main" val="15376211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控制对象</a:t>
            </a:r>
            <a:r>
              <a:rPr lang="zh-CN" altLang="zh-CN" dirty="0"/>
              <a:t>的建模</a:t>
            </a:r>
            <a:br>
              <a:rPr lang="zh-CN" altLang="zh-CN" dirty="0"/>
            </a:b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2453639"/>
                <a:ext cx="10515600" cy="3723323"/>
              </a:xfrm>
            </p:spPr>
            <p:txBody>
              <a:bodyPr>
                <a:normAutofit lnSpcReduction="10000"/>
              </a:bodyPr>
              <a:lstStyle/>
              <a:p>
                <a:r>
                  <a:rPr lang="zh-CN" altLang="zh-CN" dirty="0" smtClean="0"/>
                  <a:t>水箱控制系统是一个一阶纯滞后系统，其模型表达式为：</a:t>
                </a:r>
              </a:p>
              <a:p>
                <a:r>
                  <a:rPr lang="en-US" altLang="zh-CN" dirty="0"/>
                  <a:t> </a:t>
                </a:r>
                <a:endParaRPr lang="zh-CN" altLang="zh-CN" dirty="0"/>
              </a:p>
              <a:p>
                <a14:m>
                  <m:oMath xmlns:m="http://schemas.openxmlformats.org/officeDocument/2006/math">
                    <m:r>
                      <a:rPr lang="en-US" altLang="zh-CN" i="1">
                        <a:latin typeface="Cambria Math" panose="02040503050406030204" pitchFamily="18" charset="0"/>
                      </a:rPr>
                      <m:t>                                    </m:t>
                    </m:r>
                    <m:r>
                      <a:rPr lang="en-US" altLang="zh-CN" i="1">
                        <a:latin typeface="Cambria Math" panose="02040503050406030204" pitchFamily="18" charset="0"/>
                      </a:rPr>
                      <m:t>𝐺</m:t>
                    </m:r>
                    <m:r>
                      <a:rPr lang="en-US" altLang="zh-CN" i="1">
                        <a:latin typeface="Cambria Math" panose="02040503050406030204" pitchFamily="18" charset="0"/>
                      </a:rPr>
                      <m:t>(</m:t>
                    </m:r>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a:latin typeface="Cambria Math" panose="02040503050406030204" pitchFamily="18" charset="0"/>
                      </a:rPr>
                      <m:t>=</m:t>
                    </m:r>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K</m:t>
                        </m:r>
                      </m:num>
                      <m:den>
                        <m:r>
                          <m:rPr>
                            <m:sty m:val="p"/>
                          </m:rPr>
                          <a:rPr lang="en-US" altLang="zh-CN" b="0" i="0" smtClean="0">
                            <a:latin typeface="Cambria Math" panose="02040503050406030204" pitchFamily="18" charset="0"/>
                          </a:rPr>
                          <m:t>Q</m:t>
                        </m:r>
                        <m:r>
                          <m:rPr>
                            <m:sty m:val="p"/>
                          </m:rPr>
                          <a:rPr lang="en-US" altLang="zh-CN">
                            <a:latin typeface="Cambria Math" panose="02040503050406030204" pitchFamily="18" charset="0"/>
                          </a:rPr>
                          <m:t>S</m:t>
                        </m:r>
                        <m:r>
                          <a:rPr lang="en-US" altLang="zh-CN">
                            <a:latin typeface="Cambria Math" panose="02040503050406030204" pitchFamily="18" charset="0"/>
                          </a:rPr>
                          <m:t>+1</m:t>
                        </m:r>
                      </m:den>
                    </m:f>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𝜏</m:t>
                        </m:r>
                        <m:r>
                          <a:rPr lang="en-US" altLang="zh-CN" i="1">
                            <a:latin typeface="Cambria Math" panose="02040503050406030204" pitchFamily="18" charset="0"/>
                          </a:rPr>
                          <m:t>𝑆</m:t>
                        </m:r>
                      </m:sup>
                    </m:sSup>
                  </m:oMath>
                </a14:m>
                <a:r>
                  <a:rPr lang="en-US" altLang="zh-CN" dirty="0"/>
                  <a:t> </a:t>
                </a:r>
              </a:p>
              <a:p>
                <a14:m>
                  <m:oMath xmlns:m="http://schemas.openxmlformats.org/officeDocument/2006/math">
                    <m:r>
                      <a:rPr lang="en-US" altLang="zh-CN" i="1">
                        <a:latin typeface="Cambria Math" panose="02040503050406030204" pitchFamily="18" charset="0"/>
                      </a:rPr>
                      <m:t>𝜏</m:t>
                    </m:r>
                  </m:oMath>
                </a14:m>
                <a:r>
                  <a:rPr lang="zh-CN" altLang="en-US" dirty="0" smtClean="0"/>
                  <a:t>为时延</a:t>
                </a:r>
                <a:endParaRPr lang="en-US" altLang="zh-CN" dirty="0" smtClean="0"/>
              </a:p>
              <a:p>
                <a:r>
                  <a:rPr lang="zh-CN" altLang="en-US" dirty="0"/>
                  <a:t>增益</a:t>
                </a:r>
                <a:r>
                  <a:rPr lang="en-US" altLang="zh-CN" dirty="0" smtClean="0"/>
                  <a:t>K:  K=</a:t>
                </a:r>
                <a:r>
                  <a:rPr lang="el-GR" altLang="zh-CN" dirty="0" smtClean="0">
                    <a:ea typeface="宋体" panose="02010600030101010101" pitchFamily="2" charset="-122"/>
                  </a:rPr>
                  <a:t>Δ</a:t>
                </a:r>
                <a:r>
                  <a:rPr lang="en-US" altLang="zh-CN" dirty="0" smtClean="0">
                    <a:ea typeface="宋体" panose="02010600030101010101" pitchFamily="2" charset="-122"/>
                  </a:rPr>
                  <a:t>T/</a:t>
                </a:r>
                <a:r>
                  <a:rPr lang="el-GR" altLang="zh-CN" dirty="0"/>
                  <a:t> </a:t>
                </a:r>
                <a:r>
                  <a:rPr lang="el-GR" altLang="zh-CN" dirty="0" smtClean="0"/>
                  <a:t>Δ</a:t>
                </a:r>
                <a:r>
                  <a:rPr lang="en-US" altLang="zh-CN" dirty="0" smtClean="0"/>
                  <a:t>U    (</a:t>
                </a:r>
                <a:r>
                  <a:rPr lang="el-GR" altLang="zh-CN" dirty="0" smtClean="0"/>
                  <a:t>Δ</a:t>
                </a:r>
                <a:r>
                  <a:rPr lang="en-US" altLang="zh-CN" dirty="0" smtClean="0"/>
                  <a:t>T</a:t>
                </a:r>
                <a:r>
                  <a:rPr lang="zh-CN" altLang="en-US" dirty="0" smtClean="0"/>
                  <a:t>为液位差，</a:t>
                </a:r>
                <a:r>
                  <a:rPr lang="el-GR" altLang="zh-CN" dirty="0"/>
                  <a:t> Δ</a:t>
                </a:r>
                <a:r>
                  <a:rPr lang="en-US" altLang="zh-CN" dirty="0" smtClean="0"/>
                  <a:t>U</a:t>
                </a:r>
                <a:r>
                  <a:rPr lang="zh-CN" altLang="en-US" dirty="0" smtClean="0"/>
                  <a:t>开环输入值差）</a:t>
                </a:r>
                <a:endParaRPr lang="en-US" altLang="zh-CN" dirty="0" smtClean="0"/>
              </a:p>
              <a:p>
                <a:r>
                  <a:rPr lang="zh-CN" altLang="en-US" dirty="0" smtClean="0"/>
                  <a:t>时间常数</a:t>
                </a:r>
                <a:r>
                  <a:rPr lang="en-US" altLang="zh-CN" dirty="0" smtClean="0"/>
                  <a:t>Q:   </a:t>
                </a:r>
                <a:r>
                  <a:rPr lang="zh-CN" altLang="en-US" dirty="0" smtClean="0"/>
                  <a:t>只考虑一阶惯性环节</a:t>
                </a:r>
                <a14:m>
                  <m:oMath xmlns:m="http://schemas.openxmlformats.org/officeDocument/2006/math">
                    <m:r>
                      <a:rPr lang="en-US" altLang="zh-CN" i="1">
                        <a:latin typeface="Cambria Math" panose="02040503050406030204" pitchFamily="18" charset="0"/>
                      </a:rPr>
                      <m:t>𝐺</m:t>
                    </m:r>
                    <m:r>
                      <a:rPr lang="en-US" altLang="zh-CN" i="1">
                        <a:latin typeface="Cambria Math" panose="02040503050406030204" pitchFamily="18" charset="0"/>
                      </a:rPr>
                      <m:t>(</m:t>
                    </m:r>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a:latin typeface="Cambria Math" panose="02040503050406030204" pitchFamily="18" charset="0"/>
                      </a:rPr>
                      <m:t>=</m:t>
                    </m:r>
                    <m:f>
                      <m:fPr>
                        <m:ctrlPr>
                          <a:rPr lang="zh-CN" altLang="zh-CN" i="1">
                            <a:latin typeface="Cambria Math" panose="02040503050406030204" pitchFamily="18" charset="0"/>
                          </a:rPr>
                        </m:ctrlPr>
                      </m:fPr>
                      <m:num>
                        <m:r>
                          <m:rPr>
                            <m:sty m:val="p"/>
                          </m:rPr>
                          <a:rPr lang="en-US" altLang="zh-CN">
                            <a:latin typeface="Cambria Math" panose="02040503050406030204" pitchFamily="18" charset="0"/>
                          </a:rPr>
                          <m:t>K</m:t>
                        </m:r>
                      </m:num>
                      <m:den>
                        <m:r>
                          <m:rPr>
                            <m:sty m:val="p"/>
                          </m:rPr>
                          <a:rPr lang="en-US" altLang="zh-CN" b="0" i="0" smtClean="0">
                            <a:latin typeface="Cambria Math" panose="02040503050406030204" pitchFamily="18" charset="0"/>
                          </a:rPr>
                          <m:t>Q</m:t>
                        </m:r>
                        <m:r>
                          <m:rPr>
                            <m:sty m:val="p"/>
                          </m:rPr>
                          <a:rPr lang="en-US" altLang="zh-CN">
                            <a:latin typeface="Cambria Math" panose="02040503050406030204" pitchFamily="18" charset="0"/>
                          </a:rPr>
                          <m:t>S</m:t>
                        </m:r>
                        <m:r>
                          <a:rPr lang="en-US" altLang="zh-CN">
                            <a:latin typeface="Cambria Math" panose="02040503050406030204" pitchFamily="18" charset="0"/>
                          </a:rPr>
                          <m:t>+1</m:t>
                        </m:r>
                      </m:den>
                    </m:f>
                  </m:oMath>
                </a14:m>
                <a:r>
                  <a:rPr lang="en-US" altLang="zh-CN" dirty="0" smtClean="0"/>
                  <a:t>   </a:t>
                </a:r>
                <a14:m>
                  <m:oMath xmlns:m="http://schemas.openxmlformats.org/officeDocument/2006/math">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𝑦</m:t>
                        </m:r>
                      </m:e>
                      <m:sup>
                        <m:r>
                          <a:rPr lang="en-US" altLang="zh-CN" b="0" i="1" dirty="0" smtClean="0">
                            <a:latin typeface="Cambria Math" panose="02040503050406030204" pitchFamily="18" charset="0"/>
                          </a:rPr>
                          <m:t>∗</m:t>
                        </m:r>
                      </m:sup>
                    </m:sSup>
                  </m:oMath>
                </a14:m>
                <a:r>
                  <a:rPr lang="en-US" altLang="zh-CN" dirty="0" smtClean="0"/>
                  <a:t>(t)=1-</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𝑡</m:t>
                            </m:r>
                          </m:num>
                          <m:den>
                            <m:r>
                              <a:rPr lang="en-US" altLang="zh-CN" b="0" i="1" smtClean="0">
                                <a:latin typeface="Cambria Math" panose="02040503050406030204" pitchFamily="18" charset="0"/>
                              </a:rPr>
                              <m:t>𝑄</m:t>
                            </m:r>
                          </m:den>
                        </m:f>
                      </m:sup>
                    </m:sSup>
                  </m:oMath>
                </a14:m>
                <a:r>
                  <a:rPr lang="en-US" altLang="zh-CN" dirty="0" smtClean="0"/>
                  <a:t>  </a:t>
                </a:r>
                <a:r>
                  <a:rPr lang="en-US" altLang="zh-CN" dirty="0"/>
                  <a:t> </a:t>
                </a:r>
                <a:endParaRPr lang="en-US" altLang="zh-CN" dirty="0" smtClean="0"/>
              </a:p>
              <a:p>
                <a:pPr marL="0" indent="0">
                  <a:buNone/>
                </a:pPr>
                <a:r>
                  <a:rPr lang="en-US" altLang="zh-CN" dirty="0"/>
                  <a:t> </a:t>
                </a:r>
                <a:r>
                  <a:rPr lang="en-US" altLang="zh-CN" dirty="0" smtClean="0"/>
                  <a:t>      t</a:t>
                </a:r>
                <a:r>
                  <a:rPr lang="en-US" altLang="zh-CN" dirty="0"/>
                  <a:t>= Q,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𝑦</m:t>
                        </m:r>
                      </m:e>
                      <m:sup>
                        <m:r>
                          <a:rPr lang="en-US" altLang="zh-CN" i="1" dirty="0">
                            <a:latin typeface="Cambria Math" panose="02040503050406030204" pitchFamily="18" charset="0"/>
                          </a:rPr>
                          <m:t>∗</m:t>
                        </m:r>
                      </m:sup>
                    </m:sSup>
                  </m:oMath>
                </a14:m>
                <a:r>
                  <a:rPr lang="en-US" altLang="zh-CN" dirty="0" smtClean="0"/>
                  <a:t>(Q)=(1-</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−1</m:t>
                        </m:r>
                      </m:sup>
                    </m:sSup>
                  </m:oMath>
                </a14:m>
                <a:r>
                  <a:rPr lang="en-US" altLang="zh-CN" dirty="0" smtClean="0"/>
                  <a:t>)</a:t>
                </a:r>
                <a:r>
                  <a:rPr lang="el-GR" altLang="zh-CN" dirty="0"/>
                  <a:t> </a:t>
                </a:r>
                <a:r>
                  <a:rPr lang="en-US" altLang="zh-CN" dirty="0" smtClean="0"/>
                  <a:t> </a:t>
                </a:r>
                <a:r>
                  <a:rPr lang="en-US" altLang="zh-CN" dirty="0"/>
                  <a:t>=</a:t>
                </a:r>
                <a:r>
                  <a:rPr lang="en-US" altLang="zh-CN" dirty="0" smtClean="0"/>
                  <a:t>0.63</a:t>
                </a:r>
                <a:r>
                  <a:rPr lang="el-GR" altLang="zh-CN" dirty="0"/>
                  <a:t> </a:t>
                </a:r>
                <a:endParaRPr lang="en-US" altLang="zh-CN" dirty="0" smtClean="0"/>
              </a:p>
              <a:p>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2453639"/>
                <a:ext cx="10515600" cy="3723323"/>
              </a:xfrm>
              <a:blipFill rotWithShape="0">
                <a:blip r:embed="rId2"/>
                <a:stretch>
                  <a:fillRect l="-1043" t="-4583" b="-19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91891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372812"/>
          </a:xfrm>
        </p:spPr>
        <p:txBody>
          <a:bodyPr>
            <a:normAutofit fontScale="90000"/>
          </a:bodyPr>
          <a:lstStyle/>
          <a:p>
            <a:endParaRPr lang="zh-CN" altLang="en-US" dirty="0"/>
          </a:p>
        </p:txBody>
      </p:sp>
      <p:pic>
        <p:nvPicPr>
          <p:cNvPr id="5" name="内容占位符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288758"/>
            <a:ext cx="11678652" cy="6882063"/>
          </a:xfrm>
        </p:spPr>
      </p:pic>
    </p:spTree>
    <p:extLst>
      <p:ext uri="{BB962C8B-B14F-4D97-AF65-F5344CB8AC3E}">
        <p14:creationId xmlns:p14="http://schemas.microsoft.com/office/powerpoint/2010/main" val="5296932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16067" y="0"/>
            <a:ext cx="4711427" cy="6858000"/>
          </a:xfrm>
        </p:spPr>
      </p:pic>
    </p:spTree>
    <p:extLst>
      <p:ext uri="{BB962C8B-B14F-4D97-AF65-F5344CB8AC3E}">
        <p14:creationId xmlns:p14="http://schemas.microsoft.com/office/powerpoint/2010/main" val="30377214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85012"/>
            <a:ext cx="10411326" cy="7243011"/>
          </a:xfrm>
        </p:spPr>
      </p:pic>
    </p:spTree>
    <p:extLst>
      <p:ext uri="{BB962C8B-B14F-4D97-AF65-F5344CB8AC3E}">
        <p14:creationId xmlns:p14="http://schemas.microsoft.com/office/powerpoint/2010/main" val="32081219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TotalTime>
  <Words>289</Words>
  <Application>Microsoft Office PowerPoint</Application>
  <PresentationFormat>宽屏</PresentationFormat>
  <Paragraphs>26</Paragraphs>
  <Slides>10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宋体</vt:lpstr>
      <vt:lpstr>Arial</vt:lpstr>
      <vt:lpstr>Calibri</vt:lpstr>
      <vt:lpstr>Calibri Light</vt:lpstr>
      <vt:lpstr>Cambria Math</vt:lpstr>
      <vt:lpstr>Office 主题</vt:lpstr>
      <vt:lpstr>系统与控制二</vt:lpstr>
      <vt:lpstr>实验内容 </vt:lpstr>
      <vt:lpstr>实验目的 </vt:lpstr>
      <vt:lpstr>实验设备与系统 </vt:lpstr>
      <vt:lpstr>PowerPoint 演示文稿</vt:lpstr>
      <vt:lpstr>PowerPoint 演示文稿</vt:lpstr>
      <vt:lpstr>控制对象的建模 </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系统与控制三</dc:title>
  <dc:creator>Lenovo</dc:creator>
  <cp:lastModifiedBy>Lenovo</cp:lastModifiedBy>
  <cp:revision>26</cp:revision>
  <dcterms:created xsi:type="dcterms:W3CDTF">2019-05-13T06:03:18Z</dcterms:created>
  <dcterms:modified xsi:type="dcterms:W3CDTF">2026-05-20T00:52:54Z</dcterms:modified>
</cp:coreProperties>
</file>