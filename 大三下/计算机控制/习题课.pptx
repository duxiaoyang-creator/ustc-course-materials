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3"/>
    <p:sldId id="280" r:id="rId4"/>
    <p:sldId id="281" r:id="rId5"/>
    <p:sldId id="282" r:id="rId6"/>
    <p:sldId id="283" r:id="rId7"/>
    <p:sldId id="284" r:id="rId8"/>
    <p:sldId id="285" r:id="rId9"/>
    <p:sldId id="291" r:id="rId10"/>
    <p:sldId id="292" r:id="rId11"/>
    <p:sldId id="293" r:id="rId12"/>
    <p:sldId id="294" r:id="rId13"/>
    <p:sldId id="295" r:id="rId14"/>
    <p:sldId id="296" r:id="rId15"/>
    <p:sldId id="297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00" y="42"/>
            <a:ext cx="4064000" cy="685533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4571999" cy="6857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12915" y="0"/>
            <a:ext cx="8597900" cy="6858000"/>
          </a:xfrm>
          <a:custGeom>
            <a:avLst/>
            <a:gdLst/>
            <a:ahLst/>
            <a:cxnLst/>
            <a:rect l="l" t="t" r="r" b="b"/>
            <a:pathLst>
              <a:path w="8597900" h="6858000">
                <a:moveTo>
                  <a:pt x="8597392" y="0"/>
                </a:moveTo>
                <a:lnTo>
                  <a:pt x="0" y="0"/>
                </a:lnTo>
                <a:lnTo>
                  <a:pt x="0" y="6858000"/>
                </a:lnTo>
                <a:lnTo>
                  <a:pt x="8597392" y="6858000"/>
                </a:lnTo>
                <a:lnTo>
                  <a:pt x="8597392" y="0"/>
                </a:lnTo>
                <a:close/>
              </a:path>
            </a:pathLst>
          </a:custGeom>
          <a:solidFill>
            <a:srgbClr val="123A6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915" y="2951523"/>
            <a:ext cx="8597392" cy="390385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116" y="1222247"/>
            <a:ext cx="8999220" cy="310591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26439" y="1400428"/>
            <a:ext cx="8600440" cy="113664"/>
          </a:xfrm>
          <a:custGeom>
            <a:avLst/>
            <a:gdLst/>
            <a:ahLst/>
            <a:cxnLst/>
            <a:rect l="l" t="t" r="r" b="b"/>
            <a:pathLst>
              <a:path w="8600440" h="113665">
                <a:moveTo>
                  <a:pt x="0" y="113411"/>
                </a:moveTo>
                <a:lnTo>
                  <a:pt x="8600440" y="113411"/>
                </a:lnTo>
                <a:lnTo>
                  <a:pt x="8600440" y="0"/>
                </a:lnTo>
                <a:lnTo>
                  <a:pt x="0" y="0"/>
                </a:lnTo>
                <a:lnTo>
                  <a:pt x="0" y="113411"/>
                </a:lnTo>
                <a:close/>
              </a:path>
            </a:pathLst>
          </a:custGeom>
          <a:solidFill>
            <a:srgbClr val="379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26439" y="1513839"/>
            <a:ext cx="8600440" cy="2595880"/>
          </a:xfrm>
          <a:custGeom>
            <a:avLst/>
            <a:gdLst/>
            <a:ahLst/>
            <a:cxnLst/>
            <a:rect l="l" t="t" r="r" b="b"/>
            <a:pathLst>
              <a:path w="8600440" h="2595879">
                <a:moveTo>
                  <a:pt x="8600440" y="0"/>
                </a:moveTo>
                <a:lnTo>
                  <a:pt x="0" y="0"/>
                </a:lnTo>
                <a:lnTo>
                  <a:pt x="0" y="2595880"/>
                </a:lnTo>
                <a:lnTo>
                  <a:pt x="8600440" y="2595880"/>
                </a:lnTo>
                <a:lnTo>
                  <a:pt x="8600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22388" y="2004453"/>
            <a:ext cx="233679" cy="744220"/>
          </a:xfrm>
          <a:custGeom>
            <a:avLst/>
            <a:gdLst/>
            <a:ahLst/>
            <a:cxnLst/>
            <a:rect l="l" t="t" r="r" b="b"/>
            <a:pathLst>
              <a:path w="233680" h="744219">
                <a:moveTo>
                  <a:pt x="233680" y="0"/>
                </a:moveTo>
                <a:lnTo>
                  <a:pt x="0" y="0"/>
                </a:lnTo>
                <a:lnTo>
                  <a:pt x="0" y="743826"/>
                </a:lnTo>
                <a:lnTo>
                  <a:pt x="233680" y="743826"/>
                </a:lnTo>
                <a:lnTo>
                  <a:pt x="233680" y="0"/>
                </a:lnTo>
                <a:close/>
              </a:path>
            </a:pathLst>
          </a:custGeom>
          <a:solidFill>
            <a:srgbClr val="FFCA0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3458" y="6481483"/>
            <a:ext cx="1437259" cy="65976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3458" y="6259207"/>
            <a:ext cx="1437640" cy="187032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6086" y="6242964"/>
            <a:ext cx="303491" cy="3055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9936" y="1862073"/>
            <a:ext cx="732599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D2C4A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ndara"/>
                <a:cs typeface="Candara"/>
              </a:defRPr>
            </a:lvl1pPr>
          </a:lstStyle>
          <a:p>
            <a:pPr marL="66040">
              <a:lnSpc>
                <a:spcPts val="157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D2C4A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ndara"/>
                <a:cs typeface="Candara"/>
              </a:defRPr>
            </a:lvl1pPr>
          </a:lstStyle>
          <a:p>
            <a:pPr marL="66040">
              <a:lnSpc>
                <a:spcPts val="157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D2C4A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ndara"/>
                <a:cs typeface="Candara"/>
              </a:defRPr>
            </a:lvl1pPr>
          </a:lstStyle>
          <a:p>
            <a:pPr marL="66040">
              <a:lnSpc>
                <a:spcPts val="157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50" y="42"/>
            <a:ext cx="3524250" cy="685533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4571999" cy="6857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12915" y="0"/>
            <a:ext cx="9543415" cy="6858000"/>
          </a:xfrm>
          <a:custGeom>
            <a:avLst/>
            <a:gdLst/>
            <a:ahLst/>
            <a:cxnLst/>
            <a:rect l="l" t="t" r="r" b="b"/>
            <a:pathLst>
              <a:path w="9543415" h="6858000">
                <a:moveTo>
                  <a:pt x="9543415" y="0"/>
                </a:moveTo>
                <a:lnTo>
                  <a:pt x="0" y="0"/>
                </a:lnTo>
                <a:lnTo>
                  <a:pt x="0" y="6858000"/>
                </a:lnTo>
                <a:lnTo>
                  <a:pt x="9543415" y="6858000"/>
                </a:lnTo>
                <a:lnTo>
                  <a:pt x="9543415" y="0"/>
                </a:lnTo>
                <a:close/>
              </a:path>
            </a:pathLst>
          </a:custGeom>
          <a:solidFill>
            <a:srgbClr val="123A6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915" y="2951523"/>
            <a:ext cx="9539986" cy="390385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116" y="2125979"/>
            <a:ext cx="9938004" cy="2327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26439" y="2305176"/>
            <a:ext cx="9539605" cy="101600"/>
          </a:xfrm>
          <a:custGeom>
            <a:avLst/>
            <a:gdLst/>
            <a:ahLst/>
            <a:cxnLst/>
            <a:rect l="l" t="t" r="r" b="b"/>
            <a:pathLst>
              <a:path w="9539605" h="101600">
                <a:moveTo>
                  <a:pt x="0" y="101473"/>
                </a:moveTo>
                <a:lnTo>
                  <a:pt x="9539351" y="101473"/>
                </a:lnTo>
                <a:lnTo>
                  <a:pt x="9539351" y="0"/>
                </a:lnTo>
                <a:lnTo>
                  <a:pt x="0" y="0"/>
                </a:lnTo>
                <a:lnTo>
                  <a:pt x="0" y="101473"/>
                </a:lnTo>
                <a:close/>
              </a:path>
            </a:pathLst>
          </a:custGeom>
          <a:solidFill>
            <a:srgbClr val="379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26439" y="2406650"/>
            <a:ext cx="9539605" cy="1826895"/>
          </a:xfrm>
          <a:custGeom>
            <a:avLst/>
            <a:gdLst/>
            <a:ahLst/>
            <a:cxnLst/>
            <a:rect l="l" t="t" r="r" b="b"/>
            <a:pathLst>
              <a:path w="9539605" h="1826895">
                <a:moveTo>
                  <a:pt x="9539351" y="0"/>
                </a:moveTo>
                <a:lnTo>
                  <a:pt x="0" y="0"/>
                </a:lnTo>
                <a:lnTo>
                  <a:pt x="0" y="1826895"/>
                </a:lnTo>
                <a:lnTo>
                  <a:pt x="9539351" y="1826895"/>
                </a:lnTo>
                <a:lnTo>
                  <a:pt x="95393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3458" y="6481483"/>
            <a:ext cx="1437259" cy="6597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3458" y="6259207"/>
            <a:ext cx="1437640" cy="18703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6086" y="6242964"/>
            <a:ext cx="303491" cy="3055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D2C4A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ndara"/>
                <a:cs typeface="Candara"/>
              </a:defRPr>
            </a:lvl1pPr>
          </a:lstStyle>
          <a:p>
            <a:pPr marL="66040">
              <a:lnSpc>
                <a:spcPts val="157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ndara"/>
                <a:cs typeface="Candara"/>
              </a:defRPr>
            </a:lvl1pPr>
          </a:lstStyle>
          <a:p>
            <a:pPr marL="66040">
              <a:lnSpc>
                <a:spcPts val="157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-1"/>
            <a:ext cx="4571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12915" y="0"/>
            <a:ext cx="11879580" cy="6858000"/>
          </a:xfrm>
          <a:custGeom>
            <a:avLst/>
            <a:gdLst/>
            <a:ahLst/>
            <a:cxnLst/>
            <a:rect l="l" t="t" r="r" b="b"/>
            <a:pathLst>
              <a:path w="11879580" h="6858000">
                <a:moveTo>
                  <a:pt x="11879072" y="0"/>
                </a:moveTo>
                <a:lnTo>
                  <a:pt x="0" y="0"/>
                </a:lnTo>
                <a:lnTo>
                  <a:pt x="0" y="6858000"/>
                </a:lnTo>
                <a:lnTo>
                  <a:pt x="11879072" y="6858000"/>
                </a:lnTo>
                <a:lnTo>
                  <a:pt x="11879072" y="0"/>
                </a:lnTo>
                <a:close/>
              </a:path>
            </a:pathLst>
          </a:custGeom>
          <a:solidFill>
            <a:srgbClr val="123A6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2915" y="1475991"/>
            <a:ext cx="11879072" cy="5382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7116" y="185940"/>
            <a:ext cx="11414760" cy="62103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726439" y="365137"/>
            <a:ext cx="11016615" cy="92075"/>
          </a:xfrm>
          <a:custGeom>
            <a:avLst/>
            <a:gdLst/>
            <a:ahLst/>
            <a:cxnLst/>
            <a:rect l="l" t="t" r="r" b="b"/>
            <a:pathLst>
              <a:path w="11016615" h="92075">
                <a:moveTo>
                  <a:pt x="0" y="92024"/>
                </a:moveTo>
                <a:lnTo>
                  <a:pt x="11016361" y="92024"/>
                </a:lnTo>
                <a:lnTo>
                  <a:pt x="11016361" y="0"/>
                </a:lnTo>
                <a:lnTo>
                  <a:pt x="0" y="0"/>
                </a:lnTo>
                <a:lnTo>
                  <a:pt x="0" y="92024"/>
                </a:lnTo>
                <a:close/>
              </a:path>
            </a:pathLst>
          </a:custGeom>
          <a:solidFill>
            <a:srgbClr val="379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26439" y="457161"/>
            <a:ext cx="11016615" cy="5721350"/>
          </a:xfrm>
          <a:custGeom>
            <a:avLst/>
            <a:gdLst/>
            <a:ahLst/>
            <a:cxnLst/>
            <a:rect l="l" t="t" r="r" b="b"/>
            <a:pathLst>
              <a:path w="11016615" h="5721350">
                <a:moveTo>
                  <a:pt x="11016361" y="0"/>
                </a:moveTo>
                <a:lnTo>
                  <a:pt x="0" y="0"/>
                </a:lnTo>
                <a:lnTo>
                  <a:pt x="0" y="5720842"/>
                </a:lnTo>
                <a:lnTo>
                  <a:pt x="11016361" y="5720842"/>
                </a:lnTo>
                <a:lnTo>
                  <a:pt x="110163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22388" y="704265"/>
            <a:ext cx="144780" cy="444500"/>
          </a:xfrm>
          <a:custGeom>
            <a:avLst/>
            <a:gdLst/>
            <a:ahLst/>
            <a:cxnLst/>
            <a:rect l="l" t="t" r="r" b="b"/>
            <a:pathLst>
              <a:path w="144780" h="444500">
                <a:moveTo>
                  <a:pt x="144259" y="0"/>
                </a:moveTo>
                <a:lnTo>
                  <a:pt x="0" y="0"/>
                </a:lnTo>
                <a:lnTo>
                  <a:pt x="0" y="443941"/>
                </a:lnTo>
                <a:lnTo>
                  <a:pt x="144259" y="443941"/>
                </a:lnTo>
                <a:lnTo>
                  <a:pt x="144259" y="0"/>
                </a:lnTo>
                <a:close/>
              </a:path>
            </a:pathLst>
          </a:custGeom>
          <a:solidFill>
            <a:srgbClr val="FFCA0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78242" y="6608889"/>
            <a:ext cx="1437195" cy="6597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8242" y="6386601"/>
            <a:ext cx="1437576" cy="18703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0818" y="6370358"/>
            <a:ext cx="303479" cy="3055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7092" y="2815208"/>
            <a:ext cx="205549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D2C4A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39779" y="6449405"/>
            <a:ext cx="27432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Candara"/>
                <a:cs typeface="Candara"/>
              </a:defRPr>
            </a:lvl1pPr>
          </a:lstStyle>
          <a:p>
            <a:pPr marL="66040">
              <a:lnSpc>
                <a:spcPts val="157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0.png"/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44.jpeg"/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image" Target="../media/image4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48.png"/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image" Target="../media/image45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2.jpeg"/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67750" y="42"/>
            <a:ext cx="3524250" cy="685533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-1"/>
            <a:ext cx="10485120" cy="6858000"/>
            <a:chOff x="0" y="-1"/>
            <a:chExt cx="1048512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4571999" cy="6857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2915" y="0"/>
              <a:ext cx="9543415" cy="6858000"/>
            </a:xfrm>
            <a:custGeom>
              <a:avLst/>
              <a:gdLst/>
              <a:ahLst/>
              <a:cxnLst/>
              <a:rect l="l" t="t" r="r" b="b"/>
              <a:pathLst>
                <a:path w="9543415" h="6858000">
                  <a:moveTo>
                    <a:pt x="954341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543415" y="6858000"/>
                  </a:lnTo>
                  <a:lnTo>
                    <a:pt x="9543415" y="0"/>
                  </a:lnTo>
                  <a:close/>
                </a:path>
              </a:pathLst>
            </a:custGeom>
            <a:solidFill>
              <a:srgbClr val="123A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915" y="2951523"/>
              <a:ext cx="9539986" cy="390385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116" y="2125979"/>
              <a:ext cx="9938004" cy="23271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6439" y="2305176"/>
              <a:ext cx="9539605" cy="101600"/>
            </a:xfrm>
            <a:custGeom>
              <a:avLst/>
              <a:gdLst/>
              <a:ahLst/>
              <a:cxnLst/>
              <a:rect l="l" t="t" r="r" b="b"/>
              <a:pathLst>
                <a:path w="9539605" h="101600">
                  <a:moveTo>
                    <a:pt x="0" y="101473"/>
                  </a:moveTo>
                  <a:lnTo>
                    <a:pt x="9539351" y="101473"/>
                  </a:lnTo>
                  <a:lnTo>
                    <a:pt x="9539351" y="0"/>
                  </a:lnTo>
                  <a:lnTo>
                    <a:pt x="0" y="0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3797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26439" y="2406650"/>
              <a:ext cx="9539605" cy="1826895"/>
            </a:xfrm>
            <a:custGeom>
              <a:avLst/>
              <a:gdLst/>
              <a:ahLst/>
              <a:cxnLst/>
              <a:rect l="l" t="t" r="r" b="b"/>
              <a:pathLst>
                <a:path w="9539605" h="1826895">
                  <a:moveTo>
                    <a:pt x="9539351" y="0"/>
                  </a:moveTo>
                  <a:lnTo>
                    <a:pt x="0" y="0"/>
                  </a:lnTo>
                  <a:lnTo>
                    <a:pt x="0" y="1826895"/>
                  </a:lnTo>
                  <a:lnTo>
                    <a:pt x="9539351" y="1826895"/>
                  </a:lnTo>
                  <a:lnTo>
                    <a:pt x="9539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3458" y="6481483"/>
              <a:ext cx="1437259" cy="659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3458" y="6259207"/>
              <a:ext cx="1437640" cy="1870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6086" y="6242964"/>
              <a:ext cx="303491" cy="30551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887092" y="2815208"/>
            <a:ext cx="1548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45" dirty="0">
                <a:solidFill>
                  <a:srgbClr val="0D2C4A"/>
                </a:solidFill>
                <a:latin typeface="微软雅黑"/>
                <a:cs typeface="微软雅黑"/>
              </a:rPr>
              <a:t>第四章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7075" y="2800692"/>
            <a:ext cx="898525" cy="883285"/>
          </a:xfrm>
          <a:custGeom>
            <a:avLst/>
            <a:gdLst/>
            <a:ahLst/>
            <a:cxnLst/>
            <a:rect l="l" t="t" r="r" b="b"/>
            <a:pathLst>
              <a:path w="898525" h="883285">
                <a:moveTo>
                  <a:pt x="898525" y="0"/>
                </a:moveTo>
                <a:lnTo>
                  <a:pt x="0" y="0"/>
                </a:lnTo>
                <a:lnTo>
                  <a:pt x="0" y="883069"/>
                </a:lnTo>
                <a:lnTo>
                  <a:pt x="898525" y="883069"/>
                </a:lnTo>
                <a:lnTo>
                  <a:pt x="898525" y="0"/>
                </a:lnTo>
                <a:close/>
              </a:path>
            </a:pathLst>
          </a:custGeom>
          <a:solidFill>
            <a:srgbClr val="FFCA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98042" y="2788411"/>
            <a:ext cx="5556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solidFill>
                  <a:srgbClr val="FFFFFF"/>
                </a:solidFill>
                <a:latin typeface="Candara"/>
                <a:cs typeface="Candara"/>
              </a:rPr>
              <a:t>01</a:t>
            </a:r>
            <a:endParaRPr sz="4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25068" y="546608"/>
              <a:ext cx="6589014" cy="20284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437" y="2673654"/>
              <a:ext cx="6314186" cy="34800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4728" y="2293620"/>
              <a:ext cx="5107559" cy="18911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3896" y="4191546"/>
              <a:ext cx="3343148" cy="197637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14384" y="709676"/>
            <a:ext cx="1077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Routh</a:t>
            </a:r>
            <a:r>
              <a:rPr sz="1800" spc="-25" dirty="0">
                <a:solidFill>
                  <a:srgbClr val="313E4F"/>
                </a:solidFill>
                <a:latin typeface="微软雅黑"/>
                <a:cs typeface="微软雅黑"/>
              </a:rPr>
              <a:t>判据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22299" y="693991"/>
              <a:ext cx="5969254" cy="73539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8422" y="1660626"/>
              <a:ext cx="6125209" cy="432600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474709" y="976121"/>
            <a:ext cx="2452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根的分布</a:t>
            </a:r>
            <a:r>
              <a:rPr sz="1800" dirty="0">
                <a:solidFill>
                  <a:srgbClr val="313E4F"/>
                </a:solidFill>
                <a:latin typeface="Candara"/>
                <a:cs typeface="Candara"/>
              </a:rPr>
              <a:t>——</a:t>
            </a: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Raibel</a:t>
            </a:r>
            <a:r>
              <a:rPr sz="1800" spc="-25" dirty="0">
                <a:solidFill>
                  <a:srgbClr val="313E4F"/>
                </a:solidFill>
                <a:latin typeface="微软雅黑"/>
                <a:cs typeface="微软雅黑"/>
              </a:rPr>
              <a:t>判据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95032" y="557009"/>
              <a:ext cx="5679694" cy="10730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836" y="1661629"/>
              <a:ext cx="5316220" cy="45119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4739" y="4899139"/>
              <a:ext cx="3905885" cy="107303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213342" y="1070609"/>
            <a:ext cx="920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13E4F"/>
                </a:solidFill>
                <a:latin typeface="Candara"/>
                <a:cs typeface="Candara"/>
              </a:rPr>
              <a:t>MSC</a:t>
            </a:r>
            <a:r>
              <a:rPr sz="1800" spc="-25" dirty="0">
                <a:solidFill>
                  <a:srgbClr val="313E4F"/>
                </a:solidFill>
                <a:latin typeface="微软雅黑"/>
                <a:cs typeface="微软雅黑"/>
              </a:rPr>
              <a:t>判据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90358" y="606044"/>
              <a:ext cx="6949821" cy="14155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7754" y="2361438"/>
              <a:ext cx="5372861" cy="314261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75628" y="4667757"/>
            <a:ext cx="106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注意</a:t>
            </a: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P</a:t>
            </a:r>
            <a:r>
              <a:rPr sz="1800" spc="-25" dirty="0">
                <a:solidFill>
                  <a:srgbClr val="313E4F"/>
                </a:solidFill>
                <a:latin typeface="微软雅黑"/>
                <a:cs typeface="微软雅黑"/>
              </a:rPr>
              <a:t>不定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90942" y="631723"/>
              <a:ext cx="3638677" cy="2123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476" y="844041"/>
              <a:ext cx="4846193" cy="11050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5837" y="2050148"/>
              <a:ext cx="6529070" cy="115558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8254" y="525614"/>
              <a:ext cx="3807205" cy="56069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90942" y="631723"/>
              <a:ext cx="3638677" cy="2123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476" y="844041"/>
              <a:ext cx="4846193" cy="11050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5837" y="2050148"/>
              <a:ext cx="6529070" cy="115558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994" y="3512985"/>
              <a:ext cx="4372102" cy="8988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4617" y="4411865"/>
              <a:ext cx="5283961" cy="17095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32193" y="3800818"/>
              <a:ext cx="5109972" cy="19814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67750" y="42"/>
            <a:ext cx="3524250" cy="685533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-1"/>
            <a:ext cx="10485120" cy="6858000"/>
            <a:chOff x="0" y="-1"/>
            <a:chExt cx="1048512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4571999" cy="6857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2915" y="0"/>
              <a:ext cx="9543415" cy="6858000"/>
            </a:xfrm>
            <a:custGeom>
              <a:avLst/>
              <a:gdLst/>
              <a:ahLst/>
              <a:cxnLst/>
              <a:rect l="l" t="t" r="r" b="b"/>
              <a:pathLst>
                <a:path w="9543415" h="6858000">
                  <a:moveTo>
                    <a:pt x="954341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543415" y="6858000"/>
                  </a:lnTo>
                  <a:lnTo>
                    <a:pt x="9543415" y="0"/>
                  </a:lnTo>
                  <a:close/>
                </a:path>
              </a:pathLst>
            </a:custGeom>
            <a:solidFill>
              <a:srgbClr val="123A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915" y="2951523"/>
              <a:ext cx="9539986" cy="390385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116" y="2125979"/>
              <a:ext cx="9938004" cy="23271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6439" y="2305176"/>
              <a:ext cx="9539605" cy="101600"/>
            </a:xfrm>
            <a:custGeom>
              <a:avLst/>
              <a:gdLst/>
              <a:ahLst/>
              <a:cxnLst/>
              <a:rect l="l" t="t" r="r" b="b"/>
              <a:pathLst>
                <a:path w="9539605" h="101600">
                  <a:moveTo>
                    <a:pt x="0" y="101473"/>
                  </a:moveTo>
                  <a:lnTo>
                    <a:pt x="9539351" y="101473"/>
                  </a:lnTo>
                  <a:lnTo>
                    <a:pt x="9539351" y="0"/>
                  </a:lnTo>
                  <a:lnTo>
                    <a:pt x="0" y="0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3797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26439" y="2406650"/>
              <a:ext cx="9539605" cy="1826895"/>
            </a:xfrm>
            <a:custGeom>
              <a:avLst/>
              <a:gdLst/>
              <a:ahLst/>
              <a:cxnLst/>
              <a:rect l="l" t="t" r="r" b="b"/>
              <a:pathLst>
                <a:path w="9539605" h="1826895">
                  <a:moveTo>
                    <a:pt x="9539351" y="0"/>
                  </a:moveTo>
                  <a:lnTo>
                    <a:pt x="0" y="0"/>
                  </a:lnTo>
                  <a:lnTo>
                    <a:pt x="0" y="1826895"/>
                  </a:lnTo>
                  <a:lnTo>
                    <a:pt x="9539351" y="1826895"/>
                  </a:lnTo>
                  <a:lnTo>
                    <a:pt x="9539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3458" y="6481483"/>
              <a:ext cx="1437259" cy="659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3458" y="6259207"/>
              <a:ext cx="1437640" cy="1870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6086" y="6242964"/>
              <a:ext cx="303491" cy="30551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887092" y="2815208"/>
            <a:ext cx="1548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45" dirty="0">
                <a:solidFill>
                  <a:srgbClr val="0D2C4A"/>
                </a:solidFill>
                <a:latin typeface="微软雅黑"/>
                <a:cs typeface="微软雅黑"/>
              </a:rPr>
              <a:t>第五章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7075" y="2800692"/>
            <a:ext cx="898525" cy="883285"/>
          </a:xfrm>
          <a:custGeom>
            <a:avLst/>
            <a:gdLst/>
            <a:ahLst/>
            <a:cxnLst/>
            <a:rect l="l" t="t" r="r" b="b"/>
            <a:pathLst>
              <a:path w="898525" h="883285">
                <a:moveTo>
                  <a:pt x="898525" y="0"/>
                </a:moveTo>
                <a:lnTo>
                  <a:pt x="0" y="0"/>
                </a:lnTo>
                <a:lnTo>
                  <a:pt x="0" y="883069"/>
                </a:lnTo>
                <a:lnTo>
                  <a:pt x="898525" y="883069"/>
                </a:lnTo>
                <a:lnTo>
                  <a:pt x="898525" y="0"/>
                </a:lnTo>
                <a:close/>
              </a:path>
            </a:pathLst>
          </a:custGeom>
          <a:solidFill>
            <a:srgbClr val="FFCA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98042" y="2788411"/>
            <a:ext cx="5556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solidFill>
                  <a:srgbClr val="FFFFFF"/>
                </a:solidFill>
                <a:latin typeface="Candara"/>
                <a:cs typeface="Candara"/>
              </a:rPr>
              <a:t>01</a:t>
            </a:r>
            <a:endParaRPr sz="4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55966" y="669010"/>
              <a:ext cx="7161276" cy="105463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3796" y="2033905"/>
              <a:ext cx="6164580" cy="353136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393430" y="4571492"/>
            <a:ext cx="159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1-z^(-1)</a:t>
            </a:r>
            <a:r>
              <a:rPr sz="1800" spc="-15" dirty="0">
                <a:solidFill>
                  <a:srgbClr val="313E4F"/>
                </a:solidFill>
                <a:latin typeface="微软雅黑"/>
                <a:cs typeface="微软雅黑"/>
              </a:rPr>
              <a:t>不要漏了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68259" y="3449192"/>
            <a:ext cx="3178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13E4F"/>
                </a:solidFill>
                <a:latin typeface="Candara"/>
                <a:cs typeface="Candara"/>
              </a:rPr>
              <a:t>P.S</a:t>
            </a:r>
            <a:r>
              <a:rPr sz="1800" spc="-20" dirty="0">
                <a:solidFill>
                  <a:srgbClr val="313E4F"/>
                </a:solidFill>
                <a:latin typeface="Candara"/>
                <a:cs typeface="Candara"/>
              </a:rPr>
              <a:t>. </a:t>
            </a: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没指定方法</a:t>
            </a:r>
            <a:r>
              <a:rPr sz="1800" dirty="0">
                <a:solidFill>
                  <a:srgbClr val="313E4F"/>
                </a:solidFill>
                <a:latin typeface="Candara"/>
                <a:cs typeface="Candara"/>
              </a:rPr>
              <a:t>——</a:t>
            </a:r>
            <a:r>
              <a:rPr sz="1800" spc="-10" dirty="0">
                <a:solidFill>
                  <a:srgbClr val="313E4F"/>
                </a:solidFill>
                <a:latin typeface="微软雅黑"/>
                <a:cs typeface="微软雅黑"/>
              </a:rPr>
              <a:t>用后向差分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07021" y="612140"/>
              <a:ext cx="6887718" cy="140588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9511" y="2207196"/>
              <a:ext cx="3126485" cy="37868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10145" y="606044"/>
              <a:ext cx="6263005" cy="17936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9352" y="2598420"/>
              <a:ext cx="3416427" cy="18599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4548" y="2232469"/>
              <a:ext cx="4120007" cy="385229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98219" y="4991861"/>
            <a:ext cx="287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后向</a:t>
            </a: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/</a:t>
            </a:r>
            <a:r>
              <a:rPr sz="1800" spc="40" dirty="0">
                <a:solidFill>
                  <a:srgbClr val="313E4F"/>
                </a:solidFill>
                <a:latin typeface="微软雅黑"/>
                <a:cs typeface="微软雅黑"/>
              </a:rPr>
              <a:t>前向差分稳定性书</a:t>
            </a:r>
            <a:r>
              <a:rPr sz="1800" spc="-20" dirty="0">
                <a:solidFill>
                  <a:srgbClr val="313E4F"/>
                </a:solidFill>
                <a:latin typeface="Candara"/>
                <a:cs typeface="Candara"/>
              </a:rPr>
              <a:t>P160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94714" y="494042"/>
              <a:ext cx="6011925" cy="1093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3885" y="1692148"/>
              <a:ext cx="5032248" cy="44049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7532" y="1896097"/>
              <a:ext cx="3727704" cy="3565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6451" y="2344927"/>
              <a:ext cx="4786249" cy="143357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160901" y="3156965"/>
            <a:ext cx="2311400" cy="5695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120"/>
              </a:lnSpc>
              <a:spcBef>
                <a:spcPts val="205"/>
              </a:spcBef>
            </a:pPr>
            <a:r>
              <a:rPr sz="1800" spc="-5" dirty="0">
                <a:solidFill>
                  <a:srgbClr val="313E4F"/>
                </a:solidFill>
                <a:latin typeface="微软雅黑"/>
                <a:cs typeface="微软雅黑"/>
              </a:rPr>
              <a:t>单位圆外、上的零极点不可消，注意题目要求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0084" y="1662125"/>
            <a:ext cx="201739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d</a:t>
            </a:r>
            <a:r>
              <a:rPr sz="1800" spc="-10" dirty="0">
                <a:solidFill>
                  <a:srgbClr val="313E4F"/>
                </a:solidFill>
                <a:latin typeface="微软雅黑"/>
                <a:cs typeface="微软雅黑"/>
              </a:rPr>
              <a:t>：</a:t>
            </a: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z^-1</a:t>
            </a:r>
            <a:r>
              <a:rPr sz="1800" spc="-25" dirty="0">
                <a:solidFill>
                  <a:srgbClr val="313E4F"/>
                </a:solidFill>
                <a:latin typeface="微软雅黑"/>
                <a:cs typeface="微软雅黑"/>
              </a:rPr>
              <a:t>的次数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q</a:t>
            </a:r>
            <a:r>
              <a:rPr sz="1800" spc="-5" dirty="0">
                <a:solidFill>
                  <a:srgbClr val="313E4F"/>
                </a:solidFill>
                <a:latin typeface="微软雅黑"/>
                <a:cs typeface="微软雅黑"/>
              </a:rPr>
              <a:t>：分母</a:t>
            </a: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1-z^-1</a:t>
            </a:r>
            <a:r>
              <a:rPr sz="1800" spc="-20" dirty="0">
                <a:solidFill>
                  <a:srgbClr val="313E4F"/>
                </a:solidFill>
                <a:latin typeface="微软雅黑"/>
                <a:cs typeface="微软雅黑"/>
              </a:rPr>
              <a:t>的次数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6579" y="628015"/>
            <a:ext cx="3647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思路：零极点是否可消</a:t>
            </a:r>
            <a:r>
              <a:rPr sz="1800" dirty="0">
                <a:solidFill>
                  <a:srgbClr val="313E4F"/>
                </a:solidFill>
                <a:latin typeface="Candara"/>
                <a:cs typeface="Candara"/>
              </a:rPr>
              <a:t>——B’</a:t>
            </a: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阶次</a:t>
            </a:r>
            <a:r>
              <a:rPr sz="1800" spc="-50" dirty="0">
                <a:solidFill>
                  <a:srgbClr val="313E4F"/>
                </a:solidFill>
                <a:latin typeface="Candara"/>
                <a:cs typeface="Candara"/>
              </a:rPr>
              <a:t>—</a:t>
            </a:r>
            <a:endParaRPr sz="180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13E4F"/>
                </a:solidFill>
                <a:latin typeface="Candara"/>
                <a:cs typeface="Candara"/>
              </a:rPr>
              <a:t>—</a:t>
            </a:r>
            <a:r>
              <a:rPr sz="1800" spc="-5" dirty="0">
                <a:solidFill>
                  <a:srgbClr val="313E4F"/>
                </a:solidFill>
                <a:latin typeface="微软雅黑"/>
                <a:cs typeface="微软雅黑"/>
              </a:rPr>
              <a:t>方程求解</a:t>
            </a:r>
            <a:r>
              <a:rPr sz="1800" dirty="0">
                <a:solidFill>
                  <a:srgbClr val="313E4F"/>
                </a:solidFill>
                <a:latin typeface="Candara"/>
                <a:cs typeface="Candara"/>
              </a:rPr>
              <a:t>B’——</a:t>
            </a: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带公式得到</a:t>
            </a:r>
            <a:r>
              <a:rPr sz="1800" spc="-50" dirty="0">
                <a:solidFill>
                  <a:srgbClr val="313E4F"/>
                </a:solidFill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71880" y="486537"/>
              <a:ext cx="5838824" cy="205955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0215" y="2259749"/>
              <a:ext cx="4830953" cy="3841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331" y="2646210"/>
              <a:ext cx="5717666" cy="35253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5888" y="3702926"/>
              <a:ext cx="945934" cy="49048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598670" y="4200905"/>
            <a:ext cx="1654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13E4F"/>
                </a:solidFill>
                <a:latin typeface="微软雅黑"/>
                <a:cs typeface="微软雅黑"/>
              </a:rPr>
              <a:t>分子：</a:t>
            </a: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0.906z^-</a:t>
            </a:r>
            <a:r>
              <a:rPr sz="1800" spc="-50" dirty="0">
                <a:solidFill>
                  <a:srgbClr val="313E4F"/>
                </a:solidFill>
                <a:latin typeface="Candara"/>
                <a:cs typeface="Candara"/>
              </a:rPr>
              <a:t>2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26579" y="628015"/>
            <a:ext cx="35877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思路：零极点是否可消</a:t>
            </a:r>
            <a:r>
              <a:rPr sz="1800" dirty="0">
                <a:solidFill>
                  <a:srgbClr val="313E4F"/>
                </a:solidFill>
                <a:latin typeface="Candara"/>
                <a:cs typeface="Candara"/>
              </a:rPr>
              <a:t>——</a:t>
            </a: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F</a:t>
            </a: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阶次</a:t>
            </a:r>
            <a:r>
              <a:rPr sz="1800" spc="-50" dirty="0">
                <a:solidFill>
                  <a:srgbClr val="313E4F"/>
                </a:solidFill>
                <a:latin typeface="Candara"/>
                <a:cs typeface="Candara"/>
              </a:rPr>
              <a:t>—</a:t>
            </a:r>
            <a:endParaRPr sz="1800">
              <a:latin typeface="Candara"/>
              <a:cs typeface="Candara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313E4F"/>
                </a:solidFill>
                <a:latin typeface="Candara"/>
                <a:cs typeface="Candara"/>
              </a:rPr>
              <a:t>—</a:t>
            </a:r>
            <a:r>
              <a:rPr sz="1800" spc="-5" dirty="0">
                <a:solidFill>
                  <a:srgbClr val="313E4F"/>
                </a:solidFill>
                <a:latin typeface="微软雅黑"/>
                <a:cs typeface="微软雅黑"/>
              </a:rPr>
              <a:t>方程求解</a:t>
            </a:r>
            <a:r>
              <a:rPr sz="1800" spc="-10" dirty="0">
                <a:solidFill>
                  <a:srgbClr val="313E4F"/>
                </a:solidFill>
                <a:latin typeface="Candara"/>
                <a:cs typeface="Candara"/>
              </a:rPr>
              <a:t>F</a:t>
            </a:r>
            <a:r>
              <a:rPr sz="1800" spc="-5" dirty="0">
                <a:solidFill>
                  <a:srgbClr val="313E4F"/>
                </a:solidFill>
                <a:latin typeface="Candara"/>
                <a:cs typeface="Candara"/>
              </a:rPr>
              <a:t>——</a:t>
            </a: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带公式得到</a:t>
            </a:r>
            <a:r>
              <a:rPr sz="1800" spc="-25" dirty="0">
                <a:solidFill>
                  <a:srgbClr val="313E4F"/>
                </a:solidFill>
                <a:latin typeface="Candara"/>
                <a:cs typeface="Candara"/>
              </a:rPr>
              <a:t>D</a:t>
            </a: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、</a:t>
            </a:r>
            <a:r>
              <a:rPr sz="1800" spc="-20" dirty="0">
                <a:solidFill>
                  <a:srgbClr val="313E4F"/>
                </a:solidFill>
                <a:latin typeface="Candara"/>
                <a:cs typeface="Candara"/>
              </a:rPr>
              <a:t>z</a:t>
            </a:r>
            <a:r>
              <a:rPr sz="1800" spc="-50" dirty="0">
                <a:solidFill>
                  <a:srgbClr val="313E4F"/>
                </a:solidFill>
                <a:latin typeface="微软雅黑"/>
                <a:cs typeface="微软雅黑"/>
              </a:rPr>
              <a:t>反</a:t>
            </a:r>
            <a:r>
              <a:rPr sz="1800" dirty="0">
                <a:solidFill>
                  <a:srgbClr val="313E4F"/>
                </a:solidFill>
                <a:latin typeface="微软雅黑"/>
                <a:cs typeface="微软雅黑"/>
              </a:rPr>
              <a:t>变换求解</a:t>
            </a:r>
            <a:r>
              <a:rPr sz="1800" spc="-50" dirty="0">
                <a:solidFill>
                  <a:srgbClr val="313E4F"/>
                </a:solidFill>
                <a:latin typeface="Candara"/>
                <a:cs typeface="Candara"/>
              </a:rPr>
              <a:t>y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84682" y="521843"/>
              <a:ext cx="4518787" cy="499706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7424" y="5618518"/>
              <a:ext cx="1721358" cy="52115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0830" y="547204"/>
              <a:ext cx="5881370" cy="55188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81821" y="3319513"/>
              <a:ext cx="3241039" cy="27781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WPS 演示</Application>
  <PresentationFormat>On-screen Show (4:3)</PresentationFormat>
  <Paragraphs>35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Droid Sans Fallback</vt:lpstr>
      <vt:lpstr>Candara</vt:lpstr>
      <vt:lpstr>Gubbi</vt:lpstr>
      <vt:lpstr>Nimbus Roman No9 L</vt:lpstr>
      <vt:lpstr>宋体</vt:lpstr>
      <vt:lpstr>Noto Serif CJK SC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课堂小测&amp;2-4章习题</dc:title>
  <dc:creator>现代教育技术中心</dc:creator>
  <cp:lastModifiedBy>哦</cp:lastModifiedBy>
  <cp:revision>5</cp:revision>
  <dcterms:created xsi:type="dcterms:W3CDTF">2026-06-03T22:55:17Z</dcterms:created>
  <dcterms:modified xsi:type="dcterms:W3CDTF">2026-06-03T22:55:17Z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2025-04-21T16:00:00Z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2026-06-02T16:00:00Z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F51777A739773200E5291F6A938DFD75_43</vt:lpwstr>
  </property>
  <property fmtid="{D5CDD505-2E9C-101B-9397-08002B2CF9AE}" pid="7" name="KSOProductBuildVer">
    <vt:lpwstr>2052-12.1.2.24722</vt:lpwstr>
  </property>
</Properties>
</file>