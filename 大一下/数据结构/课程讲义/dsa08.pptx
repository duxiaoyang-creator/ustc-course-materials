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51"/>
  </p:notesMasterIdLst>
  <p:sldIdLst>
    <p:sldId id="406" r:id="rId2"/>
    <p:sldId id="257" r:id="rId3"/>
    <p:sldId id="304" r:id="rId4"/>
    <p:sldId id="306" r:id="rId5"/>
    <p:sldId id="305" r:id="rId6"/>
    <p:sldId id="340" r:id="rId7"/>
    <p:sldId id="338" r:id="rId8"/>
    <p:sldId id="339" r:id="rId9"/>
    <p:sldId id="341" r:id="rId10"/>
    <p:sldId id="342" r:id="rId11"/>
    <p:sldId id="309" r:id="rId12"/>
    <p:sldId id="310" r:id="rId13"/>
    <p:sldId id="345" r:id="rId14"/>
    <p:sldId id="348" r:id="rId15"/>
    <p:sldId id="349" r:id="rId16"/>
    <p:sldId id="313" r:id="rId17"/>
    <p:sldId id="347" r:id="rId18"/>
    <p:sldId id="350" r:id="rId19"/>
    <p:sldId id="351" r:id="rId20"/>
    <p:sldId id="320" r:id="rId21"/>
    <p:sldId id="321" r:id="rId22"/>
    <p:sldId id="323" r:id="rId23"/>
    <p:sldId id="352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16" r:id="rId33"/>
    <p:sldId id="354" r:id="rId34"/>
    <p:sldId id="353" r:id="rId35"/>
    <p:sldId id="334" r:id="rId36"/>
    <p:sldId id="355" r:id="rId37"/>
    <p:sldId id="356" r:id="rId38"/>
    <p:sldId id="357" r:id="rId39"/>
    <p:sldId id="358" r:id="rId40"/>
    <p:sldId id="359" r:id="rId41"/>
    <p:sldId id="361" r:id="rId42"/>
    <p:sldId id="360" r:id="rId43"/>
    <p:sldId id="362" r:id="rId44"/>
    <p:sldId id="363" r:id="rId45"/>
    <p:sldId id="364" r:id="rId46"/>
    <p:sldId id="365" r:id="rId47"/>
    <p:sldId id="366" r:id="rId48"/>
    <p:sldId id="301" r:id="rId49"/>
    <p:sldId id="367" r:id="rId5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404040"/>
    <a:srgbClr val="C0C0C0"/>
    <a:srgbClr val="FF505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0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085BA-1C5D-476D-A2DB-8BD83F8363B1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22111-4ADC-4255-8FAE-8F9A2DEC4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3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22111-4ADC-4255-8FAE-8F9A2DEC4B3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604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69494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2000" y="720000"/>
            <a:ext cx="7920000" cy="1800000"/>
          </a:xfrm>
        </p:spPr>
        <p:txBody>
          <a:bodyPr anchor="ctr" anchorCtr="0"/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12000" y="2952000"/>
            <a:ext cx="7920000" cy="3240000"/>
          </a:xfrm>
          <a:solidFill>
            <a:schemeClr val="tx2">
              <a:alpha val="15000"/>
            </a:schemeClr>
          </a:solidFill>
        </p:spPr>
        <p:txBody>
          <a:bodyPr lIns="180000" tIns="180000" rIns="180000" bIns="180000"/>
          <a:lstStyle>
            <a:lvl1pPr marL="0" indent="0" algn="ctr">
              <a:buNone/>
              <a:defRPr sz="3200">
                <a:solidFill>
                  <a:schemeClr val="accent5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0" y="2700000"/>
            <a:ext cx="9144000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420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32000" y="6372000"/>
            <a:ext cx="1188000" cy="360000"/>
          </a:xfrm>
        </p:spPr>
        <p:txBody>
          <a:bodyPr/>
          <a:lstStyle/>
          <a:p>
            <a:fld id="{D61EE2A8-BBD8-4229-87AE-1ED61164C80B}" type="datetime1">
              <a:rPr lang="zh-CN" altLang="en-US" smtClean="0"/>
              <a:t>2023/11/28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098000"/>
            <a:ext cx="9144000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88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B85E-42B9-4F31-B1BE-C1AFD0B1F22C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82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1BA0-AC66-4458-BA7E-E29AD9388D96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89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12000" y="360000"/>
            <a:ext cx="7920000" cy="720723"/>
          </a:xfrm>
          <a:prstGeom prst="rect">
            <a:avLst/>
          </a:prstGeom>
          <a:solidFill>
            <a:srgbClr val="333399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8280000" cy="504000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31999" y="6372000"/>
            <a:ext cx="1141221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F2C2AC58-FC27-4E8F-AF51-30F94C53A283}" type="datetime1">
              <a:rPr lang="zh-CN" altLang="en-US" smtClean="0"/>
              <a:t>2023/11/28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681222" y="6372000"/>
            <a:ext cx="5842777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rgbClr val="404040"/>
                </a:solidFill>
              </a:defRPr>
            </a:lvl1pPr>
          </a:lstStyle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32000" y="637200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404040"/>
                </a:solidFill>
              </a:defRPr>
            </a:lvl1pPr>
          </a:lstStyle>
          <a:p>
            <a:fld id="{24A57B6C-934B-48B6-B496-329E090EEFC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80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0" r:id="rId3"/>
    <p:sldLayoutId id="2147483679" r:id="rId4"/>
  </p:sldLayoutIdLst>
  <p:hf hdr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FFFF0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数据结构及其算法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12001" y="2952000"/>
            <a:ext cx="7920000" cy="3240000"/>
          </a:xfrm>
        </p:spPr>
        <p:txBody>
          <a:bodyPr rIns="180000" anchor="ctr"/>
          <a:lstStyle/>
          <a:p>
            <a:r>
              <a:rPr lang="zh-CN" altLang="en-US" sz="2800" dirty="0"/>
              <a:t>刘 东</a:t>
            </a:r>
            <a:endParaRPr lang="en-US" altLang="zh-CN" sz="2800" dirty="0"/>
          </a:p>
          <a:p>
            <a:r>
              <a:rPr lang="zh-CN" altLang="en-US" sz="2800" dirty="0"/>
              <a:t>信息科学技术学院</a:t>
            </a:r>
            <a:endParaRPr lang="en-US" altLang="zh-CN" sz="2800" dirty="0"/>
          </a:p>
          <a:p>
            <a:r>
              <a:rPr lang="zh-CN" altLang="en-US" sz="2800" dirty="0"/>
              <a:t>中国科学技术大学</a:t>
            </a:r>
            <a:endParaRPr lang="en-US" altLang="zh-CN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1898833" y="258335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Data Structure and Algorithm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0583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8.1 </a:t>
            </a:r>
            <a:r>
              <a:rPr lang="zh-CN" altLang="en-US" dirty="0"/>
              <a:t>排序的基本概念</a:t>
            </a:r>
            <a:endParaRPr lang="en-US" altLang="zh-CN" dirty="0"/>
          </a:p>
          <a:p>
            <a:r>
              <a:rPr lang="en-US" altLang="zh-CN" dirty="0"/>
              <a:t>8.2 </a:t>
            </a:r>
            <a:r>
              <a:rPr lang="zh-CN" altLang="en-US" dirty="0"/>
              <a:t>简单排序</a:t>
            </a:r>
            <a:endParaRPr lang="en-US" altLang="zh-CN" dirty="0"/>
          </a:p>
          <a:p>
            <a:r>
              <a:rPr lang="en-US" altLang="zh-CN" dirty="0"/>
              <a:t>8.3 </a:t>
            </a:r>
            <a:r>
              <a:rPr lang="zh-CN" altLang="en-US" dirty="0"/>
              <a:t>希尔排序</a:t>
            </a:r>
            <a:endParaRPr lang="en-US" altLang="zh-CN" dirty="0"/>
          </a:p>
          <a:p>
            <a:r>
              <a:rPr lang="en-US" altLang="zh-CN" dirty="0"/>
              <a:t>8.4 </a:t>
            </a:r>
            <a:r>
              <a:rPr lang="zh-CN" altLang="en-US" dirty="0"/>
              <a:t>快速排序</a:t>
            </a:r>
            <a:endParaRPr lang="en-US" altLang="zh-CN" dirty="0"/>
          </a:p>
          <a:p>
            <a:r>
              <a:rPr lang="en-US" altLang="zh-CN" dirty="0"/>
              <a:t>8.5 </a:t>
            </a:r>
            <a:r>
              <a:rPr lang="zh-CN" altLang="en-US" dirty="0"/>
              <a:t>堆排序</a:t>
            </a:r>
            <a:endParaRPr lang="en-US" altLang="zh-CN" dirty="0"/>
          </a:p>
          <a:p>
            <a:r>
              <a:rPr lang="en-US" altLang="zh-CN" dirty="0"/>
              <a:t>8.6 </a:t>
            </a:r>
            <a:r>
              <a:rPr lang="zh-CN" altLang="en-US" dirty="0"/>
              <a:t>归并排序</a:t>
            </a:r>
            <a:endParaRPr lang="en-US" altLang="zh-CN" dirty="0"/>
          </a:p>
          <a:p>
            <a:r>
              <a:rPr lang="en-US" altLang="zh-CN" dirty="0"/>
              <a:t>8.7 </a:t>
            </a:r>
            <a:r>
              <a:rPr lang="zh-CN" altLang="en-US" dirty="0"/>
              <a:t>基数排序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9394E-E387-4F11-97C0-A48D5E24131A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950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</a:t>
            </a:r>
            <a:r>
              <a:rPr lang="zh-CN" altLang="en-US" dirty="0"/>
              <a:t>排序的基本概念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排序</a:t>
            </a:r>
            <a:r>
              <a:rPr lang="en-US" altLang="zh-CN" dirty="0"/>
              <a:t>(sorting)</a:t>
            </a:r>
            <a:r>
              <a:rPr lang="zh-CN" altLang="en-US" dirty="0"/>
              <a:t>：将数据元素（记录）的任意序列重新排列成按照关键字有序的序列</a:t>
            </a:r>
            <a:endParaRPr lang="en-US" altLang="zh-CN" dirty="0"/>
          </a:p>
          <a:p>
            <a:pPr lvl="1"/>
            <a:r>
              <a:rPr lang="zh-CN" altLang="en-US" dirty="0"/>
              <a:t>在程序设计中，有序序列一般更便于操作，如集合归并、折半查找</a:t>
            </a:r>
            <a:r>
              <a:rPr lang="en-US" altLang="zh-CN" dirty="0"/>
              <a:t>……</a:t>
            </a:r>
          </a:p>
          <a:p>
            <a:pPr lvl="1"/>
            <a:r>
              <a:rPr lang="zh-CN" altLang="en-US" dirty="0"/>
              <a:t>在实际应用中，排序也被广泛使用</a:t>
            </a:r>
            <a:endParaRPr lang="en-US" altLang="zh-CN" dirty="0"/>
          </a:p>
          <a:p>
            <a:r>
              <a:rPr lang="zh-CN" altLang="en-US" dirty="0"/>
              <a:t>根据存储位置的不同，排序分两种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accent5"/>
                </a:solidFill>
              </a:rPr>
              <a:t>内部排序</a:t>
            </a:r>
            <a:r>
              <a:rPr lang="zh-CN" altLang="en-US" dirty="0"/>
              <a:t>：所有记录都存储在内存中</a:t>
            </a:r>
            <a:endParaRPr lang="en-US" altLang="zh-CN" dirty="0"/>
          </a:p>
          <a:p>
            <a:pPr lvl="1"/>
            <a:r>
              <a:rPr lang="zh-CN" altLang="en-US" dirty="0"/>
              <a:t>外部排序：由于数据量太大，不能一次将所有记录读入内存，必须借助外存（如硬盘等）</a:t>
            </a:r>
            <a:endParaRPr lang="en-US" altLang="zh-CN" dirty="0"/>
          </a:p>
          <a:p>
            <a:r>
              <a:rPr lang="zh-CN" altLang="en-US" dirty="0"/>
              <a:t>排序的基本操作</a:t>
            </a:r>
            <a:endParaRPr lang="en-US" altLang="zh-CN" dirty="0"/>
          </a:p>
          <a:p>
            <a:pPr lvl="1"/>
            <a:r>
              <a:rPr lang="zh-CN" altLang="en-US" dirty="0"/>
              <a:t>关键字比较或计算</a:t>
            </a:r>
            <a:endParaRPr lang="en-US" altLang="zh-CN" dirty="0"/>
          </a:p>
          <a:p>
            <a:pPr lvl="1"/>
            <a:r>
              <a:rPr lang="zh-CN" altLang="en-US" dirty="0"/>
              <a:t>数据元素（记录）移动位置</a:t>
            </a:r>
            <a:r>
              <a:rPr lang="en-US" altLang="zh-CN" dirty="0"/>
              <a:t>/</a:t>
            </a:r>
            <a:r>
              <a:rPr lang="zh-CN" altLang="en-US" dirty="0"/>
              <a:t>交换位置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42E5A-389C-4B94-AD39-E99B48EEBF3E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89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排序的稳定性</a:t>
            </a:r>
            <a:endParaRPr lang="en-US" altLang="zh-CN" b="1" dirty="0"/>
          </a:p>
          <a:p>
            <a:r>
              <a:rPr lang="zh-CN" altLang="en-US" dirty="0"/>
              <a:t>若关键字不是主关键字（即存在多个关键字相同的记录），则称维持关键字相等的记录的先后顺序的排序方法是稳定的</a:t>
            </a:r>
            <a:r>
              <a:rPr lang="en-US" altLang="zh-CN" dirty="0"/>
              <a:t>(stable)</a:t>
            </a:r>
            <a:r>
              <a:rPr lang="zh-CN" altLang="en-US" dirty="0"/>
              <a:t>，反之则称不稳定的</a:t>
            </a:r>
            <a:endParaRPr lang="en-US" altLang="zh-CN" dirty="0"/>
          </a:p>
          <a:p>
            <a:r>
              <a:rPr lang="zh-CN" altLang="en-US" dirty="0"/>
              <a:t>如果下标</a:t>
            </a:r>
            <a:r>
              <a:rPr lang="en-US" altLang="zh-CN" dirty="0" err="1"/>
              <a:t>i</a:t>
            </a:r>
            <a:r>
              <a:rPr lang="zh-CN" altLang="en-US" dirty="0"/>
              <a:t>、</a:t>
            </a:r>
            <a:r>
              <a:rPr lang="en-US" altLang="zh-CN" dirty="0"/>
              <a:t>j</a:t>
            </a:r>
            <a:r>
              <a:rPr lang="zh-CN" altLang="en-US" dirty="0"/>
              <a:t>满足</a:t>
            </a:r>
            <a:r>
              <a:rPr lang="en-US" altLang="zh-CN" dirty="0"/>
              <a:t>K</a:t>
            </a:r>
            <a:r>
              <a:rPr lang="en-US" altLang="zh-CN" baseline="-25000" dirty="0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j</a:t>
            </a:r>
            <a:r>
              <a:rPr lang="zh-CN" altLang="en-US" dirty="0"/>
              <a:t>且在排序前</a:t>
            </a:r>
            <a:r>
              <a:rPr lang="en-US" altLang="zh-CN" dirty="0" err="1"/>
              <a:t>i</a:t>
            </a:r>
            <a:r>
              <a:rPr lang="en-US" altLang="zh-CN" dirty="0"/>
              <a:t>&lt;j</a:t>
            </a:r>
            <a:r>
              <a:rPr lang="zh-CN" altLang="en-US" dirty="0"/>
              <a:t>，则稳定的排序方法保证排序后</a:t>
            </a:r>
            <a:r>
              <a:rPr lang="en-US" altLang="zh-CN" dirty="0" err="1"/>
              <a:t>i</a:t>
            </a:r>
            <a:r>
              <a:rPr lang="en-US" altLang="zh-CN" dirty="0"/>
              <a:t>’&lt;j’</a:t>
            </a:r>
          </a:p>
          <a:p>
            <a:pPr lvl="1"/>
            <a:r>
              <a:rPr lang="zh-CN" altLang="en-US" dirty="0"/>
              <a:t>稳定性是排序方法自身特性，与实际数据无关</a:t>
            </a:r>
            <a:endParaRPr lang="en-US" altLang="zh-CN" dirty="0"/>
          </a:p>
          <a:p>
            <a:pPr lvl="1"/>
            <a:r>
              <a:rPr lang="zh-CN" altLang="en-US" dirty="0"/>
              <a:t>只要存在一个不稳定的实例，则称排序方法不稳定</a:t>
            </a:r>
            <a:endParaRPr lang="en-US" altLang="zh-CN" dirty="0"/>
          </a:p>
          <a:p>
            <a:r>
              <a:rPr lang="zh-CN" altLang="en-US" dirty="0"/>
              <a:t>稳定性的意义：存在多个关键字相同的记录时，输入序列的先后顺序可能是有意义的，如果排序算法不稳定，输出序列就失去原有的意义</a:t>
            </a:r>
            <a:endParaRPr lang="en-US" altLang="zh-CN" dirty="0"/>
          </a:p>
          <a:p>
            <a:pPr lvl="1"/>
            <a:r>
              <a:rPr lang="zh-CN" altLang="en-US" dirty="0"/>
              <a:t>例如，学生情况登记表原本按照入学报到的顺序，现在要按照姓名排序，同名的学生要保留原来的顺序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96A04-A450-4543-B855-65061CD9BB82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0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本章使用的基本数据结构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排序函数原型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C6C5F-7659-48E4-9279-7AB276A4CBB4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2000" y="849146"/>
            <a:ext cx="6426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unsigned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MAXSIZE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KeyType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关键字的类型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KeyType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key;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...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记录中的其他数据项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r[MAXSIZE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注意：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号存储单元不用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表长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2000" y="4282330"/>
            <a:ext cx="7309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[1..len]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进行重排使之按照关键字从小到大有序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0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简单排序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常见的简单排序算法有三种</a:t>
            </a:r>
            <a:endParaRPr lang="en-US" altLang="zh-CN" dirty="0"/>
          </a:p>
          <a:p>
            <a:pPr lvl="1"/>
            <a:r>
              <a:rPr lang="zh-CN" altLang="en-US" dirty="0"/>
              <a:t>简单选择排序</a:t>
            </a:r>
            <a:endParaRPr lang="en-US" altLang="zh-CN" dirty="0"/>
          </a:p>
          <a:p>
            <a:pPr lvl="1"/>
            <a:r>
              <a:rPr lang="zh-CN" altLang="en-US" dirty="0"/>
              <a:t>冒泡排序</a:t>
            </a:r>
            <a:endParaRPr lang="en-US" altLang="zh-CN" dirty="0"/>
          </a:p>
          <a:p>
            <a:pPr lvl="1"/>
            <a:r>
              <a:rPr lang="zh-CN" altLang="en-US" dirty="0"/>
              <a:t>简单插入排序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BCD0-9ACD-4CCB-8233-CB7C91F20CD0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501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简单选择排序</a:t>
            </a:r>
            <a:r>
              <a:rPr lang="en-US" altLang="zh-CN" b="1" dirty="0"/>
              <a:t>(Selection Sort)</a:t>
            </a:r>
          </a:p>
          <a:p>
            <a:r>
              <a:rPr lang="zh-CN" altLang="en-US" dirty="0"/>
              <a:t>每次从</a:t>
            </a:r>
            <a:r>
              <a:rPr lang="en-US" altLang="zh-CN" dirty="0" err="1"/>
              <a:t>L.r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..n]</a:t>
            </a:r>
            <a:r>
              <a:rPr lang="zh-CN" altLang="en-US" dirty="0"/>
              <a:t>中选择最小的关键字，将其移动</a:t>
            </a:r>
            <a:r>
              <a:rPr lang="en-US" altLang="zh-CN" dirty="0"/>
              <a:t>/</a:t>
            </a:r>
            <a:r>
              <a:rPr lang="zh-CN" altLang="en-US" dirty="0"/>
              <a:t>交换到</a:t>
            </a:r>
            <a:r>
              <a:rPr lang="en-US" altLang="zh-CN" dirty="0" err="1"/>
              <a:t>L.r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；如此进行从</a:t>
            </a:r>
            <a:r>
              <a:rPr lang="en-US" altLang="zh-CN" dirty="0" err="1"/>
              <a:t>i</a:t>
            </a:r>
            <a:r>
              <a:rPr lang="en-US" altLang="zh-CN" dirty="0"/>
              <a:t>=1</a:t>
            </a:r>
            <a:r>
              <a:rPr lang="zh-CN" altLang="en-US" dirty="0"/>
              <a:t>到</a:t>
            </a:r>
            <a:r>
              <a:rPr lang="en-US" altLang="zh-CN" dirty="0" err="1"/>
              <a:t>i</a:t>
            </a:r>
            <a:r>
              <a:rPr lang="en-US" altLang="zh-CN" dirty="0"/>
              <a:t>=n-1</a:t>
            </a:r>
          </a:p>
          <a:p>
            <a:r>
              <a:rPr lang="zh-CN" altLang="en-US" dirty="0"/>
              <a:t>算法进行过程：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4F596-FC96-4884-93AB-11FD5078A819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058195" y="2981684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49  38  65  97  76  13  27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58195" y="3351016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13  38  65  97  76  49  27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58195" y="3720348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13  27  65  97  76  49  38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58195" y="4089680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13  27  38  97  76  49  65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058194" y="445901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13  27  38  49  76  97  65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58193" y="482452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13  27  38  49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r>
              <a:rPr lang="en-US" altLang="zh-CN" dirty="0"/>
              <a:t>  97  65  76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058193" y="5197676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13  27  38  49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r>
              <a:rPr lang="en-US" altLang="zh-CN" dirty="0"/>
              <a:t>  65  97  76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4058193" y="5567008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13  27  38  49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r>
              <a:rPr lang="en-US" altLang="zh-CN" dirty="0"/>
              <a:t>  65  76  97</a:t>
            </a:r>
            <a:endParaRPr lang="zh-CN" altLang="en-US" dirty="0"/>
          </a:p>
        </p:txBody>
      </p:sp>
      <p:sp>
        <p:nvSpPr>
          <p:cNvPr id="15" name="椭圆 14"/>
          <p:cNvSpPr/>
          <p:nvPr/>
        </p:nvSpPr>
        <p:spPr>
          <a:xfrm>
            <a:off x="6844937" y="2981684"/>
            <a:ext cx="391886" cy="369332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7328057" y="3354838"/>
            <a:ext cx="391886" cy="369332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7328057" y="3737171"/>
            <a:ext cx="391886" cy="369332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844937" y="4085858"/>
            <a:ext cx="391886" cy="369332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7957473" y="4451368"/>
            <a:ext cx="391886" cy="369332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328057" y="4833204"/>
            <a:ext cx="391886" cy="369332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7957473" y="5171074"/>
            <a:ext cx="391886" cy="369332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4572000" y="3351016"/>
            <a:ext cx="0" cy="360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5072743" y="3698579"/>
            <a:ext cx="0" cy="360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630092" y="4058579"/>
            <a:ext cx="0" cy="360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218399" y="4451368"/>
            <a:ext cx="0" cy="360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779623" y="4794044"/>
            <a:ext cx="0" cy="360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7241177" y="5202342"/>
            <a:ext cx="0" cy="360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7815943" y="5562342"/>
            <a:ext cx="0" cy="360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325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8.1 </a:t>
            </a:r>
            <a:r>
              <a:rPr lang="zh-CN" altLang="en-US" dirty="0"/>
              <a:t>简单选择排序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5F7F-E7B4-4507-923D-093614CE594B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06833" y="3525473"/>
            <a:ext cx="359906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算法分析：</a:t>
            </a:r>
            <a:endParaRPr lang="en-US" altLang="zh-CN" dirty="0"/>
          </a:p>
          <a:p>
            <a:r>
              <a:rPr lang="zh-CN" altLang="en-US" dirty="0"/>
              <a:t>空间复杂度：</a:t>
            </a:r>
            <a:r>
              <a:rPr lang="en-US" altLang="zh-CN" dirty="0"/>
              <a:t>O(1)</a:t>
            </a:r>
          </a:p>
          <a:p>
            <a:r>
              <a:rPr lang="zh-CN" altLang="en-US" dirty="0"/>
              <a:t>时间复杂度：</a:t>
            </a:r>
            <a:endParaRPr lang="en-US" altLang="zh-CN" dirty="0"/>
          </a:p>
          <a:p>
            <a:r>
              <a:rPr lang="zh-CN" altLang="en-US" dirty="0"/>
              <a:t>比较次数较多，达到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若采用交换法，交换次数为</a:t>
            </a:r>
            <a:r>
              <a:rPr lang="en-US" altLang="zh-CN" dirty="0"/>
              <a:t>O(n)</a:t>
            </a:r>
          </a:p>
          <a:p>
            <a:r>
              <a:rPr lang="zh-CN" altLang="en-US" dirty="0"/>
              <a:t>若采用移动法，移动次数为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总的平均时间复杂度为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32000" y="964870"/>
            <a:ext cx="85291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SelectSort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k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k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k)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[k].key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[j].key)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这里我们将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交换</a:t>
            </a:r>
            <a:endParaRPr lang="en-US" altLang="zh-CN" i="1" kern="0" dirty="0">
              <a:solidFill>
                <a:srgbClr val="408080"/>
              </a:solidFill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另一种做法是将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[i..j-1]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各个后移一位，然后令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]=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</a:t>
            </a: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12710" y="5586893"/>
            <a:ext cx="5318581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/>
              <a:t>思考：从排序算法稳定性的角度分析，应该采用交换法还是移动法？</a:t>
            </a:r>
          </a:p>
        </p:txBody>
      </p:sp>
    </p:spTree>
    <p:extLst>
      <p:ext uri="{BB962C8B-B14F-4D97-AF65-F5344CB8AC3E}">
        <p14:creationId xmlns:p14="http://schemas.microsoft.com/office/powerpoint/2010/main" val="154191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冒泡排序</a:t>
            </a:r>
            <a:r>
              <a:rPr lang="en-US" altLang="zh-CN" b="1" dirty="0"/>
              <a:t>(Bubble Sort)</a:t>
            </a:r>
          </a:p>
          <a:p>
            <a:r>
              <a:rPr lang="zh-CN" altLang="en-US" dirty="0"/>
              <a:t>对子序列</a:t>
            </a:r>
            <a:r>
              <a:rPr lang="en-US" altLang="zh-CN" dirty="0" err="1"/>
              <a:t>L.r</a:t>
            </a:r>
            <a:r>
              <a:rPr lang="en-US" altLang="zh-CN" dirty="0"/>
              <a:t>[1..i]</a:t>
            </a:r>
            <a:r>
              <a:rPr lang="zh-CN" altLang="en-US" dirty="0"/>
              <a:t>，依次比较相邻两个关键字，如有需要则交换位置；最大的元素最终落到</a:t>
            </a:r>
            <a:r>
              <a:rPr lang="en-US" altLang="zh-CN" dirty="0" err="1"/>
              <a:t>L.r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；如此进行从</a:t>
            </a:r>
            <a:r>
              <a:rPr lang="en-US" altLang="zh-CN" dirty="0" err="1"/>
              <a:t>i</a:t>
            </a:r>
            <a:r>
              <a:rPr lang="en-US" altLang="zh-CN" dirty="0"/>
              <a:t>=n</a:t>
            </a:r>
            <a:r>
              <a:rPr lang="zh-CN" altLang="en-US" dirty="0"/>
              <a:t>到</a:t>
            </a:r>
            <a:r>
              <a:rPr lang="en-US" altLang="zh-CN" dirty="0" err="1"/>
              <a:t>i</a:t>
            </a:r>
            <a:r>
              <a:rPr lang="en-US" altLang="zh-CN" dirty="0"/>
              <a:t>=2</a:t>
            </a:r>
          </a:p>
          <a:p>
            <a:r>
              <a:rPr lang="zh-CN" altLang="en-US" dirty="0"/>
              <a:t>算法进行过程：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E5541-A5D7-44A5-ABF0-E198051A3F12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058195" y="2981684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49  38  65  97  76  13  27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58195" y="3351016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38  49  65  76  13  27  </a:t>
            </a:r>
            <a:r>
              <a:rPr lang="en-US" altLang="zh-CN" dirty="0">
                <a:solidFill>
                  <a:schemeClr val="accent2"/>
                </a:solidFill>
              </a:rPr>
              <a:t>49  </a:t>
            </a:r>
            <a:r>
              <a:rPr lang="en-US" altLang="zh-CN" b="1" dirty="0"/>
              <a:t>97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4058194" y="3720348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38  49  65  13  27  </a:t>
            </a:r>
            <a:r>
              <a:rPr lang="en-US" altLang="zh-CN" dirty="0">
                <a:solidFill>
                  <a:schemeClr val="accent2"/>
                </a:solidFill>
              </a:rPr>
              <a:t>49  </a:t>
            </a:r>
            <a:r>
              <a:rPr lang="en-US" altLang="zh-CN" b="1" dirty="0"/>
              <a:t>76</a:t>
            </a: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b="1" dirty="0"/>
              <a:t>97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4058194" y="4089680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38  49  13  27  </a:t>
            </a:r>
            <a:r>
              <a:rPr lang="en-US" altLang="zh-CN" dirty="0">
                <a:solidFill>
                  <a:schemeClr val="accent2"/>
                </a:solidFill>
              </a:rPr>
              <a:t>49  </a:t>
            </a:r>
            <a:r>
              <a:rPr lang="en-US" altLang="zh-CN" b="1" dirty="0"/>
              <a:t>65  76</a:t>
            </a: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b="1" dirty="0"/>
              <a:t>97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4058193" y="445901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38  13  27  49  </a:t>
            </a:r>
            <a:r>
              <a:rPr lang="en-US" altLang="zh-CN" b="1" dirty="0">
                <a:solidFill>
                  <a:schemeClr val="accent5"/>
                </a:solidFill>
              </a:rPr>
              <a:t>49</a:t>
            </a: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b="1" dirty="0"/>
              <a:t>65  76</a:t>
            </a: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b="1" dirty="0"/>
              <a:t>97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4058190" y="4828344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13  27  38  </a:t>
            </a:r>
            <a:r>
              <a:rPr lang="en-US" altLang="zh-CN" b="1" dirty="0"/>
              <a:t>49</a:t>
            </a:r>
            <a:r>
              <a:rPr lang="en-US" altLang="zh-CN" dirty="0"/>
              <a:t>  </a:t>
            </a:r>
            <a:r>
              <a:rPr lang="en-US" altLang="zh-CN" b="1" dirty="0">
                <a:solidFill>
                  <a:schemeClr val="accent2"/>
                </a:solidFill>
              </a:rPr>
              <a:t>49</a:t>
            </a: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b="1" dirty="0"/>
              <a:t>65  76</a:t>
            </a: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b="1" dirty="0"/>
              <a:t>97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4058187" y="5197676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</a:t>
            </a:r>
            <a:r>
              <a:rPr lang="en-US" altLang="zh-CN" b="1" dirty="0"/>
              <a:t>38</a:t>
            </a:r>
            <a:r>
              <a:rPr lang="en-US" altLang="zh-CN" dirty="0"/>
              <a:t>  </a:t>
            </a:r>
            <a:r>
              <a:rPr lang="en-US" altLang="zh-CN" b="1" dirty="0"/>
              <a:t>49</a:t>
            </a:r>
            <a:r>
              <a:rPr lang="en-US" altLang="zh-CN" dirty="0"/>
              <a:t>  </a:t>
            </a:r>
            <a:r>
              <a:rPr lang="en-US" altLang="zh-CN" b="1" dirty="0">
                <a:solidFill>
                  <a:schemeClr val="accent2"/>
                </a:solidFill>
              </a:rPr>
              <a:t>49</a:t>
            </a: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b="1" dirty="0"/>
              <a:t>65  76</a:t>
            </a: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b="1" dirty="0"/>
              <a:t>97</a:t>
            </a:r>
            <a:endParaRPr lang="zh-CN" altLang="en-US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4058187" y="5567008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</a:t>
            </a:r>
            <a:r>
              <a:rPr lang="en-US" altLang="zh-CN" b="1" dirty="0"/>
              <a:t>27</a:t>
            </a:r>
            <a:r>
              <a:rPr lang="en-US" altLang="zh-CN" dirty="0"/>
              <a:t>  </a:t>
            </a:r>
            <a:r>
              <a:rPr lang="en-US" altLang="zh-CN" b="1" dirty="0"/>
              <a:t>38</a:t>
            </a:r>
            <a:r>
              <a:rPr lang="en-US" altLang="zh-CN" dirty="0"/>
              <a:t>  </a:t>
            </a:r>
            <a:r>
              <a:rPr lang="en-US" altLang="zh-CN" b="1" dirty="0"/>
              <a:t>49</a:t>
            </a:r>
            <a:r>
              <a:rPr lang="en-US" altLang="zh-CN" dirty="0"/>
              <a:t>  </a:t>
            </a:r>
            <a:r>
              <a:rPr lang="en-US" altLang="zh-CN" b="1" dirty="0">
                <a:solidFill>
                  <a:schemeClr val="accent2"/>
                </a:solidFill>
              </a:rPr>
              <a:t>49</a:t>
            </a: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b="1" dirty="0"/>
              <a:t>65  76</a:t>
            </a: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b="1" dirty="0"/>
              <a:t>97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08540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8.2</a:t>
            </a:r>
            <a:r>
              <a:rPr lang="zh-CN" altLang="en-US" dirty="0"/>
              <a:t> 冒泡排序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75CC-A89E-4577-9BC2-290593661FE4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015559" y="3668511"/>
            <a:ext cx="36471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算法分析：</a:t>
            </a:r>
            <a:endParaRPr lang="en-US" altLang="zh-CN" dirty="0"/>
          </a:p>
          <a:p>
            <a:r>
              <a:rPr lang="zh-CN" altLang="en-US" dirty="0"/>
              <a:t>空间复杂度：</a:t>
            </a:r>
            <a:r>
              <a:rPr lang="en-US" altLang="zh-CN" dirty="0"/>
              <a:t>O(1)</a:t>
            </a:r>
          </a:p>
          <a:p>
            <a:r>
              <a:rPr lang="zh-CN" altLang="en-US" dirty="0"/>
              <a:t>时间复杂度：</a:t>
            </a:r>
            <a:endParaRPr lang="en-US" altLang="zh-CN" dirty="0"/>
          </a:p>
          <a:p>
            <a:r>
              <a:rPr lang="zh-CN" altLang="en-US" dirty="0"/>
              <a:t>最坏情况是原序列刚好“逆序”，</a:t>
            </a:r>
            <a:endParaRPr lang="en-US" altLang="zh-CN" dirty="0"/>
          </a:p>
          <a:p>
            <a:r>
              <a:rPr lang="zh-CN" altLang="en-US" dirty="0"/>
              <a:t>比较次数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，交换次数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总的平均时间复杂度为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32000" y="839156"/>
            <a:ext cx="84681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BubbleSort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bool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change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&gt;=2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change;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这里我们设置一个标记，如果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i-1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循环中没有发生元素的互换</a:t>
            </a:r>
            <a:endParaRPr lang="en-US" altLang="zh-CN" i="1" kern="0" dirty="0">
              <a:solidFill>
                <a:srgbClr val="408080"/>
              </a:solidFill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说明整个序列已经是有序的了，无需考虑更小的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change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[j].key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].key)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change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92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简单插入排序</a:t>
            </a:r>
            <a:r>
              <a:rPr lang="en-US" altLang="zh-CN" b="1" dirty="0"/>
              <a:t>(Insertion Sort)</a:t>
            </a:r>
          </a:p>
          <a:p>
            <a:r>
              <a:rPr lang="zh-CN" altLang="en-US" dirty="0"/>
              <a:t>保持</a:t>
            </a:r>
            <a:r>
              <a:rPr lang="en-US" altLang="zh-CN" dirty="0" err="1"/>
              <a:t>L.r</a:t>
            </a:r>
            <a:r>
              <a:rPr lang="en-US" altLang="zh-CN" dirty="0"/>
              <a:t>[1..i-1]</a:t>
            </a:r>
            <a:r>
              <a:rPr lang="zh-CN" altLang="en-US" dirty="0"/>
              <a:t>是有序序列，将</a:t>
            </a:r>
            <a:r>
              <a:rPr lang="en-US" altLang="zh-CN" dirty="0" err="1"/>
              <a:t>L.r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插入该有序序列中，使得</a:t>
            </a:r>
            <a:r>
              <a:rPr lang="en-US" altLang="zh-CN" dirty="0" err="1"/>
              <a:t>L.r</a:t>
            </a:r>
            <a:r>
              <a:rPr lang="en-US" altLang="zh-CN" dirty="0"/>
              <a:t>[1..i]</a:t>
            </a:r>
            <a:r>
              <a:rPr lang="zh-CN" altLang="en-US" dirty="0"/>
              <a:t>成为有序序列；如此进行从</a:t>
            </a:r>
            <a:r>
              <a:rPr lang="en-US" altLang="zh-CN" dirty="0" err="1"/>
              <a:t>i</a:t>
            </a:r>
            <a:r>
              <a:rPr lang="en-US" altLang="zh-CN" dirty="0"/>
              <a:t>=2</a:t>
            </a:r>
            <a:r>
              <a:rPr lang="zh-CN" altLang="en-US" dirty="0"/>
              <a:t>到</a:t>
            </a:r>
            <a:r>
              <a:rPr lang="en-US" altLang="zh-CN" dirty="0" err="1"/>
              <a:t>i</a:t>
            </a:r>
            <a:r>
              <a:rPr lang="en-US" altLang="zh-CN" dirty="0"/>
              <a:t>=n</a:t>
            </a:r>
          </a:p>
          <a:p>
            <a:r>
              <a:rPr lang="zh-CN" altLang="en-US" dirty="0"/>
              <a:t>算法进行过程：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A4402-84C3-40C7-B5D9-A0374D1D541E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032069" y="2894597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49  38  65  97  76  13  27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98892" y="289459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  )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898892" y="3268636"/>
            <a:ext cx="459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(38  49) 65  97 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98892" y="3637968"/>
            <a:ext cx="459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(38  49  65) 97 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98892" y="4007300"/>
            <a:ext cx="445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(38  49  65  97)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898892" y="4376632"/>
            <a:ext cx="445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(38  49  65  76  97)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98892" y="4745964"/>
            <a:ext cx="445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(13  38  49  65  76  97)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98892" y="5115296"/>
            <a:ext cx="459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(13  27  38  49  65  76  97)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98892" y="5484628"/>
            <a:ext cx="459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(13  27  38  49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r>
              <a:rPr lang="en-US" altLang="zh-CN" dirty="0"/>
              <a:t>  65  76  97)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9507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8.3 </a:t>
            </a:r>
            <a:r>
              <a:rPr lang="zh-CN" altLang="en-US" dirty="0"/>
              <a:t>简单插入排序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ED7B-05B4-42C8-AA77-D64CF2F333BF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68795" y="3468318"/>
            <a:ext cx="36471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算法分析：</a:t>
            </a:r>
            <a:endParaRPr lang="en-US" altLang="zh-CN" dirty="0"/>
          </a:p>
          <a:p>
            <a:r>
              <a:rPr lang="zh-CN" altLang="en-US" dirty="0"/>
              <a:t>空间复杂度：</a:t>
            </a:r>
            <a:r>
              <a:rPr lang="en-US" altLang="zh-CN" dirty="0"/>
              <a:t>O(1)</a:t>
            </a:r>
          </a:p>
          <a:p>
            <a:r>
              <a:rPr lang="zh-CN" altLang="en-US" dirty="0"/>
              <a:t>时间复杂度：</a:t>
            </a:r>
            <a:endParaRPr lang="en-US" altLang="zh-CN" dirty="0"/>
          </a:p>
          <a:p>
            <a:r>
              <a:rPr lang="zh-CN" altLang="en-US" dirty="0"/>
              <a:t>最坏情况是原序列刚好“逆序”，</a:t>
            </a:r>
            <a:endParaRPr lang="en-US" altLang="zh-CN" dirty="0"/>
          </a:p>
          <a:p>
            <a:r>
              <a:rPr lang="zh-CN" altLang="en-US" dirty="0"/>
              <a:t>比较次数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，移动次数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总的平均时间复杂度为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32000" y="889844"/>
            <a:ext cx="8280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InsertSortSub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low,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high)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这个子函数对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low..high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做简单插入排序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high;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].key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].key)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tmp.key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[j].key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low;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元素后移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插入到合适位置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InsertSort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InsertSortSub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80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7186765"/>
              </p:ext>
            </p:extLst>
          </p:nvPr>
        </p:nvGraphicFramePr>
        <p:xfrm>
          <a:off x="431800" y="1198581"/>
          <a:ext cx="8280400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1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简单选择排序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冒泡排序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简单插入排序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accent5"/>
                          </a:solidFill>
                        </a:rPr>
                        <a:t>相同点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设计思路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sz="2000" dirty="0"/>
                        <a:t>逐步增加有序序列的长度</a:t>
                      </a:r>
                      <a:r>
                        <a:rPr lang="en-US" altLang="zh-CN" sz="2000" dirty="0"/>
                        <a:t>/</a:t>
                      </a:r>
                      <a:r>
                        <a:rPr lang="zh-CN" altLang="en-US" sz="2000" dirty="0"/>
                        <a:t>缩短无序序列的长度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空间复杂度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2000" dirty="0"/>
                        <a:t>O(1)</a:t>
                      </a:r>
                      <a:r>
                        <a:rPr lang="zh-CN" altLang="en-US" sz="2000" dirty="0"/>
                        <a:t>，称为原地排序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总的平均时间复杂度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2000" dirty="0"/>
                        <a:t>O(n</a:t>
                      </a:r>
                      <a:r>
                        <a:rPr lang="en-US" altLang="zh-CN" sz="2000" baseline="30000" dirty="0"/>
                        <a:t>2</a:t>
                      </a:r>
                      <a:r>
                        <a:rPr lang="en-US" altLang="zh-CN" sz="2000" dirty="0"/>
                        <a:t>)</a:t>
                      </a:r>
                      <a:r>
                        <a:rPr lang="zh-CN" altLang="en-US" sz="2000" dirty="0"/>
                        <a:t>，低效排序算法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最坏情况的比较次数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2000" dirty="0"/>
                        <a:t>O(n</a:t>
                      </a:r>
                      <a:r>
                        <a:rPr lang="en-US" altLang="zh-CN" sz="2000" baseline="30000" dirty="0"/>
                        <a:t>2</a:t>
                      </a:r>
                      <a:r>
                        <a:rPr lang="en-US" altLang="zh-CN" sz="2000" dirty="0"/>
                        <a:t>)</a:t>
                      </a:r>
                      <a:endParaRPr lang="zh-CN" alt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accent5"/>
                          </a:solidFill>
                        </a:rPr>
                        <a:t>不同点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最坏情况的移动次数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采用交换法，</a:t>
                      </a:r>
                      <a:r>
                        <a:rPr lang="en-US" altLang="zh-CN" sz="2000" dirty="0"/>
                        <a:t>O(n)</a:t>
                      </a:r>
                    </a:p>
                    <a:p>
                      <a:r>
                        <a:rPr lang="zh-CN" altLang="en-US" sz="2000" dirty="0"/>
                        <a:t>采用移动法，</a:t>
                      </a:r>
                      <a:r>
                        <a:rPr lang="en-US" altLang="zh-CN" sz="2000" dirty="0"/>
                        <a:t>O(n</a:t>
                      </a:r>
                      <a:r>
                        <a:rPr lang="en-US" altLang="zh-CN" sz="2000" baseline="30000" dirty="0"/>
                        <a:t>2</a:t>
                      </a:r>
                      <a:r>
                        <a:rPr lang="en-US" altLang="zh-CN" sz="2000" dirty="0"/>
                        <a:t>)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O(n</a:t>
                      </a:r>
                      <a:r>
                        <a:rPr lang="en-US" altLang="zh-CN" sz="2000" baseline="30000" dirty="0"/>
                        <a:t>2</a:t>
                      </a:r>
                      <a:r>
                        <a:rPr lang="en-US" altLang="zh-CN" sz="2000" dirty="0"/>
                        <a:t>)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O(n</a:t>
                      </a:r>
                      <a:r>
                        <a:rPr lang="en-US" altLang="zh-CN" sz="2000" baseline="30000" dirty="0"/>
                        <a:t>2</a:t>
                      </a:r>
                      <a:r>
                        <a:rPr lang="en-US" altLang="zh-CN" sz="2000" dirty="0"/>
                        <a:t>)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-</a:t>
                      </a:r>
                      <a:r>
                        <a:rPr lang="zh-CN" altLang="en-US" sz="2000" dirty="0"/>
                        <a:t>最好情况的比较次数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O(n</a:t>
                      </a:r>
                      <a:r>
                        <a:rPr lang="en-US" altLang="zh-CN" sz="2000" baseline="30000" dirty="0"/>
                        <a:t>2</a:t>
                      </a:r>
                      <a:r>
                        <a:rPr lang="en-US" altLang="zh-CN" sz="2000" dirty="0"/>
                        <a:t>)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O(n)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O(n)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05538-8B2A-4714-9FBB-1E94B0B4AF3A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479120" y="56605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三种简单排序算法的分析比较</a:t>
            </a:r>
          </a:p>
        </p:txBody>
      </p:sp>
    </p:spTree>
    <p:extLst>
      <p:ext uri="{BB962C8B-B14F-4D97-AF65-F5344CB8AC3E}">
        <p14:creationId xmlns:p14="http://schemas.microsoft.com/office/powerpoint/2010/main" val="1659821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简单插入排序的改进：折半插入排序</a:t>
            </a:r>
            <a:endParaRPr lang="en-US" altLang="zh-CN" dirty="0"/>
          </a:p>
          <a:p>
            <a:r>
              <a:rPr lang="zh-CN" altLang="en-US" dirty="0"/>
              <a:t>利用部分有序性，使用折半法快速查找到插入位置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B3D1-407D-41AB-B453-87BAB9FBFC52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2000" y="1387401"/>
            <a:ext cx="8100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BinInsertSort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].key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].key)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low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high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(low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high)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low</a:t>
            </a:r>
            <a:r>
              <a:rPr lang="en-US" altLang="zh-CN" kern="0" dirty="0" err="1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high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tmp.key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[m].key) high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low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high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[high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62492" y="4645150"/>
            <a:ext cx="3361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算法分析：</a:t>
            </a:r>
            <a:endParaRPr lang="en-US" altLang="zh-CN" dirty="0"/>
          </a:p>
          <a:p>
            <a:r>
              <a:rPr lang="zh-CN" altLang="en-US" dirty="0"/>
              <a:t>最坏情况的比较次数可降低到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  <a:r>
              <a:rPr lang="zh-CN" altLang="en-US" dirty="0"/>
              <a:t>，移动次数不变</a:t>
            </a:r>
          </a:p>
        </p:txBody>
      </p:sp>
    </p:spTree>
    <p:extLst>
      <p:ext uri="{BB962C8B-B14F-4D97-AF65-F5344CB8AC3E}">
        <p14:creationId xmlns:p14="http://schemas.microsoft.com/office/powerpoint/2010/main" val="325883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希尔排序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928F2-6F2F-4CA8-9010-D64F931255C7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7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  <a:r>
              <a:rPr lang="en-US" altLang="zh-CN" dirty="0"/>
              <a:t>(Shell’s Sort)</a:t>
            </a:r>
            <a:r>
              <a:rPr lang="zh-CN" altLang="en-US" dirty="0"/>
              <a:t>：将整个序列分为若干子序列，对每个子序列分别进行插入排序；待序列“基本有序”后，再对整个序列进行插入排序</a:t>
            </a:r>
            <a:endParaRPr lang="en-US" altLang="zh-CN" dirty="0"/>
          </a:p>
          <a:p>
            <a:r>
              <a:rPr lang="zh-CN" altLang="en-US" dirty="0"/>
              <a:t>算法进行过程</a:t>
            </a:r>
            <a:endParaRPr lang="en-US" altLang="zh-CN" dirty="0"/>
          </a:p>
          <a:p>
            <a:pPr lvl="1"/>
            <a:r>
              <a:rPr lang="zh-CN" altLang="en-US" dirty="0"/>
              <a:t>增量为</a:t>
            </a:r>
            <a:r>
              <a:rPr lang="en-US" altLang="zh-CN" dirty="0"/>
              <a:t>5</a:t>
            </a:r>
            <a:r>
              <a:rPr lang="zh-CN" altLang="en-US" dirty="0"/>
              <a:t>，取子序列</a:t>
            </a:r>
            <a:endParaRPr lang="en-US" altLang="zh-CN" dirty="0"/>
          </a:p>
          <a:p>
            <a:pPr lvl="1"/>
            <a:r>
              <a:rPr lang="zh-CN" altLang="en-US" dirty="0"/>
              <a:t>增量为</a:t>
            </a:r>
            <a:r>
              <a:rPr lang="en-US" altLang="zh-CN" dirty="0"/>
              <a:t>3</a:t>
            </a:r>
            <a:r>
              <a:rPr lang="zh-CN" altLang="en-US" dirty="0"/>
              <a:t>，取子序列</a:t>
            </a:r>
            <a:endParaRPr lang="en-US" altLang="zh-CN" dirty="0"/>
          </a:p>
          <a:p>
            <a:pPr lvl="1"/>
            <a:r>
              <a:rPr lang="zh-CN" altLang="en-US" dirty="0"/>
              <a:t>增量为</a:t>
            </a:r>
            <a:r>
              <a:rPr lang="en-US" altLang="zh-CN" dirty="0"/>
              <a:t>1</a:t>
            </a:r>
            <a:r>
              <a:rPr lang="zh-CN" altLang="en-US" dirty="0"/>
              <a:t>，即整个序列</a:t>
            </a:r>
            <a:endParaRPr lang="en-US" altLang="zh-CN" dirty="0"/>
          </a:p>
          <a:p>
            <a:r>
              <a:rPr lang="zh-CN" altLang="en-US" dirty="0"/>
              <a:t>特点</a:t>
            </a:r>
            <a:endParaRPr lang="en-US" altLang="zh-CN" dirty="0"/>
          </a:p>
          <a:p>
            <a:pPr lvl="1"/>
            <a:r>
              <a:rPr lang="zh-CN" altLang="en-US" dirty="0"/>
              <a:t>时间复杂度较低</a:t>
            </a:r>
            <a:endParaRPr lang="en-US" altLang="zh-CN" dirty="0"/>
          </a:p>
          <a:p>
            <a:pPr lvl="2"/>
            <a:r>
              <a:rPr lang="zh-CN" altLang="en-US" dirty="0"/>
              <a:t>每个子序列较短</a:t>
            </a:r>
            <a:endParaRPr lang="en-US" altLang="zh-CN" dirty="0"/>
          </a:p>
          <a:p>
            <a:pPr lvl="2"/>
            <a:r>
              <a:rPr lang="zh-CN" altLang="en-US" dirty="0"/>
              <a:t>较小或较大的元素跳跃式移动</a:t>
            </a:r>
            <a:endParaRPr lang="en-US" altLang="zh-CN" dirty="0"/>
          </a:p>
          <a:p>
            <a:pPr lvl="2"/>
            <a:r>
              <a:rPr lang="zh-CN" altLang="en-US" dirty="0"/>
              <a:t>取决于增量的选取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258492" y="2467876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49  38  65  97  76  13  27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493623" y="2751907"/>
            <a:ext cx="2717348" cy="362880"/>
            <a:chOff x="4493623" y="2124891"/>
            <a:chExt cx="2717348" cy="36288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4493623" y="2124891"/>
              <a:ext cx="0" cy="3600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4493623" y="2481943"/>
              <a:ext cx="2717348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7210971" y="2127771"/>
              <a:ext cx="0" cy="3600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5060024" y="2837208"/>
            <a:ext cx="2717348" cy="362880"/>
            <a:chOff x="4493623" y="2124891"/>
            <a:chExt cx="2717348" cy="362880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4493623" y="2124891"/>
              <a:ext cx="0" cy="36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4493623" y="2481943"/>
              <a:ext cx="2717348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7210971" y="2127771"/>
              <a:ext cx="0" cy="36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5569096" y="2909208"/>
            <a:ext cx="2717348" cy="362880"/>
            <a:chOff x="4493623" y="2124891"/>
            <a:chExt cx="2717348" cy="36288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493623" y="2124891"/>
              <a:ext cx="0" cy="36000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4493623" y="2481943"/>
              <a:ext cx="2717348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V="1">
              <a:off x="7210971" y="2127771"/>
              <a:ext cx="0" cy="36000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1" name="文本框 20"/>
          <p:cNvSpPr txBox="1"/>
          <p:nvPr/>
        </p:nvSpPr>
        <p:spPr>
          <a:xfrm>
            <a:off x="4258492" y="3353346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r>
              <a:rPr lang="en-US" altLang="zh-CN" dirty="0"/>
              <a:t>  97  76  49  38  65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493623" y="3710399"/>
            <a:ext cx="1620067" cy="360550"/>
            <a:chOff x="4493623" y="3083383"/>
            <a:chExt cx="1620067" cy="36055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4493623" y="3083383"/>
              <a:ext cx="0" cy="3600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4493623" y="3440435"/>
              <a:ext cx="1620000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6113690" y="3083933"/>
              <a:ext cx="0" cy="3600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5042263" y="3803936"/>
            <a:ext cx="1620067" cy="360550"/>
            <a:chOff x="4493623" y="3083383"/>
            <a:chExt cx="1620067" cy="360550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4493623" y="3083383"/>
              <a:ext cx="0" cy="36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4493623" y="3440435"/>
              <a:ext cx="162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6113690" y="3083933"/>
              <a:ext cx="0" cy="36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/>
        </p:nvGrpSpPr>
        <p:grpSpPr>
          <a:xfrm>
            <a:off x="5569096" y="3900006"/>
            <a:ext cx="1620067" cy="360550"/>
            <a:chOff x="4493623" y="3083383"/>
            <a:chExt cx="1620067" cy="360550"/>
          </a:xfrm>
        </p:grpSpPr>
        <p:cxnSp>
          <p:nvCxnSpPr>
            <p:cNvPr id="31" name="直接连接符 30"/>
            <p:cNvCxnSpPr/>
            <p:nvPr/>
          </p:nvCxnSpPr>
          <p:spPr>
            <a:xfrm>
              <a:off x="4493623" y="3083383"/>
              <a:ext cx="0" cy="36000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4493623" y="3440435"/>
              <a:ext cx="1620000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V="1">
              <a:off x="6113690" y="3083933"/>
              <a:ext cx="0" cy="36000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6117702" y="3713279"/>
            <a:ext cx="1620067" cy="360550"/>
            <a:chOff x="4493623" y="3083383"/>
            <a:chExt cx="1620067" cy="360550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4493623" y="3083383"/>
              <a:ext cx="0" cy="3600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4493623" y="3440435"/>
              <a:ext cx="1620000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V="1">
              <a:off x="6113690" y="3083933"/>
              <a:ext cx="0" cy="3600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6666308" y="3809763"/>
            <a:ext cx="1620067" cy="360550"/>
            <a:chOff x="4493623" y="3083383"/>
            <a:chExt cx="1620067" cy="360550"/>
          </a:xfrm>
        </p:grpSpPr>
        <p:cxnSp>
          <p:nvCxnSpPr>
            <p:cNvPr id="39" name="直接连接符 38"/>
            <p:cNvCxnSpPr/>
            <p:nvPr/>
          </p:nvCxnSpPr>
          <p:spPr>
            <a:xfrm>
              <a:off x="4493623" y="3083383"/>
              <a:ext cx="0" cy="36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4493623" y="3440435"/>
              <a:ext cx="162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6113690" y="3083933"/>
              <a:ext cx="0" cy="3600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4258492" y="4367817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r>
              <a:rPr lang="en-US" altLang="zh-CN" dirty="0"/>
              <a:t>  38  65  49  97  76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258492" y="4939389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13  27  38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r>
              <a:rPr lang="en-US" altLang="zh-CN" dirty="0"/>
              <a:t>  49  65  76  97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4" name="右弧形箭头 43"/>
          <p:cNvSpPr/>
          <p:nvPr/>
        </p:nvSpPr>
        <p:spPr>
          <a:xfrm>
            <a:off x="8527717" y="2607904"/>
            <a:ext cx="295129" cy="91262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右弧形箭头 44"/>
          <p:cNvSpPr/>
          <p:nvPr/>
        </p:nvSpPr>
        <p:spPr>
          <a:xfrm>
            <a:off x="8527716" y="3558937"/>
            <a:ext cx="295129" cy="101306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右弧形箭头 45"/>
          <p:cNvSpPr/>
          <p:nvPr/>
        </p:nvSpPr>
        <p:spPr>
          <a:xfrm>
            <a:off x="8527716" y="4571998"/>
            <a:ext cx="295129" cy="57018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767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8.4 </a:t>
            </a:r>
            <a:r>
              <a:rPr lang="zh-CN" altLang="en-US" dirty="0"/>
              <a:t>希尔排序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73C4-483A-4B41-ADDF-989567A10C0A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2000" y="840943"/>
            <a:ext cx="8280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ShellSortSub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一趟增量为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dk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的插入排序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dk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].key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 err="1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].key)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 err="1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tmp.key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[j].key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-=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kern="0" dirty="0" err="1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kern="0" dirty="0" err="1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ShellSort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delta[],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k)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delta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是每趟排序的增量值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ShellSortSub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delta[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693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 </a:t>
            </a:r>
            <a:r>
              <a:rPr lang="zh-CN" altLang="en-US" dirty="0"/>
              <a:t>快速排序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3E2E-9578-487A-B513-AB9B02CC2A65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  <a:r>
              <a:rPr lang="en-US" altLang="zh-CN" dirty="0"/>
              <a:t>(Quick Sort)</a:t>
            </a:r>
            <a:r>
              <a:rPr lang="zh-CN" altLang="en-US" dirty="0"/>
              <a:t>：通过一趟“划分”，将整个序列分为两块，保证后一块的任一关键字都比前一块的任一关键字大</a:t>
            </a:r>
            <a:endParaRPr lang="en-US" altLang="zh-CN" dirty="0"/>
          </a:p>
          <a:p>
            <a:pPr lvl="1"/>
            <a:r>
              <a:rPr lang="zh-CN" altLang="en-US" dirty="0"/>
              <a:t>回顾分块有序表</a:t>
            </a:r>
            <a:endParaRPr lang="en-US" altLang="zh-CN" dirty="0"/>
          </a:p>
          <a:p>
            <a:r>
              <a:rPr lang="zh-CN" altLang="en-US" dirty="0"/>
              <a:t>再对两块分别进行进一步“划分”，以递归形式进行，直到不能再细分为止</a:t>
            </a:r>
            <a:endParaRPr lang="en-US" altLang="zh-CN" dirty="0"/>
          </a:p>
          <a:p>
            <a:r>
              <a:rPr lang="zh-CN" altLang="en-US" dirty="0"/>
              <a:t>“划分”思路：从序列中找一个关键字作为枢轴</a:t>
            </a:r>
            <a:r>
              <a:rPr lang="en-US" altLang="zh-CN" dirty="0"/>
              <a:t>(pivot)</a:t>
            </a:r>
            <a:r>
              <a:rPr lang="zh-CN" altLang="en-US" dirty="0"/>
              <a:t>，比枢轴大的放在其后面，比枢轴小的放在其前面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859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8.5 </a:t>
            </a:r>
            <a:r>
              <a:rPr lang="zh-CN" altLang="en-US" dirty="0"/>
              <a:t>快速排序的递归算法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ED89-E95F-4C48-8F06-A0B163E7323E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2000" y="998867"/>
            <a:ext cx="728379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low,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high)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L[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low..high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进行快速排序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(low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high)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pivotloc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Partition(L, low, high);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low, pivotloc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pivotloc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high);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QuickSort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64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划分算法</a:t>
            </a:r>
            <a:endParaRPr lang="en-US" altLang="zh-CN" dirty="0"/>
          </a:p>
          <a:p>
            <a:pPr lvl="1"/>
            <a:r>
              <a:rPr lang="zh-CN" altLang="en-US" dirty="0"/>
              <a:t>双向交替扫描互换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BC421-D924-4D98-ADF4-965C6B6DA8EC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19</a:t>
            </a:fld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2411792" y="2249166"/>
            <a:ext cx="4320416" cy="2359669"/>
            <a:chOff x="2229394" y="1504148"/>
            <a:chExt cx="4320416" cy="2359669"/>
          </a:xfrm>
        </p:grpSpPr>
        <p:sp>
          <p:nvSpPr>
            <p:cNvPr id="6" name="文本框 5"/>
            <p:cNvSpPr txBox="1"/>
            <p:nvPr/>
          </p:nvSpPr>
          <p:spPr>
            <a:xfrm>
              <a:off x="2229397" y="1553482"/>
              <a:ext cx="43204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49  38  65  97  76  13  27  </a:t>
              </a:r>
              <a:r>
                <a:rPr lang="en-US" altLang="zh-CN" dirty="0">
                  <a:solidFill>
                    <a:schemeClr val="accent2"/>
                  </a:solidFill>
                </a:rPr>
                <a:t>49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229397" y="1504148"/>
              <a:ext cx="468000" cy="468000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229395" y="2060812"/>
              <a:ext cx="43204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27  38  65  97  76  13  49  </a:t>
              </a:r>
              <a:r>
                <a:rPr lang="en-US" altLang="zh-CN" dirty="0">
                  <a:solidFill>
                    <a:schemeClr val="accent2"/>
                  </a:solidFill>
                </a:rPr>
                <a:t>49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229394" y="2518808"/>
              <a:ext cx="43204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27  38  49  97  76  13  65  </a:t>
              </a:r>
              <a:r>
                <a:rPr lang="en-US" altLang="zh-CN" dirty="0">
                  <a:solidFill>
                    <a:schemeClr val="accent2"/>
                  </a:solidFill>
                </a:rPr>
                <a:t>49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229394" y="2976804"/>
              <a:ext cx="43204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27  38  13  97  76  49  65  </a:t>
              </a:r>
              <a:r>
                <a:rPr lang="en-US" altLang="zh-CN" dirty="0">
                  <a:solidFill>
                    <a:schemeClr val="accent2"/>
                  </a:solidFill>
                </a:rPr>
                <a:t>49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229394" y="3433669"/>
              <a:ext cx="43204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27  38  13  49  76  97  65  </a:t>
              </a:r>
              <a:r>
                <a:rPr lang="en-US" altLang="zh-CN" dirty="0">
                  <a:solidFill>
                    <a:schemeClr val="accent2"/>
                  </a:solidFill>
                </a:rPr>
                <a:t>49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2455819" y="1881056"/>
              <a:ext cx="3257006" cy="198730"/>
            </a:xfrm>
            <a:custGeom>
              <a:avLst/>
              <a:gdLst>
                <a:gd name="connsiteX0" fmla="*/ 0 w 3257006"/>
                <a:gd name="connsiteY0" fmla="*/ 43542 h 331182"/>
                <a:gd name="connsiteX1" fmla="*/ 1689463 w 3257006"/>
                <a:gd name="connsiteY1" fmla="*/ 330925 h 331182"/>
                <a:gd name="connsiteX2" fmla="*/ 3257006 w 3257006"/>
                <a:gd name="connsiteY2" fmla="*/ 0 h 33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57006" h="331182">
                  <a:moveTo>
                    <a:pt x="0" y="43542"/>
                  </a:moveTo>
                  <a:cubicBezTo>
                    <a:pt x="573314" y="190862"/>
                    <a:pt x="1146629" y="338182"/>
                    <a:pt x="1689463" y="330925"/>
                  </a:cubicBezTo>
                  <a:cubicBezTo>
                    <a:pt x="2232297" y="323668"/>
                    <a:pt x="2744651" y="161834"/>
                    <a:pt x="3257006" y="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 flipH="1">
              <a:off x="3595518" y="2346517"/>
              <a:ext cx="2124000" cy="198730"/>
            </a:xfrm>
            <a:custGeom>
              <a:avLst/>
              <a:gdLst>
                <a:gd name="connsiteX0" fmla="*/ 0 w 3257006"/>
                <a:gd name="connsiteY0" fmla="*/ 43542 h 331182"/>
                <a:gd name="connsiteX1" fmla="*/ 1689463 w 3257006"/>
                <a:gd name="connsiteY1" fmla="*/ 330925 h 331182"/>
                <a:gd name="connsiteX2" fmla="*/ 3257006 w 3257006"/>
                <a:gd name="connsiteY2" fmla="*/ 0 h 33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57006" h="331182">
                  <a:moveTo>
                    <a:pt x="0" y="43542"/>
                  </a:moveTo>
                  <a:cubicBezTo>
                    <a:pt x="573314" y="190862"/>
                    <a:pt x="1146629" y="338182"/>
                    <a:pt x="1689463" y="330925"/>
                  </a:cubicBezTo>
                  <a:cubicBezTo>
                    <a:pt x="2232297" y="323668"/>
                    <a:pt x="2744651" y="161834"/>
                    <a:pt x="3257006" y="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3556459" y="2796246"/>
              <a:ext cx="1620000" cy="198730"/>
            </a:xfrm>
            <a:custGeom>
              <a:avLst/>
              <a:gdLst>
                <a:gd name="connsiteX0" fmla="*/ 0 w 3257006"/>
                <a:gd name="connsiteY0" fmla="*/ 43542 h 331182"/>
                <a:gd name="connsiteX1" fmla="*/ 1689463 w 3257006"/>
                <a:gd name="connsiteY1" fmla="*/ 330925 h 331182"/>
                <a:gd name="connsiteX2" fmla="*/ 3257006 w 3257006"/>
                <a:gd name="connsiteY2" fmla="*/ 0 h 33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57006" h="331182">
                  <a:moveTo>
                    <a:pt x="0" y="43542"/>
                  </a:moveTo>
                  <a:cubicBezTo>
                    <a:pt x="573314" y="190862"/>
                    <a:pt x="1146629" y="338182"/>
                    <a:pt x="1689463" y="330925"/>
                  </a:cubicBezTo>
                  <a:cubicBezTo>
                    <a:pt x="2232297" y="323668"/>
                    <a:pt x="2744651" y="161834"/>
                    <a:pt x="3257006" y="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 flipH="1">
              <a:off x="4084322" y="3234939"/>
              <a:ext cx="1044000" cy="198730"/>
            </a:xfrm>
            <a:custGeom>
              <a:avLst/>
              <a:gdLst>
                <a:gd name="connsiteX0" fmla="*/ 0 w 3257006"/>
                <a:gd name="connsiteY0" fmla="*/ 43542 h 331182"/>
                <a:gd name="connsiteX1" fmla="*/ 1689463 w 3257006"/>
                <a:gd name="connsiteY1" fmla="*/ 330925 h 331182"/>
                <a:gd name="connsiteX2" fmla="*/ 3257006 w 3257006"/>
                <a:gd name="connsiteY2" fmla="*/ 0 h 33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57006" h="331182">
                  <a:moveTo>
                    <a:pt x="0" y="43542"/>
                  </a:moveTo>
                  <a:cubicBezTo>
                    <a:pt x="573314" y="190862"/>
                    <a:pt x="1146629" y="338182"/>
                    <a:pt x="1689463" y="330925"/>
                  </a:cubicBezTo>
                  <a:cubicBezTo>
                    <a:pt x="2232297" y="323668"/>
                    <a:pt x="2744651" y="161834"/>
                    <a:pt x="3257006" y="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5551717" y="2029292"/>
              <a:ext cx="468000" cy="468000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3295319" y="2482694"/>
              <a:ext cx="468000" cy="468000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4969599" y="2936556"/>
              <a:ext cx="468000" cy="468000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3850322" y="3395817"/>
              <a:ext cx="468000" cy="468000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7074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8.7 </a:t>
            </a:r>
            <a:r>
              <a:rPr lang="zh-CN" altLang="en-US" dirty="0"/>
              <a:t>一趟划分算法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DDC79-BA7A-4E92-B57F-8136579E6904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2000" y="1028343"/>
            <a:ext cx="8280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Partition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low,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high)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选择一个枢轴，将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low..high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分为两部分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返回枢轴最后所在的位置，以便进一步划分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划分以后，在枢轴之前（之后）的元素都小于（大于）或等于枢轴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pivotloc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low;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枢轴可以任意选取，例如取第一个位置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pivotloc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KeyType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pivotkey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tmp.key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(low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high)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(low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high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[high].key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pivotkey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high;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[low]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[high];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(low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high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[low].key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pivotkey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low;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[high]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[low];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[low]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low;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928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一趟划分的图示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EC2E-B6D6-4017-A53F-035FEAD2DF3F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098767" y="103967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49  38  65  97  76  13  27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2307771" y="133241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307771" y="146707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low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6120059" y="133241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120059" y="146707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high</a:t>
            </a:r>
            <a:endParaRPr lang="zh-CN" altLang="en-US" dirty="0"/>
          </a:p>
        </p:txBody>
      </p:sp>
      <p:sp>
        <p:nvSpPr>
          <p:cNvPr id="12" name="椭圆 11"/>
          <p:cNvSpPr/>
          <p:nvPr/>
        </p:nvSpPr>
        <p:spPr>
          <a:xfrm>
            <a:off x="2098766" y="999078"/>
            <a:ext cx="468000" cy="4680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2307771" y="192248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307771" y="205714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low</a:t>
            </a:r>
            <a:endParaRPr lang="zh-CN" altLang="en-US" dirty="0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553998" y="192248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553998" y="205714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high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432000" y="1409004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pivotkey</a:t>
            </a:r>
            <a:r>
              <a:rPr lang="zh-CN" altLang="en-US" dirty="0"/>
              <a:t>：</a:t>
            </a:r>
            <a:r>
              <a:rPr lang="en-US" altLang="zh-CN" dirty="0"/>
              <a:t>49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2098767" y="2534552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27  38  65  97  76  13    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3405056" y="2922468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405056" y="305713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low</a:t>
            </a:r>
            <a:endParaRPr lang="zh-CN" altLang="en-US" dirty="0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5553998" y="2922468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553998" y="305713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high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2098767" y="3432691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27  38      97  76  13  65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3405056" y="383669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3405056" y="397135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low</a:t>
            </a:r>
            <a:endParaRPr lang="zh-CN" altLang="en-US" dirty="0"/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5031482" y="383669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031482" y="397135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high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2098766" y="4325359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27  38  13  97  76      65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3951056" y="4636145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951056" y="4770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low</a:t>
            </a:r>
            <a:endParaRPr lang="zh-CN" altLang="en-US" dirty="0"/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5037545" y="4636145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037545" y="477081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high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2098766" y="5058074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27  38  13      76  97  65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V="1">
            <a:off x="3944993" y="5442831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944993" y="557749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low</a:t>
            </a:r>
            <a:endParaRPr lang="zh-CN" altLang="en-US" dirty="0"/>
          </a:p>
        </p:txBody>
      </p:sp>
      <p:cxnSp>
        <p:nvCxnSpPr>
          <p:cNvPr id="36" name="直接箭头连接符 35"/>
          <p:cNvCxnSpPr/>
          <p:nvPr/>
        </p:nvCxnSpPr>
        <p:spPr>
          <a:xfrm flipV="1">
            <a:off x="3944993" y="5911778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3944993" y="604644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high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3740411" y="505807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</a:t>
            </a:r>
            <a:endParaRPr lang="zh-CN" altLang="en-US" dirty="0"/>
          </a:p>
        </p:txBody>
      </p:sp>
      <p:sp>
        <p:nvSpPr>
          <p:cNvPr id="39" name="椭圆 38"/>
          <p:cNvSpPr/>
          <p:nvPr/>
        </p:nvSpPr>
        <p:spPr>
          <a:xfrm>
            <a:off x="3710993" y="5027277"/>
            <a:ext cx="468000" cy="4680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844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快速排序的算法分析</a:t>
            </a:r>
            <a:endParaRPr lang="en-US" altLang="zh-CN" dirty="0"/>
          </a:p>
          <a:p>
            <a:r>
              <a:rPr lang="zh-CN" altLang="en-US" dirty="0"/>
              <a:t>时间复杂度：</a:t>
            </a:r>
            <a:endParaRPr lang="en-US" altLang="zh-CN" dirty="0"/>
          </a:p>
          <a:p>
            <a:pPr lvl="1"/>
            <a:r>
              <a:rPr lang="zh-CN" altLang="en-US" dirty="0"/>
              <a:t>平均时间复杂度为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在已知的同类内部排序方法中，快速排序的平均时间复杂度</a:t>
            </a:r>
            <a:r>
              <a:rPr lang="zh-CN" altLang="en-US" dirty="0">
                <a:solidFill>
                  <a:schemeClr val="accent5"/>
                </a:solidFill>
              </a:rPr>
              <a:t>最低</a:t>
            </a:r>
            <a:endParaRPr lang="en-US" altLang="zh-CN" dirty="0">
              <a:solidFill>
                <a:schemeClr val="accent5"/>
              </a:solidFill>
            </a:endParaRPr>
          </a:p>
          <a:p>
            <a:pPr lvl="1"/>
            <a:r>
              <a:rPr lang="zh-CN" altLang="en-US" dirty="0"/>
              <a:t>当原序列为“正序”或“逆序”时，最坏时间复杂度可达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空间复杂度：</a:t>
            </a:r>
            <a:endParaRPr lang="en-US" altLang="zh-CN" dirty="0"/>
          </a:p>
          <a:p>
            <a:pPr lvl="1"/>
            <a:r>
              <a:rPr lang="zh-CN" altLang="en-US" dirty="0"/>
              <a:t>需要栈来实现递归调用，平均复杂度为</a:t>
            </a:r>
            <a:r>
              <a:rPr lang="en-US" altLang="zh-CN" dirty="0"/>
              <a:t>O(</a:t>
            </a:r>
            <a:r>
              <a:rPr lang="en-US" altLang="zh-CN" dirty="0" err="1"/>
              <a:t>logn</a:t>
            </a:r>
            <a:r>
              <a:rPr lang="en-US" altLang="zh-CN" dirty="0"/>
              <a:t>)</a:t>
            </a:r>
            <a:r>
              <a:rPr lang="zh-CN" altLang="en-US" dirty="0"/>
              <a:t>，最坏可达</a:t>
            </a:r>
            <a:r>
              <a:rPr lang="en-US" altLang="zh-CN" dirty="0"/>
              <a:t>O(n)</a:t>
            </a:r>
          </a:p>
          <a:p>
            <a:r>
              <a:rPr lang="zh-CN" altLang="en-US" dirty="0"/>
              <a:t>实际使用中</a:t>
            </a:r>
            <a:endParaRPr lang="en-US" altLang="zh-CN" dirty="0"/>
          </a:p>
          <a:p>
            <a:pPr lvl="1"/>
            <a:r>
              <a:rPr lang="zh-CN" altLang="en-US" dirty="0"/>
              <a:t>选好枢轴很重要，例如比较第一个、最后一个和中间一个元素，选择一个中间值做枢轴</a:t>
            </a:r>
            <a:endParaRPr lang="en-US" altLang="zh-CN" dirty="0"/>
          </a:p>
          <a:p>
            <a:pPr lvl="1"/>
            <a:r>
              <a:rPr lang="zh-CN" altLang="en-US" dirty="0"/>
              <a:t>当块很短时，不再递归而是直接做简单插入排序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B486-F335-4A55-A0E2-3CAE3840B581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38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8.5 </a:t>
            </a:r>
            <a:r>
              <a:rPr lang="zh-CN" altLang="en-US" dirty="0"/>
              <a:t>堆排序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885C4-0AE1-4073-A80D-26A00DBD463D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7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选择排序的改进：减少比较次数</a:t>
            </a:r>
            <a:endParaRPr lang="en-US" altLang="zh-CN" dirty="0"/>
          </a:p>
          <a:p>
            <a:r>
              <a:rPr lang="zh-CN" altLang="en-US" dirty="0"/>
              <a:t>利用锦标赛的思想</a:t>
            </a:r>
            <a:endParaRPr lang="en-US" altLang="zh-CN" dirty="0"/>
          </a:p>
          <a:p>
            <a:pPr lvl="1"/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zh-CN" altLang="en-US" dirty="0"/>
              <a:t>胜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胜</a:t>
            </a:r>
            <a:r>
              <a:rPr lang="en-US" altLang="zh-CN" dirty="0"/>
              <a:t>C</a:t>
            </a:r>
            <a:r>
              <a:rPr lang="zh-CN" altLang="en-US" dirty="0"/>
              <a:t>，则认为</a:t>
            </a:r>
            <a:r>
              <a:rPr lang="en-US" altLang="zh-CN" dirty="0"/>
              <a:t>A</a:t>
            </a:r>
            <a:r>
              <a:rPr lang="zh-CN" altLang="en-US" dirty="0"/>
              <a:t>胜过</a:t>
            </a:r>
            <a:r>
              <a:rPr lang="en-US" altLang="zh-CN" dirty="0"/>
              <a:t>C</a:t>
            </a:r>
          </a:p>
          <a:p>
            <a:r>
              <a:rPr lang="zh-CN" altLang="en-US" dirty="0"/>
              <a:t>树形选择排序（锦标赛排序）</a:t>
            </a:r>
            <a:endParaRPr lang="en-US" altLang="zh-CN" dirty="0"/>
          </a:p>
          <a:p>
            <a:r>
              <a:rPr lang="zh-CN" altLang="en-US" dirty="0"/>
              <a:t>比较次数降低至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但空间复杂度较高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62249" y="1469427"/>
            <a:ext cx="3724987" cy="486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81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构造一种称为堆的数据结构，用于排序</a:t>
            </a:r>
            <a:endParaRPr lang="en-US" altLang="zh-CN" dirty="0"/>
          </a:p>
          <a:p>
            <a:r>
              <a:rPr lang="zh-CN" altLang="en-US" dirty="0"/>
              <a:t>堆</a:t>
            </a:r>
            <a:r>
              <a:rPr lang="en-US" altLang="zh-CN" dirty="0"/>
              <a:t>(heap)</a:t>
            </a:r>
            <a:r>
              <a:rPr lang="zh-CN" altLang="en-US" dirty="0"/>
              <a:t>：堆是一棵完全二叉树，且双亲结点的元素值不大于（不小于）其左右孩子的元素值，根结点的元素值最小（最大）</a:t>
            </a:r>
            <a:endParaRPr lang="en-US" altLang="zh-CN" dirty="0"/>
          </a:p>
          <a:p>
            <a:pPr lvl="1"/>
            <a:r>
              <a:rPr lang="zh-CN" altLang="en-US" dirty="0"/>
              <a:t>小顶堆和大顶堆</a:t>
            </a:r>
            <a:endParaRPr lang="en-US" altLang="zh-CN" dirty="0"/>
          </a:p>
          <a:p>
            <a:r>
              <a:rPr lang="zh-CN" altLang="en-US" dirty="0"/>
              <a:t>堆是对树形选择排序的改进：不要重复存储元素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0D979-7283-4E31-ABE0-04701C9C6B25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918" y="3817206"/>
            <a:ext cx="5356164" cy="255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68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由于堆是完全二叉树，因此常用顺序存储结构来表示堆（参见第</a:t>
            </a:r>
            <a:r>
              <a:rPr lang="en-US" altLang="zh-CN" dirty="0"/>
              <a:t>5</a:t>
            </a:r>
            <a:r>
              <a:rPr lang="zh-CN" altLang="en-US" dirty="0"/>
              <a:t>章）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根据完全二叉树的编号法，堆满足如下性质：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5825-F1C3-4D8A-BDB3-9A260A596C34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918" y="1317845"/>
            <a:ext cx="5356164" cy="255479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12000" y="3759973"/>
            <a:ext cx="2803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[96,83,27,38,11,09]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446109" y="3759973"/>
            <a:ext cx="368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[12,36,24,85,47,30,53,91]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72000" y="4865653"/>
                <a:ext cx="32444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865653"/>
                <a:ext cx="3244478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3279" r="-1128" b="-3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270106" y="4865653"/>
                <a:ext cx="32877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106" y="4865653"/>
                <a:ext cx="3287760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3279" r="-1111" b="-3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2159725" y="549404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大顶堆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73486" y="549404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小顶堆</a:t>
            </a:r>
          </a:p>
        </p:txBody>
      </p:sp>
    </p:spTree>
    <p:extLst>
      <p:ext uri="{BB962C8B-B14F-4D97-AF65-F5344CB8AC3E}">
        <p14:creationId xmlns:p14="http://schemas.microsoft.com/office/powerpoint/2010/main" val="4200266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432000" y="3529835"/>
            <a:ext cx="3207103" cy="2379794"/>
            <a:chOff x="432000" y="3529835"/>
            <a:chExt cx="3207103" cy="2379794"/>
          </a:xfrm>
        </p:grpSpPr>
        <p:grpSp>
          <p:nvGrpSpPr>
            <p:cNvPr id="7" name="组合 6"/>
            <p:cNvGrpSpPr/>
            <p:nvPr/>
          </p:nvGrpSpPr>
          <p:grpSpPr>
            <a:xfrm>
              <a:off x="2158077" y="3529835"/>
              <a:ext cx="540000" cy="540000"/>
              <a:chOff x="1689463" y="2342606"/>
              <a:chExt cx="540000" cy="540000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96</a:t>
                </a:r>
                <a:endParaRPr lang="zh-CN" altLang="en-US" dirty="0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86206" y="4187332"/>
              <a:ext cx="540000" cy="540000"/>
              <a:chOff x="1689463" y="2342606"/>
              <a:chExt cx="540000" cy="540000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83</a:t>
                </a:r>
                <a:endParaRPr lang="zh-CN" altLang="en-US" dirty="0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099103" y="4187332"/>
              <a:ext cx="540000" cy="540000"/>
              <a:chOff x="1689463" y="2342606"/>
              <a:chExt cx="540000" cy="540000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27</a:t>
                </a:r>
                <a:endParaRPr lang="zh-CN" altLang="en-US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32000" y="4927560"/>
              <a:ext cx="540000" cy="540000"/>
              <a:chOff x="1689463" y="2342606"/>
              <a:chExt cx="540000" cy="540000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38</a:t>
                </a:r>
                <a:endParaRPr lang="zh-CN" altLang="en-US" dirty="0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626206" y="4927560"/>
              <a:ext cx="540000" cy="540000"/>
              <a:chOff x="1689463" y="2342606"/>
              <a:chExt cx="540000" cy="540000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11</a:t>
                </a:r>
                <a:endParaRPr lang="zh-CN" altLang="en-US" dirty="0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2559103" y="4929489"/>
              <a:ext cx="540000" cy="540000"/>
              <a:chOff x="1689463" y="2342606"/>
              <a:chExt cx="540000" cy="540000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09</a:t>
                </a:r>
                <a:endParaRPr lang="zh-CN" altLang="en-US" dirty="0"/>
              </a:p>
            </p:txBody>
          </p:sp>
        </p:grpSp>
        <p:cxnSp>
          <p:nvCxnSpPr>
            <p:cNvPr id="18" name="直接连接符 17"/>
            <p:cNvCxnSpPr>
              <a:stCxn id="48" idx="2"/>
              <a:endCxn id="46" idx="7"/>
            </p:cNvCxnSpPr>
            <p:nvPr/>
          </p:nvCxnSpPr>
          <p:spPr>
            <a:xfrm flipH="1">
              <a:off x="1547125" y="3799835"/>
              <a:ext cx="610952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48" idx="6"/>
              <a:endCxn id="44" idx="1"/>
            </p:cNvCxnSpPr>
            <p:nvPr/>
          </p:nvCxnSpPr>
          <p:spPr>
            <a:xfrm>
              <a:off x="2698077" y="3799835"/>
              <a:ext cx="480107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46" idx="3"/>
              <a:endCxn id="42" idx="7"/>
            </p:cNvCxnSpPr>
            <p:nvPr/>
          </p:nvCxnSpPr>
          <p:spPr>
            <a:xfrm flipH="1">
              <a:off x="892919" y="4648251"/>
              <a:ext cx="272368" cy="35839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46" idx="5"/>
              <a:endCxn id="40" idx="1"/>
            </p:cNvCxnSpPr>
            <p:nvPr/>
          </p:nvCxnSpPr>
          <p:spPr>
            <a:xfrm>
              <a:off x="1547125" y="4648251"/>
              <a:ext cx="158162" cy="35839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44" idx="3"/>
              <a:endCxn id="38" idx="7"/>
            </p:cNvCxnSpPr>
            <p:nvPr/>
          </p:nvCxnSpPr>
          <p:spPr>
            <a:xfrm flipH="1">
              <a:off x="3020022" y="4648251"/>
              <a:ext cx="158162" cy="360319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756090" y="5540297"/>
              <a:ext cx="2803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[96,83,27,38,11,09]</a:t>
              </a:r>
              <a:endParaRPr lang="zh-CN" altLang="en-US" dirty="0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35074" y="3529835"/>
            <a:ext cx="3207103" cy="2379794"/>
            <a:chOff x="432000" y="3529835"/>
            <a:chExt cx="3207103" cy="2379794"/>
          </a:xfrm>
        </p:grpSpPr>
        <p:grpSp>
          <p:nvGrpSpPr>
            <p:cNvPr id="54" name="组合 53"/>
            <p:cNvGrpSpPr/>
            <p:nvPr/>
          </p:nvGrpSpPr>
          <p:grpSpPr>
            <a:xfrm>
              <a:off x="2158077" y="3529835"/>
              <a:ext cx="540000" cy="540000"/>
              <a:chOff x="1689463" y="2342606"/>
              <a:chExt cx="540000" cy="540000"/>
            </a:xfrm>
          </p:grpSpPr>
          <p:sp>
            <p:nvSpPr>
              <p:cNvPr id="76" name="椭圆 75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09</a:t>
                </a:r>
                <a:endParaRPr lang="zh-CN" altLang="en-US" dirty="0"/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1086206" y="4187332"/>
              <a:ext cx="540000" cy="540000"/>
              <a:chOff x="1689463" y="2342606"/>
              <a:chExt cx="540000" cy="540000"/>
            </a:xfrm>
          </p:grpSpPr>
          <p:sp>
            <p:nvSpPr>
              <p:cNvPr id="74" name="椭圆 73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75" name="文本框 74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83</a:t>
                </a:r>
                <a:endParaRPr lang="zh-CN" altLang="en-US" dirty="0"/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3099103" y="4187332"/>
              <a:ext cx="540000" cy="540000"/>
              <a:chOff x="1689463" y="2342606"/>
              <a:chExt cx="540000" cy="540000"/>
            </a:xfrm>
          </p:grpSpPr>
          <p:sp>
            <p:nvSpPr>
              <p:cNvPr id="72" name="椭圆 71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27</a:t>
                </a:r>
                <a:endParaRPr lang="zh-CN" altLang="en-US" dirty="0"/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432000" y="4927560"/>
              <a:ext cx="540000" cy="540000"/>
              <a:chOff x="1689463" y="2342606"/>
              <a:chExt cx="540000" cy="540000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38</a:t>
                </a:r>
                <a:endParaRPr lang="zh-CN" altLang="en-US" dirty="0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1626206" y="4927560"/>
              <a:ext cx="540000" cy="540000"/>
              <a:chOff x="1689463" y="2342606"/>
              <a:chExt cx="540000" cy="540000"/>
            </a:xfrm>
          </p:grpSpPr>
          <p:sp>
            <p:nvSpPr>
              <p:cNvPr id="68" name="椭圆 67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11</a:t>
                </a:r>
                <a:endParaRPr lang="zh-CN" altLang="en-US" dirty="0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2559103" y="4929489"/>
              <a:ext cx="540000" cy="540000"/>
              <a:chOff x="1689463" y="2342606"/>
              <a:chExt cx="540000" cy="540000"/>
            </a:xfrm>
          </p:grpSpPr>
          <p:sp>
            <p:nvSpPr>
              <p:cNvPr id="66" name="椭圆 65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96</a:t>
                </a:r>
                <a:endParaRPr lang="zh-CN" altLang="en-US" dirty="0"/>
              </a:p>
            </p:txBody>
          </p:sp>
        </p:grpSp>
        <p:cxnSp>
          <p:nvCxnSpPr>
            <p:cNvPr id="60" name="直接连接符 59"/>
            <p:cNvCxnSpPr>
              <a:stCxn id="76" idx="2"/>
              <a:endCxn id="74" idx="7"/>
            </p:cNvCxnSpPr>
            <p:nvPr/>
          </p:nvCxnSpPr>
          <p:spPr>
            <a:xfrm flipH="1">
              <a:off x="1547125" y="3799835"/>
              <a:ext cx="610952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>
              <a:stCxn id="76" idx="6"/>
              <a:endCxn id="72" idx="1"/>
            </p:cNvCxnSpPr>
            <p:nvPr/>
          </p:nvCxnSpPr>
          <p:spPr>
            <a:xfrm>
              <a:off x="2698077" y="3799835"/>
              <a:ext cx="480107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>
              <a:stCxn id="74" idx="3"/>
              <a:endCxn id="70" idx="7"/>
            </p:cNvCxnSpPr>
            <p:nvPr/>
          </p:nvCxnSpPr>
          <p:spPr>
            <a:xfrm flipH="1">
              <a:off x="892919" y="4648251"/>
              <a:ext cx="272368" cy="35839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>
              <a:stCxn id="74" idx="5"/>
              <a:endCxn id="68" idx="1"/>
            </p:cNvCxnSpPr>
            <p:nvPr/>
          </p:nvCxnSpPr>
          <p:spPr>
            <a:xfrm>
              <a:off x="1547125" y="4648251"/>
              <a:ext cx="158162" cy="35839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65" name="文本框 64"/>
            <p:cNvSpPr txBox="1"/>
            <p:nvPr/>
          </p:nvSpPr>
          <p:spPr>
            <a:xfrm>
              <a:off x="756090" y="5540297"/>
              <a:ext cx="2803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</a:t>
              </a:r>
              <a:r>
                <a:rPr lang="en-US" altLang="zh-CN" dirty="0">
                  <a:solidFill>
                    <a:srgbClr val="FF0000"/>
                  </a:solidFill>
                </a:rPr>
                <a:t>09</a:t>
              </a:r>
              <a:r>
                <a:rPr lang="en-US" altLang="zh-CN" dirty="0"/>
                <a:t>,83,27,38,11,</a:t>
              </a:r>
              <a:r>
                <a:rPr lang="en-US" altLang="zh-CN" dirty="0">
                  <a:solidFill>
                    <a:schemeClr val="accent5"/>
                  </a:solidFill>
                </a:rPr>
                <a:t>96</a:t>
              </a:r>
              <a:r>
                <a:rPr lang="en-US" altLang="zh-CN" dirty="0"/>
                <a:t>]</a:t>
              </a:r>
              <a:endParaRPr lang="zh-CN" altLang="en-US" dirty="0"/>
            </a:p>
          </p:txBody>
        </p:sp>
      </p:grp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  <a:r>
              <a:rPr lang="en-US" altLang="zh-CN" dirty="0"/>
              <a:t>(Heap Sort)</a:t>
            </a:r>
            <a:r>
              <a:rPr lang="zh-CN" altLang="en-US" dirty="0"/>
              <a:t>：假设</a:t>
            </a:r>
            <a:r>
              <a:rPr lang="en-US" altLang="zh-CN" dirty="0" err="1"/>
              <a:t>L.r</a:t>
            </a:r>
            <a:r>
              <a:rPr lang="en-US" altLang="zh-CN" dirty="0"/>
              <a:t>[1..i]</a:t>
            </a:r>
            <a:r>
              <a:rPr lang="zh-CN" altLang="en-US" dirty="0"/>
              <a:t>是一个大顶堆，</a:t>
            </a:r>
            <a:r>
              <a:rPr lang="en-US" altLang="zh-CN" dirty="0" err="1"/>
              <a:t>L.r</a:t>
            </a:r>
            <a:r>
              <a:rPr lang="en-US" altLang="zh-CN" dirty="0"/>
              <a:t>[1]</a:t>
            </a:r>
            <a:r>
              <a:rPr lang="zh-CN" altLang="en-US" dirty="0"/>
              <a:t>是其中最大的关键字，将其与</a:t>
            </a:r>
            <a:r>
              <a:rPr lang="en-US" altLang="zh-CN" dirty="0" err="1"/>
              <a:t>L.r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互换；把</a:t>
            </a:r>
            <a:r>
              <a:rPr lang="en-US" altLang="zh-CN" dirty="0" err="1"/>
              <a:t>L.r</a:t>
            </a:r>
            <a:r>
              <a:rPr lang="en-US" altLang="zh-CN" dirty="0"/>
              <a:t>[1..i-1]</a:t>
            </a:r>
            <a:r>
              <a:rPr lang="zh-CN" altLang="en-US" dirty="0"/>
              <a:t>重构造成一个大顶堆；如此进行从</a:t>
            </a:r>
            <a:r>
              <a:rPr lang="en-US" altLang="zh-CN" dirty="0" err="1"/>
              <a:t>i</a:t>
            </a:r>
            <a:r>
              <a:rPr lang="en-US" altLang="zh-CN" dirty="0"/>
              <a:t>=n</a:t>
            </a:r>
            <a:r>
              <a:rPr lang="zh-CN" altLang="en-US" dirty="0"/>
              <a:t>到</a:t>
            </a:r>
            <a:r>
              <a:rPr lang="en-US" altLang="zh-CN" dirty="0" err="1"/>
              <a:t>i</a:t>
            </a:r>
            <a:r>
              <a:rPr lang="en-US" altLang="zh-CN" dirty="0"/>
              <a:t>=2</a:t>
            </a:r>
          </a:p>
          <a:p>
            <a:r>
              <a:rPr lang="zh-CN" altLang="en-US" dirty="0"/>
              <a:t>堆的重构造：筛选法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C765F-20DC-4407-84E0-726CCDC0C1DA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>
            <a:off x="1385687" y="3532654"/>
            <a:ext cx="836023" cy="618309"/>
          </a:xfrm>
          <a:custGeom>
            <a:avLst/>
            <a:gdLst>
              <a:gd name="connsiteX0" fmla="*/ 0 w 836023"/>
              <a:gd name="connsiteY0" fmla="*/ 618309 h 618309"/>
              <a:gd name="connsiteX1" fmla="*/ 209006 w 836023"/>
              <a:gd name="connsiteY1" fmla="*/ 148046 h 618309"/>
              <a:gd name="connsiteX2" fmla="*/ 836023 w 836023"/>
              <a:gd name="connsiteY2" fmla="*/ 0 h 61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6023" h="618309">
                <a:moveTo>
                  <a:pt x="0" y="618309"/>
                </a:moveTo>
                <a:cubicBezTo>
                  <a:pt x="34834" y="434703"/>
                  <a:pt x="69669" y="251097"/>
                  <a:pt x="209006" y="148046"/>
                </a:cubicBezTo>
                <a:cubicBezTo>
                  <a:pt x="348343" y="44995"/>
                  <a:pt x="592183" y="22497"/>
                  <a:pt x="836023" y="0"/>
                </a:cubicBez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/>
          <p:cNvGrpSpPr/>
          <p:nvPr/>
        </p:nvGrpSpPr>
        <p:grpSpPr>
          <a:xfrm>
            <a:off x="3752065" y="2303528"/>
            <a:ext cx="3207103" cy="2379794"/>
            <a:chOff x="432000" y="3529835"/>
            <a:chExt cx="3207103" cy="2379794"/>
          </a:xfrm>
        </p:grpSpPr>
        <p:grpSp>
          <p:nvGrpSpPr>
            <p:cNvPr id="80" name="组合 79"/>
            <p:cNvGrpSpPr/>
            <p:nvPr/>
          </p:nvGrpSpPr>
          <p:grpSpPr>
            <a:xfrm>
              <a:off x="2158077" y="3529835"/>
              <a:ext cx="540000" cy="540000"/>
              <a:chOff x="1689463" y="2342606"/>
              <a:chExt cx="540000" cy="540000"/>
            </a:xfrm>
          </p:grpSpPr>
          <p:sp>
            <p:nvSpPr>
              <p:cNvPr id="101" name="椭圆 100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83</a:t>
                </a:r>
                <a:endParaRPr lang="zh-CN" altLang="en-US" dirty="0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1086206" y="4187332"/>
              <a:ext cx="540000" cy="540000"/>
              <a:chOff x="1689463" y="2342606"/>
              <a:chExt cx="540000" cy="540000"/>
            </a:xfrm>
          </p:grpSpPr>
          <p:sp>
            <p:nvSpPr>
              <p:cNvPr id="99" name="椭圆 98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09</a:t>
                </a:r>
                <a:endParaRPr lang="zh-CN" altLang="en-US" dirty="0"/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3099103" y="4187332"/>
              <a:ext cx="540000" cy="540000"/>
              <a:chOff x="1689463" y="2342606"/>
              <a:chExt cx="540000" cy="540000"/>
            </a:xfrm>
          </p:grpSpPr>
          <p:sp>
            <p:nvSpPr>
              <p:cNvPr id="97" name="椭圆 96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27</a:t>
                </a:r>
                <a:endParaRPr lang="zh-CN" altLang="en-US" dirty="0"/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432000" y="4927560"/>
              <a:ext cx="540000" cy="540000"/>
              <a:chOff x="1689463" y="2342606"/>
              <a:chExt cx="540000" cy="540000"/>
            </a:xfrm>
          </p:grpSpPr>
          <p:sp>
            <p:nvSpPr>
              <p:cNvPr id="95" name="椭圆 94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38</a:t>
                </a:r>
                <a:endParaRPr lang="zh-CN" altLang="en-US" dirty="0"/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1626206" y="4927560"/>
              <a:ext cx="540000" cy="540000"/>
              <a:chOff x="1689463" y="2342606"/>
              <a:chExt cx="540000" cy="540000"/>
            </a:xfrm>
          </p:grpSpPr>
          <p:sp>
            <p:nvSpPr>
              <p:cNvPr id="93" name="椭圆 92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11</a:t>
                </a:r>
                <a:endParaRPr lang="zh-CN" altLang="en-US" dirty="0"/>
              </a:p>
            </p:txBody>
          </p:sp>
        </p:grpSp>
        <p:grpSp>
          <p:nvGrpSpPr>
            <p:cNvPr id="85" name="组合 84"/>
            <p:cNvGrpSpPr/>
            <p:nvPr/>
          </p:nvGrpSpPr>
          <p:grpSpPr>
            <a:xfrm>
              <a:off x="2559103" y="4929489"/>
              <a:ext cx="540000" cy="540000"/>
              <a:chOff x="1689463" y="2342606"/>
              <a:chExt cx="540000" cy="540000"/>
            </a:xfrm>
          </p:grpSpPr>
          <p:sp>
            <p:nvSpPr>
              <p:cNvPr id="91" name="椭圆 90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96</a:t>
                </a:r>
                <a:endParaRPr lang="zh-CN" altLang="en-US" dirty="0"/>
              </a:p>
            </p:txBody>
          </p:sp>
        </p:grpSp>
        <p:cxnSp>
          <p:nvCxnSpPr>
            <p:cNvPr id="86" name="直接连接符 85"/>
            <p:cNvCxnSpPr>
              <a:stCxn id="101" idx="2"/>
              <a:endCxn id="99" idx="7"/>
            </p:cNvCxnSpPr>
            <p:nvPr/>
          </p:nvCxnSpPr>
          <p:spPr>
            <a:xfrm flipH="1">
              <a:off x="1547125" y="3799835"/>
              <a:ext cx="610952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>
              <a:stCxn id="101" idx="6"/>
              <a:endCxn id="97" idx="1"/>
            </p:cNvCxnSpPr>
            <p:nvPr/>
          </p:nvCxnSpPr>
          <p:spPr>
            <a:xfrm>
              <a:off x="2698077" y="3799835"/>
              <a:ext cx="480107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>
              <a:stCxn id="99" idx="3"/>
              <a:endCxn id="95" idx="7"/>
            </p:cNvCxnSpPr>
            <p:nvPr/>
          </p:nvCxnSpPr>
          <p:spPr>
            <a:xfrm flipH="1">
              <a:off x="892919" y="4648251"/>
              <a:ext cx="272368" cy="35839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>
              <a:stCxn id="99" idx="5"/>
              <a:endCxn id="93" idx="1"/>
            </p:cNvCxnSpPr>
            <p:nvPr/>
          </p:nvCxnSpPr>
          <p:spPr>
            <a:xfrm>
              <a:off x="1547125" y="4648251"/>
              <a:ext cx="158162" cy="35839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0" name="文本框 89"/>
            <p:cNvSpPr txBox="1"/>
            <p:nvPr/>
          </p:nvSpPr>
          <p:spPr>
            <a:xfrm>
              <a:off x="756090" y="5540297"/>
              <a:ext cx="2803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[83,</a:t>
              </a:r>
              <a:r>
                <a:rPr lang="en-US" altLang="zh-CN" dirty="0">
                  <a:solidFill>
                    <a:srgbClr val="FF0000"/>
                  </a:solidFill>
                </a:rPr>
                <a:t>09</a:t>
              </a:r>
              <a:r>
                <a:rPr lang="en-US" altLang="zh-CN" dirty="0"/>
                <a:t>,27,38,11,</a:t>
              </a:r>
              <a:r>
                <a:rPr lang="en-US" altLang="zh-CN" dirty="0">
                  <a:solidFill>
                    <a:schemeClr val="accent5"/>
                  </a:solidFill>
                </a:rPr>
                <a:t>96</a:t>
              </a:r>
              <a:r>
                <a:rPr lang="en-US" altLang="zh-CN" dirty="0"/>
                <a:t>]</a:t>
              </a:r>
              <a:endParaRPr lang="zh-CN" altLang="en-US" dirty="0"/>
            </a:p>
          </p:txBody>
        </p:sp>
      </p:grpSp>
      <p:sp>
        <p:nvSpPr>
          <p:cNvPr id="103" name="任意多边形 102"/>
          <p:cNvSpPr/>
          <p:nvPr/>
        </p:nvSpPr>
        <p:spPr>
          <a:xfrm rot="20816563">
            <a:off x="3633121" y="3120802"/>
            <a:ext cx="836023" cy="618309"/>
          </a:xfrm>
          <a:custGeom>
            <a:avLst/>
            <a:gdLst>
              <a:gd name="connsiteX0" fmla="*/ 0 w 836023"/>
              <a:gd name="connsiteY0" fmla="*/ 618309 h 618309"/>
              <a:gd name="connsiteX1" fmla="*/ 209006 w 836023"/>
              <a:gd name="connsiteY1" fmla="*/ 148046 h 618309"/>
              <a:gd name="connsiteX2" fmla="*/ 836023 w 836023"/>
              <a:gd name="connsiteY2" fmla="*/ 0 h 61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6023" h="618309">
                <a:moveTo>
                  <a:pt x="0" y="618309"/>
                </a:moveTo>
                <a:cubicBezTo>
                  <a:pt x="34834" y="434703"/>
                  <a:pt x="69669" y="251097"/>
                  <a:pt x="209006" y="148046"/>
                </a:cubicBezTo>
                <a:cubicBezTo>
                  <a:pt x="348343" y="44995"/>
                  <a:pt x="592183" y="22497"/>
                  <a:pt x="836023" y="0"/>
                </a:cubicBez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4" name="组合 103"/>
          <p:cNvGrpSpPr/>
          <p:nvPr/>
        </p:nvGrpSpPr>
        <p:grpSpPr>
          <a:xfrm>
            <a:off x="5716272" y="4098562"/>
            <a:ext cx="3207103" cy="2379794"/>
            <a:chOff x="432000" y="3529835"/>
            <a:chExt cx="3207103" cy="2379794"/>
          </a:xfrm>
        </p:grpSpPr>
        <p:grpSp>
          <p:nvGrpSpPr>
            <p:cNvPr id="105" name="组合 104"/>
            <p:cNvGrpSpPr/>
            <p:nvPr/>
          </p:nvGrpSpPr>
          <p:grpSpPr>
            <a:xfrm>
              <a:off x="2158077" y="3529835"/>
              <a:ext cx="540000" cy="540000"/>
              <a:chOff x="1689463" y="2342606"/>
              <a:chExt cx="540000" cy="540000"/>
            </a:xfrm>
          </p:grpSpPr>
          <p:sp>
            <p:nvSpPr>
              <p:cNvPr id="126" name="椭圆 125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83</a:t>
                </a:r>
                <a:endParaRPr lang="zh-CN" altLang="en-US" dirty="0"/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1086206" y="4187332"/>
              <a:ext cx="540000" cy="540000"/>
              <a:chOff x="1689463" y="2342606"/>
              <a:chExt cx="540000" cy="540000"/>
            </a:xfrm>
          </p:grpSpPr>
          <p:sp>
            <p:nvSpPr>
              <p:cNvPr id="124" name="椭圆 123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25" name="文本框 124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38</a:t>
                </a:r>
                <a:endParaRPr lang="zh-CN" altLang="en-US" dirty="0"/>
              </a:p>
            </p:txBody>
          </p:sp>
        </p:grpSp>
        <p:grpSp>
          <p:nvGrpSpPr>
            <p:cNvPr id="107" name="组合 106"/>
            <p:cNvGrpSpPr/>
            <p:nvPr/>
          </p:nvGrpSpPr>
          <p:grpSpPr>
            <a:xfrm>
              <a:off x="3099103" y="4187332"/>
              <a:ext cx="540000" cy="540000"/>
              <a:chOff x="1689463" y="2342606"/>
              <a:chExt cx="540000" cy="540000"/>
            </a:xfrm>
          </p:grpSpPr>
          <p:sp>
            <p:nvSpPr>
              <p:cNvPr id="122" name="椭圆 121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27</a:t>
                </a:r>
                <a:endParaRPr lang="zh-CN" altLang="en-US" dirty="0"/>
              </a:p>
            </p:txBody>
          </p:sp>
        </p:grpSp>
        <p:grpSp>
          <p:nvGrpSpPr>
            <p:cNvPr id="108" name="组合 107"/>
            <p:cNvGrpSpPr/>
            <p:nvPr/>
          </p:nvGrpSpPr>
          <p:grpSpPr>
            <a:xfrm>
              <a:off x="432000" y="4927560"/>
              <a:ext cx="540000" cy="540000"/>
              <a:chOff x="1689463" y="2342606"/>
              <a:chExt cx="540000" cy="540000"/>
            </a:xfrm>
          </p:grpSpPr>
          <p:sp>
            <p:nvSpPr>
              <p:cNvPr id="120" name="椭圆 119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09</a:t>
                </a:r>
                <a:endParaRPr lang="zh-CN" altLang="en-US" dirty="0"/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>
              <a:off x="1626206" y="4927560"/>
              <a:ext cx="540000" cy="540000"/>
              <a:chOff x="1689463" y="2342606"/>
              <a:chExt cx="540000" cy="540000"/>
            </a:xfrm>
          </p:grpSpPr>
          <p:sp>
            <p:nvSpPr>
              <p:cNvPr id="118" name="椭圆 117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11</a:t>
                </a:r>
                <a:endParaRPr lang="zh-CN" altLang="en-US" dirty="0"/>
              </a:p>
            </p:txBody>
          </p:sp>
        </p:grpSp>
        <p:grpSp>
          <p:nvGrpSpPr>
            <p:cNvPr id="110" name="组合 109"/>
            <p:cNvGrpSpPr/>
            <p:nvPr/>
          </p:nvGrpSpPr>
          <p:grpSpPr>
            <a:xfrm>
              <a:off x="2559103" y="4929489"/>
              <a:ext cx="540000" cy="540000"/>
              <a:chOff x="1689463" y="2342606"/>
              <a:chExt cx="540000" cy="540000"/>
            </a:xfrm>
          </p:grpSpPr>
          <p:sp>
            <p:nvSpPr>
              <p:cNvPr id="116" name="椭圆 115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96</a:t>
                </a:r>
                <a:endParaRPr lang="zh-CN" altLang="en-US" dirty="0"/>
              </a:p>
            </p:txBody>
          </p:sp>
        </p:grpSp>
        <p:cxnSp>
          <p:nvCxnSpPr>
            <p:cNvPr id="111" name="直接连接符 110"/>
            <p:cNvCxnSpPr>
              <a:stCxn id="126" idx="2"/>
              <a:endCxn id="124" idx="7"/>
            </p:cNvCxnSpPr>
            <p:nvPr/>
          </p:nvCxnSpPr>
          <p:spPr>
            <a:xfrm flipH="1">
              <a:off x="1547125" y="3799835"/>
              <a:ext cx="610952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>
              <a:stCxn id="126" idx="6"/>
              <a:endCxn id="122" idx="1"/>
            </p:cNvCxnSpPr>
            <p:nvPr/>
          </p:nvCxnSpPr>
          <p:spPr>
            <a:xfrm>
              <a:off x="2698077" y="3799835"/>
              <a:ext cx="480107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>
              <a:stCxn id="124" idx="3"/>
              <a:endCxn id="120" idx="7"/>
            </p:cNvCxnSpPr>
            <p:nvPr/>
          </p:nvCxnSpPr>
          <p:spPr>
            <a:xfrm flipH="1">
              <a:off x="892919" y="4648251"/>
              <a:ext cx="272368" cy="35839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>
              <a:stCxn id="124" idx="5"/>
              <a:endCxn id="118" idx="1"/>
            </p:cNvCxnSpPr>
            <p:nvPr/>
          </p:nvCxnSpPr>
          <p:spPr>
            <a:xfrm>
              <a:off x="1547125" y="4648251"/>
              <a:ext cx="158162" cy="35839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15" name="文本框 114"/>
            <p:cNvSpPr txBox="1"/>
            <p:nvPr/>
          </p:nvSpPr>
          <p:spPr>
            <a:xfrm>
              <a:off x="756090" y="5540297"/>
              <a:ext cx="2803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[83,38,27,</a:t>
              </a:r>
              <a:r>
                <a:rPr lang="en-US" altLang="zh-CN" dirty="0">
                  <a:solidFill>
                    <a:srgbClr val="FF0000"/>
                  </a:solidFill>
                </a:rPr>
                <a:t>09</a:t>
              </a:r>
              <a:r>
                <a:rPr lang="en-US" altLang="zh-CN" dirty="0"/>
                <a:t>,11,</a:t>
              </a:r>
              <a:r>
                <a:rPr lang="en-US" altLang="zh-CN" dirty="0">
                  <a:solidFill>
                    <a:schemeClr val="accent5"/>
                  </a:solidFill>
                </a:rPr>
                <a:t>96</a:t>
              </a:r>
              <a:r>
                <a:rPr lang="en-US" altLang="zh-CN" dirty="0"/>
                <a:t>]</a:t>
              </a:r>
              <a:endParaRPr lang="zh-CN" altLang="en-US" dirty="0"/>
            </a:p>
          </p:txBody>
        </p:sp>
      </p:grpSp>
      <p:sp>
        <p:nvSpPr>
          <p:cNvPr id="129" name="右箭头 128"/>
          <p:cNvSpPr/>
          <p:nvPr/>
        </p:nvSpPr>
        <p:spPr>
          <a:xfrm rot="19711866">
            <a:off x="3065396" y="3396578"/>
            <a:ext cx="524377" cy="36214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右箭头 129"/>
          <p:cNvSpPr/>
          <p:nvPr/>
        </p:nvSpPr>
        <p:spPr>
          <a:xfrm rot="3153732">
            <a:off x="7118107" y="3515580"/>
            <a:ext cx="524377" cy="36214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23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103" grpId="0" animBg="1"/>
      <p:bldP spid="129" grpId="0" animBg="1"/>
      <p:bldP spid="1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  <a:r>
              <a:rPr lang="en-US" altLang="zh-CN" dirty="0"/>
              <a:t>(Heap Sort)</a:t>
            </a:r>
            <a:r>
              <a:rPr lang="zh-CN" altLang="en-US" dirty="0"/>
              <a:t>：假设</a:t>
            </a:r>
            <a:r>
              <a:rPr lang="en-US" altLang="zh-CN" dirty="0" err="1"/>
              <a:t>L.r</a:t>
            </a:r>
            <a:r>
              <a:rPr lang="en-US" altLang="zh-CN" dirty="0"/>
              <a:t>[1..i]</a:t>
            </a:r>
            <a:r>
              <a:rPr lang="zh-CN" altLang="en-US" dirty="0"/>
              <a:t>是一个大顶堆，</a:t>
            </a:r>
            <a:r>
              <a:rPr lang="en-US" altLang="zh-CN" dirty="0" err="1"/>
              <a:t>L.r</a:t>
            </a:r>
            <a:r>
              <a:rPr lang="en-US" altLang="zh-CN" dirty="0"/>
              <a:t>[1]</a:t>
            </a:r>
            <a:r>
              <a:rPr lang="zh-CN" altLang="en-US" dirty="0"/>
              <a:t>是其中最大的关键字，将其与</a:t>
            </a:r>
            <a:r>
              <a:rPr lang="en-US" altLang="zh-CN" dirty="0" err="1"/>
              <a:t>L.r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互换；把</a:t>
            </a:r>
            <a:r>
              <a:rPr lang="en-US" altLang="zh-CN" dirty="0" err="1"/>
              <a:t>L.r</a:t>
            </a:r>
            <a:r>
              <a:rPr lang="en-US" altLang="zh-CN" dirty="0"/>
              <a:t>[1..i-1]</a:t>
            </a:r>
            <a:r>
              <a:rPr lang="zh-CN" altLang="en-US" dirty="0"/>
              <a:t>重构造成一个大顶堆；如此进行从</a:t>
            </a:r>
            <a:r>
              <a:rPr lang="en-US" altLang="zh-CN" dirty="0" err="1"/>
              <a:t>i</a:t>
            </a:r>
            <a:r>
              <a:rPr lang="en-US" altLang="zh-CN" dirty="0"/>
              <a:t>=n</a:t>
            </a:r>
            <a:r>
              <a:rPr lang="zh-CN" altLang="en-US" dirty="0"/>
              <a:t>到</a:t>
            </a:r>
            <a:r>
              <a:rPr lang="en-US" altLang="zh-CN" dirty="0" err="1"/>
              <a:t>i</a:t>
            </a:r>
            <a:r>
              <a:rPr lang="en-US" altLang="zh-CN" dirty="0"/>
              <a:t>=2</a:t>
            </a:r>
          </a:p>
          <a:p>
            <a:r>
              <a:rPr lang="zh-CN" altLang="en-US" dirty="0"/>
              <a:t>堆的重构造：筛选法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4570-D1B0-4087-9505-5089ADC373F3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27</a:t>
            </a:fld>
            <a:endParaRPr lang="zh-CN" altLang="en-US"/>
          </a:p>
        </p:txBody>
      </p:sp>
      <p:grpSp>
        <p:nvGrpSpPr>
          <p:cNvPr id="79" name="组合 78"/>
          <p:cNvGrpSpPr/>
          <p:nvPr/>
        </p:nvGrpSpPr>
        <p:grpSpPr>
          <a:xfrm>
            <a:off x="4340410" y="3175703"/>
            <a:ext cx="3207103" cy="2379794"/>
            <a:chOff x="432000" y="3529835"/>
            <a:chExt cx="3207103" cy="2379794"/>
          </a:xfrm>
        </p:grpSpPr>
        <p:grpSp>
          <p:nvGrpSpPr>
            <p:cNvPr id="80" name="组合 79"/>
            <p:cNvGrpSpPr/>
            <p:nvPr/>
          </p:nvGrpSpPr>
          <p:grpSpPr>
            <a:xfrm>
              <a:off x="2158077" y="3529835"/>
              <a:ext cx="540000" cy="540000"/>
              <a:chOff x="1689463" y="2342606"/>
              <a:chExt cx="540000" cy="540000"/>
            </a:xfrm>
          </p:grpSpPr>
          <p:sp>
            <p:nvSpPr>
              <p:cNvPr id="101" name="椭圆 100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38</a:t>
                </a:r>
                <a:endParaRPr lang="zh-CN" altLang="en-US" dirty="0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1086206" y="4187332"/>
              <a:ext cx="540000" cy="540000"/>
              <a:chOff x="1689463" y="2342606"/>
              <a:chExt cx="540000" cy="540000"/>
            </a:xfrm>
          </p:grpSpPr>
          <p:sp>
            <p:nvSpPr>
              <p:cNvPr id="99" name="椭圆 98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11</a:t>
                </a:r>
                <a:endParaRPr lang="zh-CN" altLang="en-US" dirty="0"/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3099103" y="4187332"/>
              <a:ext cx="540000" cy="540000"/>
              <a:chOff x="1689463" y="2342606"/>
              <a:chExt cx="540000" cy="540000"/>
            </a:xfrm>
          </p:grpSpPr>
          <p:sp>
            <p:nvSpPr>
              <p:cNvPr id="97" name="椭圆 96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27</a:t>
                </a:r>
                <a:endParaRPr lang="zh-CN" altLang="en-US" dirty="0"/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432000" y="4927560"/>
              <a:ext cx="540000" cy="540000"/>
              <a:chOff x="1689463" y="2342606"/>
              <a:chExt cx="540000" cy="540000"/>
            </a:xfrm>
          </p:grpSpPr>
          <p:sp>
            <p:nvSpPr>
              <p:cNvPr id="95" name="椭圆 94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09</a:t>
                </a:r>
                <a:endParaRPr lang="zh-CN" altLang="en-US" dirty="0"/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1626206" y="4927560"/>
              <a:ext cx="540000" cy="540000"/>
              <a:chOff x="1689463" y="2342606"/>
              <a:chExt cx="540000" cy="540000"/>
            </a:xfrm>
          </p:grpSpPr>
          <p:sp>
            <p:nvSpPr>
              <p:cNvPr id="93" name="椭圆 92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83</a:t>
                </a:r>
                <a:endParaRPr lang="zh-CN" altLang="en-US" dirty="0"/>
              </a:p>
            </p:txBody>
          </p:sp>
        </p:grpSp>
        <p:cxnSp>
          <p:nvCxnSpPr>
            <p:cNvPr id="86" name="直接连接符 85"/>
            <p:cNvCxnSpPr>
              <a:stCxn id="101" idx="2"/>
              <a:endCxn id="99" idx="7"/>
            </p:cNvCxnSpPr>
            <p:nvPr/>
          </p:nvCxnSpPr>
          <p:spPr>
            <a:xfrm flipH="1">
              <a:off x="1547125" y="3799835"/>
              <a:ext cx="610952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>
              <a:stCxn id="101" idx="6"/>
              <a:endCxn id="97" idx="1"/>
            </p:cNvCxnSpPr>
            <p:nvPr/>
          </p:nvCxnSpPr>
          <p:spPr>
            <a:xfrm>
              <a:off x="2698077" y="3799835"/>
              <a:ext cx="480107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>
              <a:stCxn id="99" idx="3"/>
              <a:endCxn id="95" idx="7"/>
            </p:cNvCxnSpPr>
            <p:nvPr/>
          </p:nvCxnSpPr>
          <p:spPr>
            <a:xfrm flipH="1">
              <a:off x="892919" y="4648251"/>
              <a:ext cx="272368" cy="35839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0" name="文本框 89"/>
            <p:cNvSpPr txBox="1"/>
            <p:nvPr/>
          </p:nvSpPr>
          <p:spPr>
            <a:xfrm>
              <a:off x="756090" y="5540297"/>
              <a:ext cx="2803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[38,</a:t>
              </a:r>
              <a:r>
                <a:rPr lang="en-US" altLang="zh-CN" dirty="0">
                  <a:solidFill>
                    <a:srgbClr val="FF0000"/>
                  </a:solidFill>
                </a:rPr>
                <a:t>11</a:t>
              </a:r>
              <a:r>
                <a:rPr lang="en-US" altLang="zh-CN" dirty="0"/>
                <a:t>,27,09,</a:t>
              </a:r>
              <a:r>
                <a:rPr lang="en-US" altLang="zh-CN" dirty="0">
                  <a:solidFill>
                    <a:schemeClr val="accent5"/>
                  </a:solidFill>
                </a:rPr>
                <a:t>83</a:t>
              </a:r>
              <a:r>
                <a:rPr lang="en-US" altLang="zh-CN" dirty="0"/>
                <a:t>]</a:t>
              </a:r>
              <a:endParaRPr lang="zh-CN" altLang="en-US" dirty="0"/>
            </a:p>
          </p:txBody>
        </p:sp>
      </p:grpSp>
      <p:sp>
        <p:nvSpPr>
          <p:cNvPr id="130" name="右箭头 129"/>
          <p:cNvSpPr/>
          <p:nvPr/>
        </p:nvSpPr>
        <p:spPr>
          <a:xfrm>
            <a:off x="3785897" y="4103448"/>
            <a:ext cx="524377" cy="36214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439957" y="3168103"/>
            <a:ext cx="3207103" cy="2379794"/>
            <a:chOff x="432000" y="3529835"/>
            <a:chExt cx="3207103" cy="2379794"/>
          </a:xfrm>
        </p:grpSpPr>
        <p:grpSp>
          <p:nvGrpSpPr>
            <p:cNvPr id="7" name="组合 6"/>
            <p:cNvGrpSpPr/>
            <p:nvPr/>
          </p:nvGrpSpPr>
          <p:grpSpPr>
            <a:xfrm>
              <a:off x="2158077" y="3529835"/>
              <a:ext cx="540000" cy="540000"/>
              <a:chOff x="1689463" y="2342606"/>
              <a:chExt cx="540000" cy="540000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11</a:t>
                </a:r>
                <a:endParaRPr lang="zh-CN" altLang="en-US" dirty="0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86206" y="4187332"/>
              <a:ext cx="540000" cy="540000"/>
              <a:chOff x="1689463" y="2342606"/>
              <a:chExt cx="540000" cy="540000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38</a:t>
                </a:r>
                <a:endParaRPr lang="zh-CN" altLang="en-US" dirty="0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099103" y="4187332"/>
              <a:ext cx="540000" cy="540000"/>
              <a:chOff x="1689463" y="2342606"/>
              <a:chExt cx="540000" cy="540000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27</a:t>
                </a:r>
                <a:endParaRPr lang="zh-CN" altLang="en-US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32000" y="4927560"/>
              <a:ext cx="540000" cy="540000"/>
              <a:chOff x="1689463" y="2342606"/>
              <a:chExt cx="540000" cy="540000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09</a:t>
                </a:r>
                <a:endParaRPr lang="zh-CN" altLang="en-US" dirty="0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626206" y="4927560"/>
              <a:ext cx="540000" cy="540000"/>
              <a:chOff x="1689463" y="2342606"/>
              <a:chExt cx="540000" cy="540000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1689463" y="234260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1729272" y="24279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83</a:t>
                </a:r>
                <a:endParaRPr lang="zh-CN" altLang="en-US" dirty="0"/>
              </a:p>
            </p:txBody>
          </p:sp>
        </p:grpSp>
        <p:cxnSp>
          <p:nvCxnSpPr>
            <p:cNvPr id="18" name="直接连接符 17"/>
            <p:cNvCxnSpPr>
              <a:stCxn id="48" idx="2"/>
              <a:endCxn id="46" idx="7"/>
            </p:cNvCxnSpPr>
            <p:nvPr/>
          </p:nvCxnSpPr>
          <p:spPr>
            <a:xfrm flipH="1">
              <a:off x="1547125" y="3799835"/>
              <a:ext cx="610952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48" idx="6"/>
              <a:endCxn id="44" idx="1"/>
            </p:cNvCxnSpPr>
            <p:nvPr/>
          </p:nvCxnSpPr>
          <p:spPr>
            <a:xfrm>
              <a:off x="2698077" y="3799835"/>
              <a:ext cx="480107" cy="466578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46" idx="3"/>
              <a:endCxn id="42" idx="7"/>
            </p:cNvCxnSpPr>
            <p:nvPr/>
          </p:nvCxnSpPr>
          <p:spPr>
            <a:xfrm flipH="1">
              <a:off x="892919" y="4648251"/>
              <a:ext cx="272368" cy="35839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756090" y="5540297"/>
              <a:ext cx="2803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</a:t>
              </a:r>
              <a:r>
                <a:rPr lang="en-US" altLang="zh-CN" dirty="0">
                  <a:solidFill>
                    <a:srgbClr val="FF0000"/>
                  </a:solidFill>
                </a:rPr>
                <a:t>11</a:t>
              </a:r>
              <a:r>
                <a:rPr lang="en-US" altLang="zh-CN" dirty="0"/>
                <a:t>,38,27,09,</a:t>
              </a:r>
              <a:r>
                <a:rPr lang="en-US" altLang="zh-CN" dirty="0">
                  <a:solidFill>
                    <a:schemeClr val="accent5"/>
                  </a:solidFill>
                </a:rPr>
                <a:t>83</a:t>
              </a:r>
              <a:r>
                <a:rPr lang="en-US" altLang="zh-CN" dirty="0"/>
                <a:t>]</a:t>
              </a:r>
              <a:endParaRPr lang="zh-CN" altLang="en-US" dirty="0"/>
            </a:p>
          </p:txBody>
        </p:sp>
      </p:grpSp>
      <p:sp>
        <p:nvSpPr>
          <p:cNvPr id="128" name="任意多边形 127"/>
          <p:cNvSpPr/>
          <p:nvPr/>
        </p:nvSpPr>
        <p:spPr>
          <a:xfrm>
            <a:off x="1393644" y="3170922"/>
            <a:ext cx="836023" cy="618309"/>
          </a:xfrm>
          <a:custGeom>
            <a:avLst/>
            <a:gdLst>
              <a:gd name="connsiteX0" fmla="*/ 0 w 836023"/>
              <a:gd name="connsiteY0" fmla="*/ 618309 h 618309"/>
              <a:gd name="connsiteX1" fmla="*/ 209006 w 836023"/>
              <a:gd name="connsiteY1" fmla="*/ 148046 h 618309"/>
              <a:gd name="connsiteX2" fmla="*/ 836023 w 836023"/>
              <a:gd name="connsiteY2" fmla="*/ 0 h 61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6023" h="618309">
                <a:moveTo>
                  <a:pt x="0" y="618309"/>
                </a:moveTo>
                <a:cubicBezTo>
                  <a:pt x="34834" y="434703"/>
                  <a:pt x="69669" y="251097"/>
                  <a:pt x="209006" y="148046"/>
                </a:cubicBezTo>
                <a:cubicBezTo>
                  <a:pt x="348343" y="44995"/>
                  <a:pt x="592183" y="22497"/>
                  <a:pt x="836023" y="0"/>
                </a:cubicBez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352993" y="411846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31" name="右箭头 130"/>
          <p:cNvSpPr/>
          <p:nvPr/>
        </p:nvSpPr>
        <p:spPr>
          <a:xfrm>
            <a:off x="7686350" y="4103200"/>
            <a:ext cx="524377" cy="36214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86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28" grpId="0" animBg="1"/>
      <p:bldP spid="6" grpId="0"/>
      <p:bldP spid="1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8.8 </a:t>
            </a:r>
            <a:r>
              <a:rPr lang="zh-CN" altLang="en-US" dirty="0"/>
              <a:t>堆的筛选法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3E007-26FC-4BFD-B654-983A1B84A550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2000" y="885324"/>
            <a:ext cx="8280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HeapAdjust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s..m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中除了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[s]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以外，都满足大顶堆的定义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本函数通过调整，使得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s..m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成为一个大顶堆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[s];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=2*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*=2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每次向下一层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].key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].key)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tmp.key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].key)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break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已经找到合适的位置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[s]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s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与孩子换位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[s]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505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从无序序列构造初始堆：反复调用筛选法</a:t>
            </a:r>
            <a:endParaRPr lang="en-US" altLang="zh-CN" dirty="0"/>
          </a:p>
          <a:p>
            <a:pPr lvl="1"/>
            <a:r>
              <a:rPr lang="zh-CN" altLang="en-US" dirty="0"/>
              <a:t>复杂度为</a:t>
            </a:r>
            <a:r>
              <a:rPr lang="en-US" altLang="zh-CN" b="1" dirty="0"/>
              <a:t>O(n)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3844-BA9E-4D1E-BDED-E2D6D6CFE332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20687" y="1823443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49  38  65  97  76  13  27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4073542" y="2131484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319452" y="2194152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97</a:t>
            </a:r>
            <a:r>
              <a:rPr lang="zh-CN" altLang="en-US" dirty="0"/>
              <a:t>和</a:t>
            </a:r>
            <a:r>
              <a:rPr lang="en-US" altLang="zh-CN" dirty="0"/>
              <a:t>49</a:t>
            </a:r>
            <a:r>
              <a:rPr lang="zh-CN" altLang="en-US" dirty="0"/>
              <a:t>比较，不改变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3572800" y="2640987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818710" y="2703655"/>
            <a:ext cx="2858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65</a:t>
            </a:r>
            <a:r>
              <a:rPr lang="zh-CN" altLang="en-US" dirty="0"/>
              <a:t>和</a:t>
            </a:r>
            <a:r>
              <a:rPr lang="en-US" altLang="zh-CN" dirty="0"/>
              <a:t>13</a:t>
            </a:r>
            <a:r>
              <a:rPr lang="zh-CN" altLang="en-US" dirty="0"/>
              <a:t>、</a:t>
            </a:r>
            <a:r>
              <a:rPr lang="en-US" altLang="zh-CN" dirty="0"/>
              <a:t>27</a:t>
            </a:r>
            <a:r>
              <a:rPr lang="zh-CN" altLang="en-US" dirty="0"/>
              <a:t>比较，不改变</a:t>
            </a: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3050285" y="3167001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296195" y="3229669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38</a:t>
            </a:r>
            <a:r>
              <a:rPr lang="zh-CN" altLang="en-US" dirty="0"/>
              <a:t>和</a:t>
            </a:r>
            <a:r>
              <a:rPr lang="en-US" altLang="zh-CN" dirty="0"/>
              <a:t>97</a:t>
            </a:r>
            <a:r>
              <a:rPr lang="zh-CN" altLang="en-US" dirty="0"/>
              <a:t>、</a:t>
            </a:r>
            <a:r>
              <a:rPr lang="en-US" altLang="zh-CN" dirty="0"/>
              <a:t>76</a:t>
            </a:r>
            <a:r>
              <a:rPr lang="zh-CN" altLang="en-US" dirty="0"/>
              <a:t>比较，筛选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220687" y="3599001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49  97  65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r>
              <a:rPr lang="en-US" altLang="zh-CN" dirty="0"/>
              <a:t>  76  13  27  38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2427622" y="399733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2673532" y="4059998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</a:t>
            </a:r>
            <a:r>
              <a:rPr lang="zh-CN" altLang="en-US" dirty="0"/>
              <a:t>和</a:t>
            </a:r>
            <a:r>
              <a:rPr lang="en-US" altLang="zh-CN" dirty="0"/>
              <a:t>97</a:t>
            </a:r>
            <a:r>
              <a:rPr lang="zh-CN" altLang="en-US" dirty="0"/>
              <a:t>、</a:t>
            </a:r>
            <a:r>
              <a:rPr lang="en-US" altLang="zh-CN" dirty="0"/>
              <a:t>65</a:t>
            </a:r>
            <a:r>
              <a:rPr lang="zh-CN" altLang="en-US" dirty="0"/>
              <a:t>比较，筛选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220687" y="4573227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97  76  65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r>
              <a:rPr lang="en-US" altLang="zh-CN" dirty="0"/>
              <a:t>  49  13  27  38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200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8.9 </a:t>
            </a:r>
            <a:r>
              <a:rPr lang="zh-CN" altLang="en-US" dirty="0"/>
              <a:t>堆排序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8BC5-1280-4F03-8732-62DEAAF0BA09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2000" y="896877"/>
            <a:ext cx="8280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HeapSort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L.len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HeapAdjust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构造初始大顶堆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L.length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将最大的关键字放到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HeapAdjust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(L,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[1..i-1]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调用筛选法重新调整为堆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525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堆排序的算法分析</a:t>
            </a:r>
            <a:endParaRPr lang="en-US" altLang="zh-CN" dirty="0"/>
          </a:p>
          <a:p>
            <a:r>
              <a:rPr lang="zh-CN" altLang="en-US" dirty="0"/>
              <a:t>时间复杂度：</a:t>
            </a:r>
            <a:endParaRPr lang="en-US" altLang="zh-CN" dirty="0"/>
          </a:p>
          <a:p>
            <a:pPr lvl="1"/>
            <a:r>
              <a:rPr lang="zh-CN" altLang="en-US" dirty="0"/>
              <a:t>最坏时间复杂度和平均时间复杂度均为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空间复杂度：</a:t>
            </a:r>
            <a:endParaRPr lang="en-US" altLang="zh-CN" dirty="0"/>
          </a:p>
          <a:p>
            <a:pPr lvl="1"/>
            <a:r>
              <a:rPr lang="zh-CN" altLang="en-US" dirty="0"/>
              <a:t>使用原表的存储空间，空间复杂度为</a:t>
            </a:r>
            <a:r>
              <a:rPr lang="en-US" altLang="zh-CN" dirty="0"/>
              <a:t>O(1)</a:t>
            </a:r>
          </a:p>
          <a:p>
            <a:r>
              <a:rPr lang="zh-CN" altLang="en-US" dirty="0"/>
              <a:t>与快速排序的比较</a:t>
            </a:r>
            <a:endParaRPr lang="en-US" altLang="zh-CN" dirty="0"/>
          </a:p>
          <a:p>
            <a:pPr lvl="1"/>
            <a:r>
              <a:rPr lang="zh-CN" altLang="en-US" dirty="0"/>
              <a:t>最坏时间复杂度只有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  <a:r>
              <a:rPr lang="zh-CN" altLang="en-US" dirty="0"/>
              <a:t>，快排需要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平均时间复杂度比快排高</a:t>
            </a:r>
            <a:endParaRPr lang="en-US" altLang="zh-CN" dirty="0"/>
          </a:p>
          <a:p>
            <a:pPr lvl="1"/>
            <a:r>
              <a:rPr lang="zh-CN" altLang="en-US" dirty="0"/>
              <a:t>空间复杂度只有</a:t>
            </a:r>
            <a:r>
              <a:rPr lang="en-US" altLang="zh-CN" dirty="0"/>
              <a:t>O(1)</a:t>
            </a:r>
            <a:r>
              <a:rPr lang="zh-CN" altLang="en-US" dirty="0"/>
              <a:t>，快排需要</a:t>
            </a:r>
            <a:r>
              <a:rPr lang="en-US" altLang="zh-CN" dirty="0"/>
              <a:t>O(</a:t>
            </a:r>
            <a:r>
              <a:rPr lang="en-US" altLang="zh-CN" dirty="0" err="1"/>
              <a:t>logn</a:t>
            </a:r>
            <a:r>
              <a:rPr lang="en-US" altLang="zh-CN" dirty="0"/>
              <a:t>)</a:t>
            </a:r>
          </a:p>
          <a:p>
            <a:r>
              <a:rPr lang="zh-CN" altLang="en-US" i="1" dirty="0"/>
              <a:t>堆常用来实现优先队列</a:t>
            </a:r>
            <a:endParaRPr lang="en-US" altLang="zh-CN" i="1" dirty="0"/>
          </a:p>
          <a:p>
            <a:pPr lvl="1"/>
            <a:r>
              <a:rPr lang="zh-CN" altLang="en-US" i="1" dirty="0"/>
              <a:t>入队：插入在最后，然后调整为堆，</a:t>
            </a:r>
            <a:r>
              <a:rPr lang="en-US" altLang="zh-CN" i="1" dirty="0"/>
              <a:t>O(</a:t>
            </a:r>
            <a:r>
              <a:rPr lang="en-US" altLang="zh-CN" i="1" dirty="0" err="1"/>
              <a:t>logn</a:t>
            </a:r>
            <a:r>
              <a:rPr lang="en-US" altLang="zh-CN" i="1" dirty="0"/>
              <a:t>)</a:t>
            </a:r>
          </a:p>
          <a:p>
            <a:pPr lvl="1"/>
            <a:r>
              <a:rPr lang="zh-CN" altLang="en-US" i="1" dirty="0"/>
              <a:t>出队：删除堆顶，筛选法，</a:t>
            </a:r>
            <a:r>
              <a:rPr lang="en-US" altLang="zh-CN" i="1" dirty="0"/>
              <a:t>O(</a:t>
            </a:r>
            <a:r>
              <a:rPr lang="en-US" altLang="zh-CN" i="1" dirty="0" err="1"/>
              <a:t>logn</a:t>
            </a:r>
            <a:r>
              <a:rPr lang="en-US" altLang="zh-CN" i="1" dirty="0"/>
              <a:t>)</a:t>
            </a:r>
            <a:endParaRPr lang="zh-CN" altLang="en-US" i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1C827-C10C-4DCF-AA34-1CEBB70CD5C3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990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8.6 </a:t>
            </a:r>
            <a:r>
              <a:rPr lang="zh-CN" altLang="en-US" dirty="0"/>
              <a:t>归并排序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  <a:r>
              <a:rPr lang="en-US" altLang="zh-CN" dirty="0"/>
              <a:t>(Merge Sort)</a:t>
            </a:r>
            <a:r>
              <a:rPr lang="zh-CN" altLang="en-US" dirty="0"/>
              <a:t>：将</a:t>
            </a:r>
            <a:r>
              <a:rPr lang="en-US" altLang="zh-CN" dirty="0" err="1"/>
              <a:t>L.r</a:t>
            </a:r>
            <a:r>
              <a:rPr lang="en-US" altLang="zh-CN" dirty="0"/>
              <a:t>[1..n]</a:t>
            </a:r>
            <a:r>
              <a:rPr lang="zh-CN" altLang="en-US" dirty="0"/>
              <a:t>分为前后两部分</a:t>
            </a:r>
            <a:r>
              <a:rPr lang="en-US" altLang="zh-CN" dirty="0" err="1"/>
              <a:t>L.r</a:t>
            </a:r>
            <a:r>
              <a:rPr lang="en-US" altLang="zh-CN" dirty="0"/>
              <a:t>[1..n/2]</a:t>
            </a:r>
            <a:r>
              <a:rPr lang="zh-CN" altLang="en-US" dirty="0"/>
              <a:t>和</a:t>
            </a:r>
            <a:r>
              <a:rPr lang="en-US" altLang="zh-CN" dirty="0" err="1"/>
              <a:t>L.r</a:t>
            </a:r>
            <a:r>
              <a:rPr lang="en-US" altLang="zh-CN" dirty="0"/>
              <a:t>[n/2+1..n]</a:t>
            </a:r>
            <a:r>
              <a:rPr lang="zh-CN" altLang="en-US" dirty="0"/>
              <a:t>，对两部分分别进行排序，再把两部分归并起来</a:t>
            </a:r>
            <a:endParaRPr lang="en-US" altLang="zh-CN" dirty="0"/>
          </a:p>
          <a:p>
            <a:r>
              <a:rPr lang="zh-CN" altLang="en-US" dirty="0"/>
              <a:t>算法进行过程：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23061-89B3-4B0D-8E57-806ED4FB800F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058195" y="3582574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49  38  65  97  76  13  27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58194" y="3951906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49  38  65  97  76  13  27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58193" y="4321238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49  38  65  97  76  13  27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cxnSp>
        <p:nvCxnSpPr>
          <p:cNvPr id="11" name="直接连接符 10"/>
          <p:cNvCxnSpPr>
            <a:stCxn id="7" idx="0"/>
            <a:endCxn id="8" idx="0"/>
          </p:cNvCxnSpPr>
          <p:nvPr/>
        </p:nvCxnSpPr>
        <p:spPr>
          <a:xfrm flipH="1">
            <a:off x="6218401" y="3582574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5125475" y="3951906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4571999" y="4308890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7326105" y="3944167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6218399" y="3943880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6218398" y="4313212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5130444" y="4321238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5651726" y="4313212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7326105" y="4312529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6785069" y="4321238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7867132" y="4313212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058191" y="4681861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38  49  65  97  13  76  27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6218396" y="4673835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5130442" y="4681861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7326103" y="4673152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058191" y="5021993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38  49  65  97  13  27  </a:t>
            </a:r>
            <a:r>
              <a:rPr lang="en-US" altLang="zh-CN" dirty="0">
                <a:solidFill>
                  <a:schemeClr val="accent2"/>
                </a:solidFill>
              </a:rPr>
              <a:t>49  </a:t>
            </a:r>
            <a:r>
              <a:rPr lang="en-US" altLang="zh-CN" dirty="0"/>
              <a:t>76</a:t>
            </a:r>
            <a:endParaRPr lang="zh-CN" altLang="en-US" dirty="0"/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218396" y="5013967"/>
            <a:ext cx="1" cy="3693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4058189" y="5377051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13  27  38  49  </a:t>
            </a:r>
            <a:r>
              <a:rPr lang="en-US" altLang="zh-CN" dirty="0">
                <a:solidFill>
                  <a:schemeClr val="accent2"/>
                </a:solidFill>
              </a:rPr>
              <a:t>49</a:t>
            </a:r>
            <a:r>
              <a:rPr lang="en-US" altLang="zh-CN" dirty="0"/>
              <a:t>  65  76  97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3592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8.10(1) </a:t>
            </a:r>
            <a:r>
              <a:rPr lang="zh-CN" altLang="en-US" dirty="0"/>
              <a:t>有序表的归并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0C92-DEDE-4448-A092-46D21C0A0D1D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2000" y="1044923"/>
            <a:ext cx="8280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Merge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s..m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[m+1..t]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都是有序表，将它们归并存储到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s..t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i,j,k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s,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k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].key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[j].key)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[k]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[k]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kern="0" dirty="0" err="1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k)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[k]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(;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j,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k)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[k]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[j];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7427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8.10(2) </a:t>
            </a:r>
            <a:r>
              <a:rPr lang="zh-CN" altLang="en-US" dirty="0"/>
              <a:t>归并排序的递归算法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43BBF-1731-4B1B-A97C-48AA7BE31D2A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2000" y="915132"/>
            <a:ext cx="794564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low,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high)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(low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high)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mid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low</a:t>
            </a:r>
            <a:r>
              <a:rPr lang="en-US" altLang="zh-CN" kern="0" dirty="0" err="1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high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low, mid);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mid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high);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Merge(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low, mid, high);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low;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high;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MergeSort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[L.len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delete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[]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084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归并排序的算法分析</a:t>
            </a:r>
            <a:endParaRPr lang="en-US" altLang="zh-CN" dirty="0"/>
          </a:p>
          <a:p>
            <a:r>
              <a:rPr lang="zh-CN" altLang="en-US" dirty="0"/>
              <a:t>时间复杂度：</a:t>
            </a:r>
            <a:endParaRPr lang="en-US" altLang="zh-CN" dirty="0"/>
          </a:p>
          <a:p>
            <a:pPr lvl="1"/>
            <a:r>
              <a:rPr lang="zh-CN" altLang="en-US" dirty="0"/>
              <a:t>最坏时间复杂度和平均时间复杂度均为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空间复杂度：</a:t>
            </a:r>
          </a:p>
          <a:p>
            <a:pPr lvl="1"/>
            <a:r>
              <a:rPr lang="zh-CN" altLang="en-US" dirty="0"/>
              <a:t>需要一个大小为</a:t>
            </a:r>
            <a:r>
              <a:rPr lang="en-US" altLang="zh-CN" dirty="0"/>
              <a:t>n</a:t>
            </a:r>
            <a:r>
              <a:rPr lang="zh-CN" altLang="en-US" dirty="0"/>
              <a:t>的辅助空间用于有序表的归并，空间复杂度为</a:t>
            </a:r>
            <a:r>
              <a:rPr lang="en-US" altLang="zh-CN" dirty="0"/>
              <a:t>O(n)</a:t>
            </a:r>
          </a:p>
          <a:p>
            <a:r>
              <a:rPr lang="zh-CN" altLang="en-US" dirty="0"/>
              <a:t>与快速排序、堆排序的比较</a:t>
            </a:r>
            <a:endParaRPr lang="en-US" altLang="zh-CN" dirty="0"/>
          </a:p>
          <a:p>
            <a:pPr lvl="1"/>
            <a:r>
              <a:rPr lang="zh-CN" altLang="en-US" dirty="0"/>
              <a:t>最坏时间复杂度为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  <a:r>
              <a:rPr lang="zh-CN" altLang="en-US" dirty="0"/>
              <a:t>，与堆排序数量级相同（常数因子略小），优于快排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空间复杂度为</a:t>
            </a:r>
            <a:r>
              <a:rPr lang="en-US" altLang="zh-CN" dirty="0"/>
              <a:t>O(n)</a:t>
            </a:r>
            <a:r>
              <a:rPr lang="zh-CN" altLang="en-US" dirty="0"/>
              <a:t>，远大于堆排序</a:t>
            </a:r>
            <a:r>
              <a:rPr lang="en-US" altLang="zh-CN" dirty="0"/>
              <a:t>O(1)</a:t>
            </a:r>
            <a:r>
              <a:rPr lang="zh-CN" altLang="en-US" dirty="0"/>
              <a:t>、快排</a:t>
            </a:r>
            <a:r>
              <a:rPr lang="en-US" altLang="zh-CN" dirty="0"/>
              <a:t>O(</a:t>
            </a:r>
            <a:r>
              <a:rPr lang="en-US" altLang="zh-CN" dirty="0" err="1"/>
              <a:t>logn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是稳定的排序算法，而快排、堆排序都不稳定</a:t>
            </a:r>
            <a:endParaRPr lang="en-US" altLang="zh-CN" dirty="0"/>
          </a:p>
          <a:p>
            <a:r>
              <a:rPr lang="zh-CN" altLang="en-US" dirty="0"/>
              <a:t>实际使用中</a:t>
            </a:r>
            <a:endParaRPr lang="en-US" altLang="zh-CN" dirty="0"/>
          </a:p>
          <a:p>
            <a:pPr lvl="1"/>
            <a:r>
              <a:rPr lang="zh-CN" altLang="en-US" dirty="0"/>
              <a:t>一般采用非递归算法</a:t>
            </a:r>
            <a:endParaRPr lang="en-US" altLang="zh-CN" dirty="0"/>
          </a:p>
          <a:p>
            <a:pPr lvl="1"/>
            <a:r>
              <a:rPr lang="zh-CN" altLang="en-US" dirty="0"/>
              <a:t>当分块很短时，可直接做简单插入排序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2A69-0C63-422E-BD01-7F5B86777CBB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689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8.7 </a:t>
            </a:r>
            <a:r>
              <a:rPr lang="zh-CN" altLang="en-US" dirty="0"/>
              <a:t>基数排序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多关键字排序：待排序记录有多个关键字，要求按照多个关键字逐个有序</a:t>
            </a:r>
            <a:endParaRPr lang="en-US" altLang="zh-CN" dirty="0"/>
          </a:p>
          <a:p>
            <a:r>
              <a:rPr lang="zh-CN" altLang="en-US" dirty="0"/>
              <a:t>例：金牌榜，金牌数</a:t>
            </a:r>
            <a:r>
              <a:rPr lang="en-US" altLang="zh-CN" dirty="0"/>
              <a:t>-&gt;</a:t>
            </a:r>
            <a:r>
              <a:rPr lang="zh-CN" altLang="en-US" dirty="0"/>
              <a:t>银牌数</a:t>
            </a:r>
            <a:r>
              <a:rPr lang="en-US" altLang="zh-CN" dirty="0"/>
              <a:t>-&gt;</a:t>
            </a:r>
            <a:r>
              <a:rPr lang="zh-CN" altLang="en-US" dirty="0"/>
              <a:t>铜牌数</a:t>
            </a:r>
            <a:endParaRPr lang="en-US" altLang="zh-CN" dirty="0"/>
          </a:p>
          <a:p>
            <a:r>
              <a:rPr lang="zh-CN" altLang="en-US" dirty="0"/>
              <a:t>多关键字排序的两类方法</a:t>
            </a:r>
            <a:endParaRPr lang="en-US" altLang="zh-CN" dirty="0"/>
          </a:p>
          <a:p>
            <a:pPr lvl="1"/>
            <a:r>
              <a:rPr lang="zh-CN" altLang="en-US" dirty="0"/>
              <a:t>最高位优先：先按照金牌数排序，金牌数相同的记录组成子序列，对子序列按照银牌数排序</a:t>
            </a:r>
            <a:r>
              <a:rPr lang="en-US" altLang="zh-CN" dirty="0"/>
              <a:t>……</a:t>
            </a:r>
          </a:p>
          <a:p>
            <a:pPr lvl="1"/>
            <a:r>
              <a:rPr lang="zh-CN" altLang="en-US" dirty="0"/>
              <a:t>最低位优先：先按照铜牌数排序，再按照银牌数排序</a:t>
            </a:r>
            <a:r>
              <a:rPr lang="en-US" altLang="zh-CN" dirty="0"/>
              <a:t>……</a:t>
            </a:r>
            <a:r>
              <a:rPr lang="zh-CN" altLang="en-US" dirty="0"/>
              <a:t>此时，排序方法必须是稳定的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082E-0793-43FC-A897-4D028C32B9B6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039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例：金牌榜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1A297-46F6-46D8-AFB3-171B2F6B17C6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37</a:t>
            </a:fld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61852" y="1430584"/>
          <a:ext cx="33963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国名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金牌数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银牌数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铜牌数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意大利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英国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德国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61852" y="3431177"/>
            <a:ext cx="2725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如果先按铜牌数排序、再按银牌数排序，可得到：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1852" y="4154352"/>
          <a:ext cx="33963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国名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金牌数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银牌数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铜牌数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德国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英国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意大利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749463" y="461432"/>
            <a:ext cx="2882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再按金牌数排序，如果是稳定的排序方法，则得到：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775660" y="1430584"/>
          <a:ext cx="33963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国名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金牌数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银牌数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铜牌数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英国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德国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意大利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749463" y="370817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如果排序方法不稳定，则有可能得到：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775660" y="4154352"/>
          <a:ext cx="33963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国名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金牌数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银牌数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铜牌数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英国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意大利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德国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乘号 13"/>
          <p:cNvSpPr/>
          <p:nvPr/>
        </p:nvSpPr>
        <p:spPr>
          <a:xfrm>
            <a:off x="6609600" y="4767554"/>
            <a:ext cx="914400" cy="914400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3387635" y="3431177"/>
            <a:ext cx="296091" cy="461665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 rot="14033715">
            <a:off x="4305327" y="3455978"/>
            <a:ext cx="296091" cy="461665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 rot="16200000">
            <a:off x="4262422" y="4820698"/>
            <a:ext cx="296091" cy="461665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16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  <p:bldP spid="14" grpId="0" animBg="1"/>
      <p:bldP spid="15" grpId="0" animBg="1"/>
      <p:bldP spid="16" grpId="0" animBg="1"/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多关键字排序的最低位优先方法还可借助</a:t>
            </a:r>
            <a:r>
              <a:rPr lang="zh-CN" altLang="en-US" dirty="0">
                <a:solidFill>
                  <a:schemeClr val="accent5"/>
                </a:solidFill>
              </a:rPr>
              <a:t>分配</a:t>
            </a:r>
            <a:r>
              <a:rPr lang="en-US" altLang="zh-CN" dirty="0">
                <a:solidFill>
                  <a:schemeClr val="accent5"/>
                </a:solidFill>
              </a:rPr>
              <a:t>-</a:t>
            </a:r>
            <a:r>
              <a:rPr lang="zh-CN" altLang="en-US" dirty="0">
                <a:solidFill>
                  <a:schemeClr val="accent5"/>
                </a:solidFill>
              </a:rPr>
              <a:t>收集</a:t>
            </a:r>
            <a:r>
              <a:rPr lang="zh-CN" altLang="en-US" dirty="0"/>
              <a:t>来实现</a:t>
            </a:r>
            <a:endParaRPr lang="en-US" altLang="zh-CN" dirty="0"/>
          </a:p>
          <a:p>
            <a:pPr lvl="1"/>
            <a:r>
              <a:rPr lang="zh-CN" altLang="en-US" dirty="0"/>
              <a:t>要求关键字是离散值，且预知关键字的取值范围</a:t>
            </a:r>
            <a:endParaRPr lang="en-US" altLang="zh-CN" dirty="0"/>
          </a:p>
          <a:p>
            <a:r>
              <a:rPr lang="zh-CN" altLang="en-US" dirty="0"/>
              <a:t>例：扑克牌排序</a:t>
            </a:r>
            <a:endParaRPr lang="en-US" altLang="zh-CN" dirty="0"/>
          </a:p>
          <a:p>
            <a:pPr lvl="1"/>
            <a:r>
              <a:rPr lang="zh-CN" altLang="en-US" dirty="0"/>
              <a:t>排序规则是先♠</a:t>
            </a:r>
            <a:r>
              <a:rPr lang="zh-CN" altLang="en-US" dirty="0">
                <a:solidFill>
                  <a:srgbClr val="FF0000"/>
                </a:solidFill>
              </a:rPr>
              <a:t>♥♦</a:t>
            </a:r>
            <a:r>
              <a:rPr lang="zh-CN" altLang="en-US" dirty="0"/>
              <a:t>♣、再</a:t>
            </a:r>
            <a:r>
              <a:rPr lang="en-US" altLang="zh-CN" dirty="0"/>
              <a:t>A,K,Q,J,10..2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B6CD7-D6AE-4900-853D-74B152BB1C18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32815" y="2647284"/>
            <a:ext cx="303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待排序的扑克牌：</a:t>
            </a:r>
            <a:endParaRPr lang="en-US" altLang="zh-CN" dirty="0"/>
          </a:p>
          <a:p>
            <a:r>
              <a:rPr lang="zh-CN" altLang="zh-CN" dirty="0">
                <a:solidFill>
                  <a:srgbClr val="FF0000"/>
                </a:solidFill>
              </a:rPr>
              <a:t>♦</a:t>
            </a:r>
            <a:r>
              <a:rPr lang="en-US" altLang="zh-CN" dirty="0"/>
              <a:t>3 </a:t>
            </a:r>
            <a:r>
              <a:rPr lang="zh-CN" altLang="en-US" dirty="0">
                <a:solidFill>
                  <a:srgbClr val="FF0000"/>
                </a:solidFill>
              </a:rPr>
              <a:t>♦</a:t>
            </a:r>
            <a:r>
              <a:rPr lang="en-US" altLang="zh-CN" dirty="0"/>
              <a:t>A </a:t>
            </a:r>
            <a:r>
              <a:rPr lang="zh-CN" altLang="en-US" dirty="0"/>
              <a:t>♣</a:t>
            </a:r>
            <a:r>
              <a:rPr lang="en-US" altLang="zh-CN" dirty="0"/>
              <a:t>Q </a:t>
            </a:r>
            <a:r>
              <a:rPr lang="zh-CN" altLang="en-US" dirty="0"/>
              <a:t>♣</a:t>
            </a:r>
            <a:r>
              <a:rPr lang="en-US" altLang="zh-CN" dirty="0"/>
              <a:t>3 </a:t>
            </a:r>
            <a:r>
              <a:rPr lang="zh-CN" altLang="en-US" dirty="0">
                <a:solidFill>
                  <a:srgbClr val="FF0000"/>
                </a:solidFill>
              </a:rPr>
              <a:t>♥</a:t>
            </a:r>
            <a:r>
              <a:rPr lang="en-US" altLang="zh-CN" dirty="0"/>
              <a:t>2 </a:t>
            </a:r>
            <a:r>
              <a:rPr lang="zh-CN" altLang="en-US" dirty="0"/>
              <a:t>♠</a:t>
            </a:r>
            <a:r>
              <a:rPr lang="en-US" altLang="zh-CN" dirty="0"/>
              <a:t>3 </a:t>
            </a:r>
            <a:r>
              <a:rPr lang="zh-CN" altLang="en-US" dirty="0"/>
              <a:t>♠</a:t>
            </a:r>
            <a:r>
              <a:rPr lang="en-US" altLang="zh-CN" dirty="0"/>
              <a:t>7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435095"/>
              </p:ext>
            </p:extLst>
          </p:nvPr>
        </p:nvGraphicFramePr>
        <p:xfrm>
          <a:off x="1502851" y="3459648"/>
          <a:ext cx="2016000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最低位关键字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第一次分配结果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rgbClr val="FF0000"/>
                          </a:solidFill>
                        </a:rPr>
                        <a:t>♦</a:t>
                      </a:r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Q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♣</a:t>
                      </a:r>
                      <a:r>
                        <a:rPr lang="en-US" altLang="zh-CN" sz="1800" dirty="0"/>
                        <a:t>Q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♠</a:t>
                      </a:r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dirty="0">
                          <a:solidFill>
                            <a:srgbClr val="FF0000"/>
                          </a:solidFill>
                        </a:rPr>
                        <a:t>♦</a:t>
                      </a:r>
                      <a:r>
                        <a:rPr lang="en-US" altLang="zh-CN" sz="1800" dirty="0"/>
                        <a:t>3 </a:t>
                      </a:r>
                      <a:r>
                        <a:rPr lang="zh-CN" altLang="en-US" sz="1800" dirty="0"/>
                        <a:t>♣</a:t>
                      </a:r>
                      <a:r>
                        <a:rPr lang="en-US" altLang="zh-CN" sz="1800" dirty="0"/>
                        <a:t>3</a:t>
                      </a:r>
                      <a:r>
                        <a:rPr lang="en-US" altLang="zh-CN" sz="1800" baseline="0" dirty="0"/>
                        <a:t> </a:t>
                      </a:r>
                      <a:r>
                        <a:rPr lang="zh-CN" altLang="en-US" sz="1800" dirty="0"/>
                        <a:t>♠</a:t>
                      </a:r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rgbClr val="FF0000"/>
                          </a:solidFill>
                        </a:rPr>
                        <a:t>♥</a:t>
                      </a:r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308498" y="5653669"/>
            <a:ext cx="303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第二次收集结果：</a:t>
            </a:r>
            <a:endParaRPr lang="en-US" altLang="zh-CN" dirty="0"/>
          </a:p>
          <a:p>
            <a:r>
              <a:rPr lang="zh-CN" altLang="en-US" dirty="0"/>
              <a:t>♠</a:t>
            </a:r>
            <a:r>
              <a:rPr lang="en-US" altLang="zh-CN" dirty="0"/>
              <a:t>7 </a:t>
            </a:r>
            <a:r>
              <a:rPr lang="zh-CN" altLang="en-US" dirty="0"/>
              <a:t>♠</a:t>
            </a:r>
            <a:r>
              <a:rPr lang="en-US" altLang="zh-CN" dirty="0"/>
              <a:t>3 </a:t>
            </a:r>
            <a:r>
              <a:rPr lang="zh-CN" altLang="en-US" dirty="0">
                <a:solidFill>
                  <a:srgbClr val="FF0000"/>
                </a:solidFill>
              </a:rPr>
              <a:t>♥</a:t>
            </a:r>
            <a:r>
              <a:rPr lang="en-US" altLang="zh-CN" dirty="0"/>
              <a:t>2</a:t>
            </a:r>
            <a:r>
              <a:rPr lang="zh-CN" altLang="zh-CN" dirty="0"/>
              <a:t> </a:t>
            </a:r>
            <a:r>
              <a:rPr lang="zh-CN" altLang="zh-CN" dirty="0">
                <a:solidFill>
                  <a:srgbClr val="FF0000"/>
                </a:solidFill>
              </a:rPr>
              <a:t>♦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♦</a:t>
            </a:r>
            <a:r>
              <a:rPr lang="en-US" altLang="zh-CN" dirty="0"/>
              <a:t>3 </a:t>
            </a:r>
            <a:r>
              <a:rPr lang="zh-CN" altLang="en-US" dirty="0"/>
              <a:t>♣</a:t>
            </a:r>
            <a:r>
              <a:rPr lang="en-US" altLang="zh-CN" dirty="0"/>
              <a:t>Q </a:t>
            </a:r>
            <a:r>
              <a:rPr lang="zh-CN" altLang="en-US" dirty="0"/>
              <a:t>♣</a:t>
            </a:r>
            <a:r>
              <a:rPr lang="en-US" altLang="zh-CN" dirty="0"/>
              <a:t>3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171271"/>
              </p:ext>
            </p:extLst>
          </p:nvPr>
        </p:nvGraphicFramePr>
        <p:xfrm>
          <a:off x="4314265" y="3459648"/>
          <a:ext cx="2016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最高位关键字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第二次分配结果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♠</a:t>
                      </a:r>
                      <a:r>
                        <a:rPr lang="en-US" altLang="zh-CN" sz="1800" dirty="0"/>
                        <a:t>7 </a:t>
                      </a:r>
                      <a:r>
                        <a:rPr lang="zh-CN" altLang="en-US" sz="1800" dirty="0"/>
                        <a:t>♠</a:t>
                      </a:r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rgbClr val="FF0000"/>
                          </a:solidFill>
                        </a:rPr>
                        <a:t>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rgbClr val="FF0000"/>
                          </a:solidFill>
                        </a:rPr>
                        <a:t>♥</a:t>
                      </a:r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rgbClr val="FF0000"/>
                          </a:solidFill>
                        </a:rPr>
                        <a:t>♦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dirty="0">
                          <a:solidFill>
                            <a:srgbClr val="FF0000"/>
                          </a:solidFill>
                        </a:rPr>
                        <a:t>♦</a:t>
                      </a:r>
                      <a:r>
                        <a:rPr lang="en-US" altLang="zh-CN" sz="1800" dirty="0"/>
                        <a:t>A </a:t>
                      </a:r>
                      <a:r>
                        <a:rPr lang="zh-CN" altLang="en-US" sz="1800" dirty="0">
                          <a:solidFill>
                            <a:srgbClr val="FF0000"/>
                          </a:solidFill>
                        </a:rPr>
                        <a:t>♦</a:t>
                      </a:r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♣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♣</a:t>
                      </a:r>
                      <a:r>
                        <a:rPr lang="en-US" altLang="zh-CN" sz="1800" dirty="0"/>
                        <a:t>Q </a:t>
                      </a:r>
                      <a:r>
                        <a:rPr lang="zh-CN" altLang="en-US" sz="1800" dirty="0"/>
                        <a:t>♣</a:t>
                      </a:r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166348" y="2799683"/>
            <a:ext cx="303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第一次收集结果：</a:t>
            </a:r>
            <a:endParaRPr lang="en-US" altLang="zh-CN" dirty="0"/>
          </a:p>
          <a:p>
            <a:r>
              <a:rPr lang="zh-CN" altLang="zh-CN" dirty="0">
                <a:solidFill>
                  <a:srgbClr val="FF0000"/>
                </a:solidFill>
              </a:rPr>
              <a:t>♦</a:t>
            </a:r>
            <a:r>
              <a:rPr lang="en-US" altLang="zh-CN" dirty="0"/>
              <a:t>A </a:t>
            </a:r>
            <a:r>
              <a:rPr lang="zh-CN" altLang="en-US" dirty="0"/>
              <a:t>♣</a:t>
            </a:r>
            <a:r>
              <a:rPr lang="en-US" altLang="zh-CN" dirty="0"/>
              <a:t>Q </a:t>
            </a:r>
            <a:r>
              <a:rPr lang="zh-CN" altLang="en-US" dirty="0"/>
              <a:t>♠</a:t>
            </a:r>
            <a:r>
              <a:rPr lang="en-US" altLang="zh-CN" dirty="0"/>
              <a:t>7 </a:t>
            </a:r>
            <a:r>
              <a:rPr lang="zh-CN" altLang="en-US" dirty="0">
                <a:solidFill>
                  <a:srgbClr val="FF0000"/>
                </a:solidFill>
              </a:rPr>
              <a:t>♦</a:t>
            </a:r>
            <a:r>
              <a:rPr lang="en-US" altLang="zh-CN" dirty="0"/>
              <a:t>3 </a:t>
            </a:r>
            <a:r>
              <a:rPr lang="zh-CN" altLang="en-US" dirty="0"/>
              <a:t>♣</a:t>
            </a:r>
            <a:r>
              <a:rPr lang="en-US" altLang="zh-CN" dirty="0"/>
              <a:t>3 </a:t>
            </a:r>
            <a:r>
              <a:rPr lang="zh-CN" altLang="en-US" dirty="0"/>
              <a:t>♠</a:t>
            </a:r>
            <a:r>
              <a:rPr lang="en-US" altLang="zh-CN" dirty="0"/>
              <a:t>3 </a:t>
            </a:r>
            <a:r>
              <a:rPr lang="zh-CN" altLang="en-US" dirty="0">
                <a:solidFill>
                  <a:srgbClr val="FF0000"/>
                </a:solidFill>
              </a:rPr>
              <a:t>♥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547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基数排序</a:t>
            </a:r>
            <a:r>
              <a:rPr lang="en-US" altLang="zh-CN" dirty="0"/>
              <a:t>(Radix Sort)</a:t>
            </a:r>
            <a:r>
              <a:rPr lang="zh-CN" altLang="en-US" dirty="0"/>
              <a:t>：借鉴多关键字排序的思想，针对特定类型的关键字，将其分解为“多关键字”，并采用分配</a:t>
            </a:r>
            <a:r>
              <a:rPr lang="en-US" altLang="zh-CN" dirty="0"/>
              <a:t>-</a:t>
            </a:r>
            <a:r>
              <a:rPr lang="zh-CN" altLang="en-US" dirty="0"/>
              <a:t>收集法</a:t>
            </a:r>
            <a:endParaRPr lang="en-US" altLang="zh-CN" dirty="0"/>
          </a:p>
          <a:p>
            <a:pPr lvl="1"/>
            <a:r>
              <a:rPr lang="zh-CN" altLang="en-US" dirty="0"/>
              <a:t>例如，关键字为整数时，可以分解为：个位数、十位数、百位数、千位数、</a:t>
            </a:r>
            <a:r>
              <a:rPr lang="en-US" altLang="zh-CN" dirty="0"/>
              <a:t>……</a:t>
            </a:r>
            <a:r>
              <a:rPr lang="zh-CN" altLang="en-US" dirty="0"/>
              <a:t>、符号位</a:t>
            </a:r>
            <a:endParaRPr lang="en-US" altLang="zh-CN" dirty="0"/>
          </a:p>
          <a:p>
            <a:pPr lvl="1"/>
            <a:r>
              <a:rPr lang="zh-CN" altLang="en-US" dirty="0"/>
              <a:t>例如，关键字为定长字符串时，可以分解为：最后一个字符、倒数第二个字符、</a:t>
            </a:r>
            <a:r>
              <a:rPr lang="en-US" altLang="zh-CN" dirty="0"/>
              <a:t>……</a:t>
            </a:r>
            <a:r>
              <a:rPr lang="zh-CN" altLang="en-US" dirty="0"/>
              <a:t>、第一个字符</a:t>
            </a:r>
            <a:endParaRPr lang="en-US" altLang="zh-CN" dirty="0"/>
          </a:p>
          <a:p>
            <a:r>
              <a:rPr lang="zh-CN" altLang="en-US" dirty="0"/>
              <a:t>如何进行分配</a:t>
            </a:r>
            <a:r>
              <a:rPr lang="en-US" altLang="zh-CN" dirty="0"/>
              <a:t>-</a:t>
            </a:r>
            <a:r>
              <a:rPr lang="zh-CN" altLang="en-US" dirty="0"/>
              <a:t>收集？</a:t>
            </a:r>
            <a:endParaRPr lang="en-US" altLang="zh-CN" dirty="0"/>
          </a:p>
          <a:p>
            <a:r>
              <a:rPr lang="zh-CN" altLang="en-US" dirty="0"/>
              <a:t>回顾：三元组表快速转置时，使用“按位就座”法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26BC-734A-4587-9B09-52541AE383A1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5468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基数排序示例</a:t>
            </a:r>
            <a:endParaRPr lang="en-US" altLang="zh-CN" dirty="0"/>
          </a:p>
          <a:p>
            <a:r>
              <a:rPr lang="zh-CN" altLang="en-US" dirty="0"/>
              <a:t>待排序关键字：</a:t>
            </a:r>
            <a:r>
              <a:rPr lang="en-US" altLang="zh-CN" dirty="0"/>
              <a:t>27,91,01,97,17,23,84,28,72,05,67,25</a:t>
            </a:r>
          </a:p>
          <a:p>
            <a:r>
              <a:rPr lang="zh-CN" altLang="en-US" dirty="0"/>
              <a:t>按最低位（个位数）分配：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CE59-8A4A-4D9A-9F53-F0229AE46553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40</a:t>
            </a:fld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007734"/>
              </p:ext>
            </p:extLst>
          </p:nvPr>
        </p:nvGraphicFramePr>
        <p:xfrm>
          <a:off x="1512000" y="2257612"/>
          <a:ext cx="6096000" cy="155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91</a:t>
                      </a:r>
                    </a:p>
                    <a:p>
                      <a:r>
                        <a:rPr lang="en-US" altLang="zh-CN" sz="1800" dirty="0"/>
                        <a:t>01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23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84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05</a:t>
                      </a:r>
                    </a:p>
                    <a:p>
                      <a:r>
                        <a:rPr lang="en-US" altLang="zh-CN" sz="1800" dirty="0"/>
                        <a:t>25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27</a:t>
                      </a:r>
                    </a:p>
                    <a:p>
                      <a:r>
                        <a:rPr lang="en-US" altLang="zh-CN" sz="1800" dirty="0"/>
                        <a:t>97</a:t>
                      </a:r>
                    </a:p>
                    <a:p>
                      <a:r>
                        <a:rPr lang="en-US" altLang="zh-CN" sz="1800" dirty="0"/>
                        <a:t>17</a:t>
                      </a:r>
                    </a:p>
                    <a:p>
                      <a:r>
                        <a:rPr lang="en-US" altLang="zh-CN" sz="1800" dirty="0"/>
                        <a:t>67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560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待排序关键字：</a:t>
            </a:r>
            <a:r>
              <a:rPr lang="en-US" altLang="zh-CN" dirty="0"/>
              <a:t>27,91,01,97,17,23,84,28,72,05,67,25</a:t>
            </a:r>
          </a:p>
          <a:p>
            <a:r>
              <a:rPr lang="zh-CN" altLang="en-US" dirty="0"/>
              <a:t>基于“按位就座”思想，进行快速分配</a:t>
            </a:r>
            <a:r>
              <a:rPr lang="en-US" altLang="zh-CN" dirty="0"/>
              <a:t>-</a:t>
            </a:r>
            <a:r>
              <a:rPr lang="zh-CN" altLang="en-US" dirty="0"/>
              <a:t>收集</a:t>
            </a:r>
            <a:endParaRPr lang="en-US" altLang="zh-CN" dirty="0"/>
          </a:p>
          <a:p>
            <a:pPr lvl="1"/>
            <a:r>
              <a:rPr lang="zh-CN" altLang="en-US" dirty="0"/>
              <a:t>第一轮：统计分配后的分布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第二轮：计算分配后的累积分布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第三轮：关键字按位就座：</a:t>
            </a:r>
            <a:r>
              <a:rPr lang="en-US" altLang="zh-CN" dirty="0"/>
              <a:t>91,01,72,23,84,05,25,27,97,17,67,28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F6BC6-33F7-436C-A0A5-0FADB929F311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41</a:t>
            </a:fld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546703"/>
              </p:ext>
            </p:extLst>
          </p:nvPr>
        </p:nvGraphicFramePr>
        <p:xfrm>
          <a:off x="1370806" y="209316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208734"/>
              </p:ext>
            </p:extLst>
          </p:nvPr>
        </p:nvGraphicFramePr>
        <p:xfrm>
          <a:off x="1370806" y="3203387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634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接下来，按最高位（十位数）分配</a:t>
            </a:r>
            <a:r>
              <a:rPr lang="en-US" altLang="zh-CN" dirty="0"/>
              <a:t>-</a:t>
            </a:r>
            <a:r>
              <a:rPr lang="zh-CN" altLang="en-US" dirty="0"/>
              <a:t>收集</a:t>
            </a:r>
            <a:endParaRPr lang="en-US" altLang="zh-CN" dirty="0"/>
          </a:p>
          <a:p>
            <a:pPr lvl="1"/>
            <a:r>
              <a:rPr lang="zh-CN" altLang="en-US" dirty="0"/>
              <a:t>统计分配后的分布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计算分配后的累积分布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关键字按位就座：</a:t>
            </a:r>
            <a:r>
              <a:rPr lang="en-US" altLang="zh-CN" dirty="0"/>
              <a:t>01,05,17,23,25,27,28,67,72,84,91,97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EA795-2936-42C4-A111-610F85582FD6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42</a:t>
            </a:fld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846895"/>
              </p:ext>
            </p:extLst>
          </p:nvPr>
        </p:nvGraphicFramePr>
        <p:xfrm>
          <a:off x="1428000" y="1232551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118624"/>
              </p:ext>
            </p:extLst>
          </p:nvPr>
        </p:nvGraphicFramePr>
        <p:xfrm>
          <a:off x="1428000" y="2367429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9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0320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8.12 </a:t>
            </a:r>
            <a:r>
              <a:rPr lang="zh-CN" altLang="en-US" dirty="0"/>
              <a:t>基数排序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2961-F580-43D4-A637-F89A1203B399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2000" y="862124"/>
            <a:ext cx="822118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RADIX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128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每个“基本关键字”的取值范围，称为基数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KEY_LENGTH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共有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个“基本关键字”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KeyType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[KEY_LENGTH];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关键字类型为长度为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的字符串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RadixPass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k)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j;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count[RADIX];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RADIX;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count[j]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count[R[j].key[k]]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RADIX;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count[j]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count[j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count[j];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n;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R[j].key[k]; T[count[p]]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R[j]; count[p]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R[j]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T[j];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RadixSort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SqTable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RcdType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[L.len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k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KEY_LENGTH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k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k)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RadixPass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L.len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k);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delete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[]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2176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基数排序的算法分析</a:t>
            </a:r>
            <a:endParaRPr lang="en-US" altLang="zh-CN" dirty="0"/>
          </a:p>
          <a:p>
            <a:r>
              <a:rPr lang="zh-CN" altLang="en-US" dirty="0"/>
              <a:t>时间复杂度：</a:t>
            </a:r>
            <a:endParaRPr lang="en-US" altLang="zh-CN" dirty="0"/>
          </a:p>
          <a:p>
            <a:pPr lvl="1"/>
            <a:r>
              <a:rPr lang="zh-CN" altLang="en-US" dirty="0"/>
              <a:t>任何情况下的时间复杂度均为</a:t>
            </a:r>
            <a:r>
              <a:rPr lang="en-US" altLang="zh-CN" dirty="0"/>
              <a:t>O(d×(</a:t>
            </a:r>
            <a:r>
              <a:rPr lang="en-US" altLang="zh-CN" dirty="0" err="1"/>
              <a:t>r+n</a:t>
            </a:r>
            <a:r>
              <a:rPr lang="en-US" altLang="zh-CN" dirty="0"/>
              <a:t>))</a:t>
            </a:r>
            <a:r>
              <a:rPr lang="zh-CN" altLang="en-US" dirty="0"/>
              <a:t>，其中</a:t>
            </a:r>
            <a:r>
              <a:rPr lang="en-US" altLang="zh-CN" dirty="0"/>
              <a:t>d</a:t>
            </a:r>
            <a:r>
              <a:rPr lang="zh-CN" altLang="en-US" dirty="0"/>
              <a:t>是关键字的长度（即基本关键字的个数）、</a:t>
            </a:r>
            <a:r>
              <a:rPr lang="en-US" altLang="zh-CN" dirty="0"/>
              <a:t>r</a:t>
            </a:r>
            <a:r>
              <a:rPr lang="zh-CN" altLang="en-US" dirty="0"/>
              <a:t>是基数（基本关键字的取值范围大小）、</a:t>
            </a:r>
            <a:r>
              <a:rPr lang="en-US" altLang="zh-CN" dirty="0"/>
              <a:t>n</a:t>
            </a:r>
            <a:r>
              <a:rPr lang="zh-CN" altLang="en-US" dirty="0"/>
              <a:t>是序列长度</a:t>
            </a:r>
            <a:endParaRPr lang="en-US" altLang="zh-CN" dirty="0"/>
          </a:p>
          <a:p>
            <a:pPr lvl="1"/>
            <a:r>
              <a:rPr lang="zh-CN" altLang="en-US" dirty="0"/>
              <a:t>本章唯一一个</a:t>
            </a:r>
            <a:r>
              <a:rPr lang="en-US" altLang="zh-CN" dirty="0"/>
              <a:t>O(n)</a:t>
            </a:r>
            <a:r>
              <a:rPr lang="zh-CN" altLang="en-US" dirty="0"/>
              <a:t>的排序算法（但不是所有情况都能用）</a:t>
            </a:r>
            <a:endParaRPr lang="en-US" altLang="zh-CN" dirty="0"/>
          </a:p>
          <a:p>
            <a:r>
              <a:rPr lang="zh-CN" altLang="en-US" dirty="0"/>
              <a:t>空间复杂度：</a:t>
            </a:r>
            <a:endParaRPr lang="en-US" altLang="zh-CN" dirty="0"/>
          </a:p>
          <a:p>
            <a:pPr lvl="1"/>
            <a:r>
              <a:rPr lang="zh-CN" altLang="en-US" dirty="0"/>
              <a:t>需要</a:t>
            </a:r>
            <a:r>
              <a:rPr lang="en-US" altLang="zh-CN" dirty="0"/>
              <a:t>O(</a:t>
            </a:r>
            <a:r>
              <a:rPr lang="en-US" altLang="zh-CN" dirty="0" err="1"/>
              <a:t>r+n</a:t>
            </a:r>
            <a:r>
              <a:rPr lang="en-US" altLang="zh-CN" dirty="0"/>
              <a:t>)</a:t>
            </a:r>
            <a:r>
              <a:rPr lang="zh-CN" altLang="en-US" dirty="0"/>
              <a:t>的额外空间来实现分配</a:t>
            </a:r>
            <a:r>
              <a:rPr lang="en-US" altLang="zh-CN" dirty="0"/>
              <a:t>-</a:t>
            </a:r>
            <a:r>
              <a:rPr lang="zh-CN" altLang="en-US" dirty="0"/>
              <a:t>收集</a:t>
            </a:r>
            <a:endParaRPr lang="en-US" altLang="zh-CN" dirty="0"/>
          </a:p>
          <a:p>
            <a:r>
              <a:rPr lang="zh-CN" altLang="en-US" dirty="0"/>
              <a:t>实际使用中</a:t>
            </a:r>
            <a:endParaRPr lang="en-US" altLang="zh-CN" dirty="0"/>
          </a:p>
          <a:p>
            <a:pPr lvl="1"/>
            <a:r>
              <a:rPr lang="en-US" altLang="zh-CN" dirty="0"/>
              <a:t>d</a:t>
            </a:r>
            <a:r>
              <a:rPr lang="zh-CN" altLang="en-US" dirty="0"/>
              <a:t>一般取得较小以减小时间复杂度，但相应的</a:t>
            </a:r>
            <a:r>
              <a:rPr lang="en-US" altLang="zh-CN" dirty="0"/>
              <a:t>r</a:t>
            </a:r>
            <a:r>
              <a:rPr lang="zh-CN" altLang="en-US" dirty="0"/>
              <a:t>会增大</a:t>
            </a:r>
            <a:endParaRPr lang="en-US" altLang="zh-CN" dirty="0"/>
          </a:p>
          <a:p>
            <a:pPr lvl="1"/>
            <a:r>
              <a:rPr lang="zh-CN" altLang="en-US" dirty="0"/>
              <a:t>对于浮点数或变长字符串等关键字需要特殊处理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96A8-4E35-4315-9EA2-9A7E2BEE8D7A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9805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内容占位符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317628"/>
              </p:ext>
            </p:extLst>
          </p:nvPr>
        </p:nvGraphicFramePr>
        <p:xfrm>
          <a:off x="431800" y="1037855"/>
          <a:ext cx="8278919" cy="523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0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2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算法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时间复杂度</a:t>
                      </a:r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(</a:t>
                      </a:r>
                      <a:r>
                        <a:rPr lang="zh-CN" altLang="en-US" sz="1800" dirty="0"/>
                        <a:t>平均、最坏</a:t>
                      </a:r>
                      <a:r>
                        <a:rPr lang="en-US" altLang="zh-CN" sz="1800" dirty="0"/>
                        <a:t>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空间复杂度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稳定性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备注</a:t>
                      </a:r>
                    </a:p>
                  </a:txBody>
                  <a:tcPr marL="91827" marR="918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简单选择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O(n</a:t>
                      </a:r>
                      <a:r>
                        <a:rPr lang="en-US" altLang="zh-CN" sz="1800" baseline="30000" dirty="0"/>
                        <a:t>2</a:t>
                      </a:r>
                      <a:r>
                        <a:rPr lang="en-US" altLang="zh-CN" sz="1800" dirty="0"/>
                        <a:t>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O(1)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不一定，与实现方式有关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827" marR="918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冒泡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O(n</a:t>
                      </a:r>
                      <a:r>
                        <a:rPr lang="en-US" altLang="zh-CN" sz="1800" baseline="30000" dirty="0"/>
                        <a:t>2</a:t>
                      </a:r>
                      <a:r>
                        <a:rPr lang="en-US" altLang="zh-CN" sz="1800" dirty="0"/>
                        <a:t>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O(1)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稳定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827" marR="918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简单插入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O(n</a:t>
                      </a:r>
                      <a:r>
                        <a:rPr lang="en-US" altLang="zh-CN" sz="1800" baseline="30000" dirty="0"/>
                        <a:t>2</a:t>
                      </a:r>
                      <a:r>
                        <a:rPr lang="en-US" altLang="zh-CN" sz="1800" dirty="0"/>
                        <a:t>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O(1)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稳定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可改进为折半插入。性能好、常用，也常与快速、归并结合使用</a:t>
                      </a:r>
                    </a:p>
                  </a:txBody>
                  <a:tcPr marL="91827" marR="918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希尔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不确定，与增量有关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O(1)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不稳定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827" marR="918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快速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平均</a:t>
                      </a:r>
                      <a:r>
                        <a:rPr lang="en-US" altLang="zh-CN" sz="1800" dirty="0"/>
                        <a:t>O(</a:t>
                      </a:r>
                      <a:r>
                        <a:rPr lang="en-US" altLang="zh-CN" sz="1800" dirty="0" err="1"/>
                        <a:t>nlogn</a:t>
                      </a:r>
                      <a:r>
                        <a:rPr lang="en-US" altLang="zh-CN" sz="1800" dirty="0"/>
                        <a:t>)</a:t>
                      </a:r>
                    </a:p>
                    <a:p>
                      <a:r>
                        <a:rPr lang="zh-CN" altLang="en-US" sz="1800" dirty="0"/>
                        <a:t>最坏</a:t>
                      </a:r>
                      <a:r>
                        <a:rPr lang="en-US" altLang="zh-CN" sz="1800" dirty="0"/>
                        <a:t>O(n</a:t>
                      </a:r>
                      <a:r>
                        <a:rPr lang="en-US" altLang="zh-CN" sz="1800" baseline="30000" dirty="0"/>
                        <a:t>2</a:t>
                      </a:r>
                      <a:r>
                        <a:rPr lang="en-US" altLang="zh-CN" sz="1800" dirty="0"/>
                        <a:t>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平均</a:t>
                      </a:r>
                      <a:r>
                        <a:rPr lang="en-US" altLang="zh-CN" sz="1800" dirty="0"/>
                        <a:t>O(</a:t>
                      </a:r>
                      <a:r>
                        <a:rPr lang="en-US" altLang="zh-CN" sz="1800" dirty="0" err="1"/>
                        <a:t>logn</a:t>
                      </a:r>
                      <a:r>
                        <a:rPr lang="en-US" altLang="zh-CN" sz="1800" dirty="0"/>
                        <a:t>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不稳定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同类算法中平均最快</a:t>
                      </a:r>
                    </a:p>
                  </a:txBody>
                  <a:tcPr marL="91827" marR="918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堆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</a:t>
                      </a:r>
                      <a:r>
                        <a:rPr lang="en-US" altLang="zh-CN" sz="1800" dirty="0" err="1"/>
                        <a:t>nlogn</a:t>
                      </a:r>
                      <a:r>
                        <a:rPr lang="en-US" altLang="zh-CN" sz="1800" dirty="0"/>
                        <a:t>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O(1)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不稳定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i="1" dirty="0"/>
                        <a:t>优先队列的首选结构</a:t>
                      </a:r>
                    </a:p>
                  </a:txBody>
                  <a:tcPr marL="91827" marR="918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归并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</a:t>
                      </a:r>
                      <a:r>
                        <a:rPr lang="en-US" altLang="zh-CN" sz="1800" dirty="0" err="1"/>
                        <a:t>nlogn</a:t>
                      </a:r>
                      <a:r>
                        <a:rPr lang="en-US" altLang="zh-CN" sz="1800" dirty="0"/>
                        <a:t>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O(n)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稳定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比堆排序快</a:t>
                      </a:r>
                    </a:p>
                  </a:txBody>
                  <a:tcPr marL="91827" marR="918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基数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O(n)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O(n)</a:t>
                      </a:r>
                      <a:endParaRPr lang="zh-CN" altLang="en-US" sz="1800" dirty="0"/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稳定</a:t>
                      </a:r>
                    </a:p>
                  </a:txBody>
                  <a:tcPr marL="91827" marR="91827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827" marR="918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7F9A-0C6D-476B-8F94-A644E954199A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479120" y="30255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各种内部排序方法的比较讨论</a:t>
            </a:r>
          </a:p>
        </p:txBody>
      </p:sp>
    </p:spTree>
    <p:extLst>
      <p:ext uri="{BB962C8B-B14F-4D97-AF65-F5344CB8AC3E}">
        <p14:creationId xmlns:p14="http://schemas.microsoft.com/office/powerpoint/2010/main" val="30008818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相关的</a:t>
            </a:r>
            <a:r>
              <a:rPr lang="en-US" altLang="zh-CN" dirty="0"/>
              <a:t>C/C++</a:t>
            </a:r>
            <a:r>
              <a:rPr lang="zh-CN" altLang="en-US" dirty="0"/>
              <a:t>语言实现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语言</a:t>
            </a:r>
            <a:endParaRPr lang="en-US" altLang="zh-CN" dirty="0"/>
          </a:p>
          <a:p>
            <a:pPr lvl="1"/>
            <a:r>
              <a:rPr lang="zh-CN" altLang="en-US" dirty="0"/>
              <a:t>提供</a:t>
            </a:r>
            <a:r>
              <a:rPr lang="en-US" altLang="zh-CN" dirty="0" err="1"/>
              <a:t>qsort</a:t>
            </a:r>
            <a:r>
              <a:rPr lang="zh-CN" altLang="en-US" dirty="0"/>
              <a:t>函数，一般用快速排序实现，不稳定</a:t>
            </a:r>
            <a:endParaRPr lang="en-US" altLang="zh-CN" dirty="0"/>
          </a:p>
          <a:p>
            <a:r>
              <a:rPr lang="en-US" altLang="zh-CN" i="1" dirty="0"/>
              <a:t>C++</a:t>
            </a:r>
            <a:r>
              <a:rPr lang="zh-CN" altLang="en-US" i="1" dirty="0"/>
              <a:t>语言</a:t>
            </a:r>
            <a:endParaRPr lang="en-US" altLang="zh-CN" i="1" dirty="0"/>
          </a:p>
          <a:p>
            <a:pPr lvl="1"/>
            <a:r>
              <a:rPr lang="zh-CN" altLang="en-US" i="1" dirty="0"/>
              <a:t>提供</a:t>
            </a:r>
            <a:r>
              <a:rPr lang="en-US" altLang="zh-CN" i="1" dirty="0"/>
              <a:t>sort</a:t>
            </a:r>
            <a:r>
              <a:rPr lang="zh-CN" altLang="en-US" i="1" dirty="0"/>
              <a:t>函数，一般用快速排序实现，不稳定</a:t>
            </a:r>
            <a:endParaRPr lang="en-US" altLang="zh-CN" i="1" dirty="0"/>
          </a:p>
          <a:p>
            <a:pPr lvl="1"/>
            <a:r>
              <a:rPr lang="zh-CN" altLang="en-US" i="1" dirty="0"/>
              <a:t>提供</a:t>
            </a:r>
            <a:r>
              <a:rPr lang="en-US" altLang="zh-CN" i="1" dirty="0" err="1"/>
              <a:t>stable_sort</a:t>
            </a:r>
            <a:r>
              <a:rPr lang="zh-CN" altLang="en-US" i="1" dirty="0"/>
              <a:t>函数，一般用归并排序实现，稳定</a:t>
            </a:r>
            <a:endParaRPr lang="en-US" altLang="zh-CN" i="1" dirty="0"/>
          </a:p>
          <a:p>
            <a:pPr lvl="1"/>
            <a:r>
              <a:rPr lang="zh-CN" altLang="en-US" i="1" dirty="0"/>
              <a:t>提供</a:t>
            </a:r>
            <a:r>
              <a:rPr lang="en-US" altLang="zh-CN" i="1" dirty="0" err="1"/>
              <a:t>priority_queue</a:t>
            </a:r>
            <a:r>
              <a:rPr lang="zh-CN" altLang="en-US" i="1" dirty="0"/>
              <a:t>数据结构，即堆</a:t>
            </a:r>
            <a:endParaRPr lang="en-US" altLang="zh-CN" i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12BF-B400-4189-B357-BAFD20D1EA4A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84644" y="5444383"/>
            <a:ext cx="597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http://panthema.net/2013/sound-of-sorting/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41577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排序算法时间复杂度的下界</a:t>
            </a:r>
            <a:endParaRPr lang="en-US" altLang="zh-CN" dirty="0"/>
          </a:p>
          <a:p>
            <a:r>
              <a:rPr lang="zh-CN" altLang="en-US" dirty="0"/>
              <a:t>设一个排序算法只用到关键字的两两比较和元素的移动</a:t>
            </a:r>
            <a:r>
              <a:rPr lang="en-US" altLang="zh-CN" dirty="0"/>
              <a:t>/</a:t>
            </a:r>
            <a:r>
              <a:rPr lang="zh-CN" altLang="en-US" dirty="0"/>
              <a:t>交换操作，则比较操作次数的下界，即算法时间复杂度的下界为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个元素的所有可能的排序结果一共有</a:t>
            </a:r>
            <a:r>
              <a:rPr lang="en-US" altLang="zh-CN" dirty="0"/>
              <a:t>n!</a:t>
            </a:r>
            <a:r>
              <a:rPr lang="zh-CN" altLang="en-US" dirty="0"/>
              <a:t>种，每次两两比较的结果有</a:t>
            </a:r>
            <a:r>
              <a:rPr lang="en-US" altLang="zh-CN" dirty="0"/>
              <a:t>2</a:t>
            </a:r>
            <a:r>
              <a:rPr lang="zh-CN" altLang="en-US" dirty="0"/>
              <a:t>种，根据二叉树的性质，比较次数不少于</a:t>
            </a:r>
            <a:r>
              <a:rPr lang="en-US" altLang="zh-CN" dirty="0"/>
              <a:t>O(log(n!))~O(</a:t>
            </a:r>
            <a:r>
              <a:rPr lang="en-US" altLang="zh-CN" dirty="0" err="1"/>
              <a:t>nlogn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70ED-620D-4E6C-95B8-409EADA41493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3714" y="3183562"/>
            <a:ext cx="6876712" cy="311643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22609" y="2961442"/>
            <a:ext cx="337220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/>
              <a:t>思考：为什么基数排序的复杂度能达到</a:t>
            </a:r>
            <a:r>
              <a:rPr lang="en-US" altLang="zh-CN" sz="2400" dirty="0"/>
              <a:t>O(n)</a:t>
            </a:r>
            <a:r>
              <a:rPr lang="zh-CN" altLang="en-US" sz="2400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00764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本章复习提纲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各种排序算法的运行过程、时空复杂度和稳定性</a:t>
            </a:r>
            <a:endParaRPr lang="en-US" altLang="zh-CN" dirty="0"/>
          </a:p>
          <a:p>
            <a:pPr lvl="1"/>
            <a:r>
              <a:rPr lang="zh-CN" altLang="en-US" dirty="0"/>
              <a:t>简单选择、冒泡、简单插入</a:t>
            </a:r>
            <a:endParaRPr lang="en-US" altLang="zh-CN" dirty="0"/>
          </a:p>
          <a:p>
            <a:pPr lvl="1"/>
            <a:r>
              <a:rPr lang="zh-CN" altLang="en-US" dirty="0"/>
              <a:t>希尔</a:t>
            </a:r>
            <a:endParaRPr lang="en-US" altLang="zh-CN" dirty="0"/>
          </a:p>
          <a:p>
            <a:pPr lvl="1"/>
            <a:r>
              <a:rPr lang="zh-CN" altLang="en-US" dirty="0"/>
              <a:t>快速</a:t>
            </a:r>
            <a:endParaRPr lang="en-US" altLang="zh-CN" dirty="0"/>
          </a:p>
          <a:p>
            <a:pPr lvl="1"/>
            <a:r>
              <a:rPr lang="zh-CN" altLang="en-US" dirty="0"/>
              <a:t>堆</a:t>
            </a:r>
            <a:endParaRPr lang="en-US" altLang="zh-CN" dirty="0"/>
          </a:p>
          <a:p>
            <a:pPr lvl="1"/>
            <a:r>
              <a:rPr lang="zh-CN" altLang="en-US" dirty="0"/>
              <a:t>归并</a:t>
            </a:r>
            <a:endParaRPr lang="en-US" altLang="zh-CN" dirty="0"/>
          </a:p>
          <a:p>
            <a:pPr lvl="1"/>
            <a:r>
              <a:rPr lang="zh-CN" altLang="en-US" dirty="0"/>
              <a:t>基数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AA0F-3E37-421D-BE78-07A9AB43CCF4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4853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8.1 </a:t>
            </a:r>
            <a:r>
              <a:rPr lang="zh-CN" altLang="en-US" dirty="0"/>
              <a:t>手动执行不同排序算法</a:t>
            </a:r>
            <a:endParaRPr lang="en-US" altLang="zh-CN" dirty="0"/>
          </a:p>
          <a:p>
            <a:r>
              <a:rPr lang="en-US" altLang="zh-CN" dirty="0"/>
              <a:t>8.4 Top-k</a:t>
            </a:r>
            <a:r>
              <a:rPr lang="zh-CN" altLang="en-US" dirty="0"/>
              <a:t>问题的最快算法</a:t>
            </a:r>
            <a:endParaRPr lang="en-US" altLang="zh-CN" dirty="0"/>
          </a:p>
          <a:p>
            <a:r>
              <a:rPr lang="en-US" altLang="zh-CN" dirty="0"/>
              <a:t>8.6 </a:t>
            </a:r>
            <a:r>
              <a:rPr lang="zh-CN" altLang="en-US" dirty="0"/>
              <a:t>堆</a:t>
            </a:r>
            <a:endParaRPr lang="en-US" altLang="zh-CN" dirty="0"/>
          </a:p>
          <a:p>
            <a:r>
              <a:rPr lang="en-US" altLang="zh-CN" dirty="0"/>
              <a:t>8.13 (</a:t>
            </a:r>
            <a:r>
              <a:rPr lang="zh-CN" altLang="en-US" dirty="0"/>
              <a:t>荷兰国旗问题</a:t>
            </a:r>
            <a:r>
              <a:rPr lang="en-US" altLang="zh-CN" dirty="0"/>
              <a:t>) </a:t>
            </a:r>
            <a:r>
              <a:rPr lang="zh-CN" altLang="en-US" dirty="0"/>
              <a:t>假设输入序列中仅有三种颜色：</a:t>
            </a:r>
            <a:r>
              <a:rPr lang="en-US" altLang="zh-CN" dirty="0"/>
              <a:t>R(</a:t>
            </a:r>
            <a:r>
              <a:rPr lang="zh-CN" altLang="en-US" dirty="0"/>
              <a:t>红</a:t>
            </a:r>
            <a:r>
              <a:rPr lang="en-US" altLang="zh-CN" dirty="0"/>
              <a:t>), W(</a:t>
            </a:r>
            <a:r>
              <a:rPr lang="zh-CN" altLang="en-US" dirty="0"/>
              <a:t>白</a:t>
            </a:r>
            <a:r>
              <a:rPr lang="en-US" altLang="zh-CN" dirty="0"/>
              <a:t>), B(</a:t>
            </a:r>
            <a:r>
              <a:rPr lang="zh-CN" altLang="en-US" dirty="0"/>
              <a:t>蓝</a:t>
            </a:r>
            <a:r>
              <a:rPr lang="en-US" altLang="zh-CN" dirty="0"/>
              <a:t>)</a:t>
            </a:r>
            <a:r>
              <a:rPr lang="zh-CN" altLang="en-US" dirty="0"/>
              <a:t>，写一个算法将序列按照</a:t>
            </a:r>
            <a:r>
              <a:rPr lang="en-US" altLang="zh-CN" dirty="0"/>
              <a:t>R,W,B</a:t>
            </a:r>
            <a:r>
              <a:rPr lang="zh-CN" altLang="en-US" dirty="0"/>
              <a:t>的顺序排好。例如输入序列是</a:t>
            </a:r>
            <a:r>
              <a:rPr lang="en-US" altLang="zh-CN" dirty="0"/>
              <a:t>RWBBWWRRW</a:t>
            </a:r>
            <a:r>
              <a:rPr lang="zh-CN" altLang="en-US" dirty="0"/>
              <a:t>，输出应为</a:t>
            </a:r>
            <a:r>
              <a:rPr lang="en-US" altLang="zh-CN" dirty="0"/>
              <a:t>RRRWWWWBB</a:t>
            </a:r>
            <a:r>
              <a:rPr lang="zh-CN" altLang="en-US" dirty="0"/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DEF5-ABF0-4ADA-9F46-BCA36957B574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8</a:t>
            </a:r>
            <a:r>
              <a:rPr lang="zh-CN" altLang="en-US"/>
              <a:t>章 排序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573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黑体"/>
        <a:cs typeface=""/>
      </a:majorFont>
      <a:minorFont>
        <a:latin typeface="Courier New"/>
        <a:ea typeface="华文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</TotalTime>
  <Words>6131</Words>
  <Application>Microsoft Office PowerPoint</Application>
  <PresentationFormat>全屏显示(4:3)</PresentationFormat>
  <Paragraphs>949</Paragraphs>
  <Slides>49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5" baseType="lpstr">
      <vt:lpstr>Arial</vt:lpstr>
      <vt:lpstr>Calibri</vt:lpstr>
      <vt:lpstr>Cambria Math</vt:lpstr>
      <vt:lpstr>Consolas</vt:lpstr>
      <vt:lpstr>Courier New</vt:lpstr>
      <vt:lpstr>Office 主题</vt:lpstr>
      <vt:lpstr>《数据结构及其算法》</vt:lpstr>
      <vt:lpstr>第8章 排序</vt:lpstr>
      <vt:lpstr>8.1 排序的基本概念</vt:lpstr>
      <vt:lpstr>PowerPoint 演示文稿</vt:lpstr>
      <vt:lpstr>PowerPoint 演示文稿</vt:lpstr>
      <vt:lpstr>8.2 简单排序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8.3 希尔排序</vt:lpstr>
      <vt:lpstr>PowerPoint 演示文稿</vt:lpstr>
      <vt:lpstr>8.4 快速排序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8.5 堆排序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8.6 归并排序</vt:lpstr>
      <vt:lpstr>PowerPoint 演示文稿</vt:lpstr>
      <vt:lpstr>PowerPoint 演示文稿</vt:lpstr>
      <vt:lpstr>PowerPoint 演示文稿</vt:lpstr>
      <vt:lpstr>8.7 基数排序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本章复习提纲</vt:lpstr>
      <vt:lpstr>作业</vt:lpstr>
    </vt:vector>
  </TitlesOfParts>
  <Company>USTC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Liu</dc:creator>
  <cp:lastModifiedBy>Liu Dong</cp:lastModifiedBy>
  <cp:revision>228</cp:revision>
  <dcterms:created xsi:type="dcterms:W3CDTF">2014-01-23T07:26:01Z</dcterms:created>
  <dcterms:modified xsi:type="dcterms:W3CDTF">2023-11-28T00:44:42Z</dcterms:modified>
</cp:coreProperties>
</file>