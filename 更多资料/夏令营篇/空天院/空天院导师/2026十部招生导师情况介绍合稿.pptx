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1" r:id="rId4"/>
    <p:sldMasterId id="2147483682" r:id="rId5"/>
    <p:sldMasterId id="2147483693" r:id="rId6"/>
    <p:sldMasterId id="2147483704" r:id="rId7"/>
    <p:sldMasterId id="2147483715" r:id="rId8"/>
    <p:sldMasterId id="2147483726" r:id="rId9"/>
    <p:sldMasterId id="2147483737" r:id="rId10"/>
    <p:sldMasterId id="2147483748" r:id="rId11"/>
    <p:sldMasterId id="2147483759" r:id="rId12"/>
    <p:sldMasterId id="2147483770" r:id="rId13"/>
    <p:sldMasterId id="2147483781" r:id="rId14"/>
    <p:sldMasterId id="2147483792" r:id="rId15"/>
    <p:sldMasterId id="2147483803" r:id="rId16"/>
    <p:sldMasterId id="2147483814" r:id="rId17"/>
    <p:sldMasterId id="2147483826" r:id="rId18"/>
    <p:sldMasterId id="2147483838" r:id="rId19"/>
  </p:sldMasterIdLst>
  <p:notesMasterIdLst>
    <p:notesMasterId r:id="rId22"/>
  </p:notesMasterIdLst>
  <p:sldIdLst>
    <p:sldId id="1007" r:id="rId20"/>
    <p:sldId id="1130" r:id="rId21"/>
    <p:sldId id="1146" r:id="rId23"/>
    <p:sldId id="1132" r:id="rId24"/>
    <p:sldId id="1133" r:id="rId25"/>
    <p:sldId id="1134" r:id="rId26"/>
    <p:sldId id="1139" r:id="rId27"/>
    <p:sldId id="1135" r:id="rId28"/>
    <p:sldId id="1145" r:id="rId29"/>
    <p:sldId id="1136" r:id="rId30"/>
    <p:sldId id="1137" r:id="rId31"/>
    <p:sldId id="1142" r:id="rId32"/>
    <p:sldId id="1140" r:id="rId33"/>
    <p:sldId id="1138" r:id="rId34"/>
    <p:sldId id="1143" r:id="rId35"/>
    <p:sldId id="1141" r:id="rId36"/>
    <p:sldId id="1148" r:id="rId37"/>
    <p:sldId id="1150" r:id="rId38"/>
    <p:sldId id="1149" r:id="rId39"/>
  </p:sldIdLst>
  <p:sldSz cx="12192000" cy="6858000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4" userDrawn="1">
          <p15:clr>
            <a:srgbClr val="A4A3A4"/>
          </p15:clr>
        </p15:guide>
        <p15:guide id="2" pos="39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oj" initials="m" lastIdx="7" clrIdx="0"/>
  <p:cmAuthor id="1" name="qin yum" initials="q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479D"/>
    <a:srgbClr val="2D2D8A"/>
    <a:srgbClr val="0084D1"/>
    <a:srgbClr val="0047AA"/>
    <a:srgbClr val="E8E8E6"/>
    <a:srgbClr val="275EA5"/>
    <a:srgbClr val="2794D3"/>
    <a:srgbClr val="0D57AC"/>
    <a:srgbClr val="36A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23" autoAdjust="0"/>
    <p:restoredTop sz="86545"/>
  </p:normalViewPr>
  <p:slideViewPr>
    <p:cSldViewPr snapToGrid="0" showGuides="1">
      <p:cViewPr varScale="1">
        <p:scale>
          <a:sx n="85" d="100"/>
          <a:sy n="85" d="100"/>
        </p:scale>
        <p:origin x="509" y="58"/>
      </p:cViewPr>
      <p:guideLst>
        <p:guide orient="horz" pos="2044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gs" Target="tags/tag89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9.xml"/><Relationship Id="rId38" Type="http://schemas.openxmlformats.org/officeDocument/2006/relationships/slide" Target="slides/slide18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F25A8C7-CC1A-4A08-9B4B-31F43B054C7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434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4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F9E1B693-632D-4080-9CF6-EA28B66DC801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r>
              <a:rPr lang="zh-CN" altLang="en-US" sz="12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lang="zh-CN" altLang="en-US" sz="12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solidFill>
            <a:srgbClr val="1E4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996546" y="6286596"/>
            <a:ext cx="33832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中国科学院空天信息创新研究院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8" name="图片 7" descr="logo-圆形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" y="6079490"/>
            <a:ext cx="575310" cy="57531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9272288" y="6286596"/>
            <a:ext cx="2697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浮空飞行器系统研发中心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375" y="5979795"/>
            <a:ext cx="78740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0" y="2159000"/>
            <a:ext cx="5715000" cy="1382450"/>
          </a:xfrm>
        </p:spPr>
        <p:txBody>
          <a:bodyPr anchor="b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13673"/>
            <a:ext cx="4681654" cy="14281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 fontAlgn="base"/>
            <a:endParaRPr lang="zh-CN" altLang="en-US" strike="noStrike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0" y="2159000"/>
            <a:ext cx="5715000" cy="1382450"/>
          </a:xfrm>
        </p:spPr>
        <p:txBody>
          <a:bodyPr anchor="b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13673"/>
            <a:ext cx="4681654" cy="14281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 fontAlgn="base"/>
            <a:endParaRPr lang="zh-CN" altLang="en-US" strike="noStrike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52401"/>
            <a:ext cx="2743200" cy="5973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52401"/>
            <a:ext cx="8026400" cy="5973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solidFill>
            <a:srgbClr val="1E4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blipFill dpi="0" rotWithShape="1">
            <a:blip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996546" y="6286596"/>
            <a:ext cx="33832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中国科学院空天信息创新研究院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8" name="图片 7" descr="logo-圆形2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421005" y="6079490"/>
            <a:ext cx="575310" cy="57531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9272288" y="6286596"/>
            <a:ext cx="2697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浮空飞行器系统研发中心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588375" y="5979795"/>
            <a:ext cx="78740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solidFill>
            <a:srgbClr val="1E4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 userDrawn="1"/>
        </p:nvSpPr>
        <p:spPr>
          <a:xfrm>
            <a:off x="0" y="5480106"/>
            <a:ext cx="12192000" cy="1377894"/>
          </a:xfrm>
          <a:custGeom>
            <a:avLst/>
            <a:gdLst>
              <a:gd name="connsiteX0" fmla="*/ 12192000 w 12192000"/>
              <a:gd name="connsiteY0" fmla="*/ 0 h 1377894"/>
              <a:gd name="connsiteX1" fmla="*/ 12192000 w 12192000"/>
              <a:gd name="connsiteY1" fmla="*/ 769626 h 1377894"/>
              <a:gd name="connsiteX2" fmla="*/ 12192000 w 12192000"/>
              <a:gd name="connsiteY2" fmla="*/ 1088334 h 1377894"/>
              <a:gd name="connsiteX3" fmla="*/ 12192000 w 12192000"/>
              <a:gd name="connsiteY3" fmla="*/ 1377894 h 1377894"/>
              <a:gd name="connsiteX4" fmla="*/ 0 w 12192000"/>
              <a:gd name="connsiteY4" fmla="*/ 1377894 h 1377894"/>
              <a:gd name="connsiteX5" fmla="*/ 0 w 12192000"/>
              <a:gd name="connsiteY5" fmla="*/ 1088334 h 1377894"/>
              <a:gd name="connsiteX6" fmla="*/ 0 w 12192000"/>
              <a:gd name="connsiteY6" fmla="*/ 769626 h 1377894"/>
              <a:gd name="connsiteX7" fmla="*/ 0 w 12192000"/>
              <a:gd name="connsiteY7" fmla="*/ 1 h 1377894"/>
              <a:gd name="connsiteX8" fmla="*/ 54990 w 12192000"/>
              <a:gd name="connsiteY8" fmla="*/ 35334 h 1377894"/>
              <a:gd name="connsiteX9" fmla="*/ 6096000 w 12192000"/>
              <a:gd name="connsiteY9" fmla="*/ 769626 h 1377894"/>
              <a:gd name="connsiteX10" fmla="*/ 12137010 w 12192000"/>
              <a:gd name="connsiteY10" fmla="*/ 35334 h 137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377894">
                <a:moveTo>
                  <a:pt x="12192000" y="0"/>
                </a:moveTo>
                <a:lnTo>
                  <a:pt x="12192000" y="769626"/>
                </a:lnTo>
                <a:lnTo>
                  <a:pt x="12192000" y="1088334"/>
                </a:lnTo>
                <a:lnTo>
                  <a:pt x="12192000" y="1377894"/>
                </a:lnTo>
                <a:lnTo>
                  <a:pt x="0" y="1377894"/>
                </a:lnTo>
                <a:lnTo>
                  <a:pt x="0" y="1088334"/>
                </a:lnTo>
                <a:lnTo>
                  <a:pt x="0" y="769626"/>
                </a:lnTo>
                <a:lnTo>
                  <a:pt x="0" y="1"/>
                </a:lnTo>
                <a:lnTo>
                  <a:pt x="54990" y="35334"/>
                </a:lnTo>
                <a:cubicBezTo>
                  <a:pt x="855857" y="460746"/>
                  <a:pt x="3257601" y="769626"/>
                  <a:pt x="6096000" y="769626"/>
                </a:cubicBezTo>
                <a:cubicBezTo>
                  <a:pt x="8934400" y="769626"/>
                  <a:pt x="11336144" y="460746"/>
                  <a:pt x="12137010" y="35334"/>
                </a:cubicBezTo>
                <a:close/>
              </a:path>
            </a:pathLst>
          </a:custGeom>
          <a:blipFill dpi="0" rotWithShape="1">
            <a:blip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rgbClr val="ABC83A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996546" y="6286596"/>
            <a:ext cx="33832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中国科学院空天信息创新研究院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8" name="图片 7" descr="logo-圆形2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421005" y="6079490"/>
            <a:ext cx="575310" cy="57531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9272288" y="6286596"/>
            <a:ext cx="2697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lt"/>
              </a:rPr>
              <a:t>浮空飞行器系统研发中心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588375" y="5979795"/>
            <a:ext cx="78740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5" Type="http://schemas.openxmlformats.org/officeDocument/2006/relationships/theme" Target="../theme/theme2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4" Type="http://schemas.openxmlformats.org/officeDocument/2006/relationships/theme" Target="../theme/theme3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4" Type="http://schemas.openxmlformats.org/officeDocument/2006/relationships/theme" Target="../theme/theme4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4" Type="http://schemas.openxmlformats.org/officeDocument/2006/relationships/theme" Target="../theme/theme5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4" Type="http://schemas.openxmlformats.org/officeDocument/2006/relationships/theme" Target="../theme/theme6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.xml"/><Relationship Id="rId8" Type="http://schemas.openxmlformats.org/officeDocument/2006/relationships/slideLayout" Target="../slideLayouts/slideLayout69.xml"/><Relationship Id="rId7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4" Type="http://schemas.openxmlformats.org/officeDocument/2006/relationships/theme" Target="../theme/theme7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62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79.xml"/><Relationship Id="rId7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3.xml"/><Relationship Id="rId14" Type="http://schemas.openxmlformats.org/officeDocument/2006/relationships/theme" Target="../theme/theme8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72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4" Type="http://schemas.openxmlformats.org/officeDocument/2006/relationships/theme" Target="../theme/theme9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82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99.xml"/><Relationship Id="rId7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4" Type="http://schemas.openxmlformats.org/officeDocument/2006/relationships/theme" Target="../theme/theme10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9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3.xml"/><Relationship Id="rId14" Type="http://schemas.openxmlformats.org/officeDocument/2006/relationships/theme" Target="../theme/theme1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3.xml"/><Relationship Id="rId14" Type="http://schemas.openxmlformats.org/officeDocument/2006/relationships/theme" Target="../theme/theme12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4" Type="http://schemas.openxmlformats.org/officeDocument/2006/relationships/theme" Target="../theme/theme13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4" Type="http://schemas.openxmlformats.org/officeDocument/2006/relationships/theme" Target="../theme/theme14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32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3.xml"/><Relationship Id="rId14" Type="http://schemas.openxmlformats.org/officeDocument/2006/relationships/theme" Target="../theme/theme15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42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3.xml"/><Relationship Id="rId13" Type="http://schemas.openxmlformats.org/officeDocument/2006/relationships/theme" Target="../theme/theme16.xml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52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4.xml"/><Relationship Id="rId15" Type="http://schemas.openxmlformats.org/officeDocument/2006/relationships/theme" Target="../theme/theme17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6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75.xml"/><Relationship Id="rId15" Type="http://schemas.openxmlformats.org/officeDocument/2006/relationships/theme" Target="../theme/theme18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2860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fld id="{89B3A63B-59A2-47F8-B002-85C00FCDA68B}" type="datetimeFigureOut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fld id="{12D31DF7-B3F9-499A-A29B-7B58FD994685}" type="slidenum">
              <a:rPr lang="zh-CN" altLang="en-US" strike="noStrike" noProof="1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2860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fld id="{961F20BD-9308-4B4C-A255-D2570869F12E}" type="datetimeFigureOut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>
              <a:defRPr/>
            </a:pPr>
            <a:fld id="{D82946D6-BD47-4353-BBC3-C7219DB5A215}" type="slidenum">
              <a:rPr lang="zh-CN" altLang="en-US" strike="noStrike" noProof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9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43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267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291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315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8659F92-F70B-4AFB-A0CB-3C8E972C8C4F}" type="datetime1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2860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D997B5FA-0921-464F-AAE1-844C04324D75}" type="datetimeFigureOut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fld id="{565CE74E-AB26-4998-AD42-012C4C1AD076}" type="slidenum">
              <a:rPr lang="zh-CN" altLang="en-US" strike="noStrike" noProof="1" smtClean="0">
                <a:solidFill>
                  <a:srgbClr val="FFFFFF">
                    <a:lumMod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lang="zh-CN" altLang="en-US" strike="noStrike" noProof="1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3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64.xml"/><Relationship Id="rId6" Type="http://schemas.openxmlformats.org/officeDocument/2006/relationships/tags" Target="../tags/tag55.xml"/><Relationship Id="rId5" Type="http://schemas.openxmlformats.org/officeDocument/2006/relationships/hyperlink" Target="https://people.ucas.edu.cn/~0041458" TargetMode="External"/><Relationship Id="rId4" Type="http://schemas.openxmlformats.org/officeDocument/2006/relationships/hyperlink" Target="mailto:hwn@aoe.ac.cn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54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57.xml"/><Relationship Id="rId4" Type="http://schemas.openxmlformats.org/officeDocument/2006/relationships/hyperlink" Target="https://people.ucas.ac.cn/~spins" TargetMode="External"/><Relationship Id="rId3" Type="http://schemas.openxmlformats.org/officeDocument/2006/relationships/hyperlink" Target="mailto:xugn@aircas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5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59.xml"/><Relationship Id="rId4" Type="http://schemas.openxmlformats.org/officeDocument/2006/relationships/hyperlink" Target="https://people.ucas.edu.cn/~zhoufma" TargetMode="Externa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5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64.xml"/><Relationship Id="rId4" Type="http://schemas.openxmlformats.org/officeDocument/2006/relationships/tags" Target="../tags/tag61.xml"/><Relationship Id="rId3" Type="http://schemas.openxmlformats.org/officeDocument/2006/relationships/hyperlink" Target="https://people.ucas.edu.cn/~0053132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63.xml"/><Relationship Id="rId4" Type="http://schemas.openxmlformats.org/officeDocument/2006/relationships/hyperlink" Target="https://people.ucas.edu.cn/~0064871" TargetMode="Externa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65.xml"/><Relationship Id="rId4" Type="http://schemas.openxmlformats.org/officeDocument/2006/relationships/hyperlink" Target="https://people.ucas.ac.cn/~0064870" TargetMode="External"/><Relationship Id="rId3" Type="http://schemas.openxmlformats.org/officeDocument/2006/relationships/hyperlink" Target="mailto:zqhe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64.xml"/><Relationship Id="rId4" Type="http://schemas.openxmlformats.org/officeDocument/2006/relationships/tags" Target="../tags/tag67.xml"/><Relationship Id="rId3" Type="http://schemas.openxmlformats.org/officeDocument/2006/relationships/hyperlink" Target="mailto:zhangxq@aircas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6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69.xml"/><Relationship Id="rId4" Type="http://schemas.openxmlformats.org/officeDocument/2006/relationships/hyperlink" Target="https://people.ucas.ac.cn/~spins" TargetMode="Externa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6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71.xml"/><Relationship Id="rId4" Type="http://schemas.openxmlformats.org/officeDocument/2006/relationships/hyperlink" Target="https://people.ucas.ac.cn/~0041460?language=en" TargetMode="Externa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73.xml"/><Relationship Id="rId4" Type="http://schemas.openxmlformats.org/officeDocument/2006/relationships/hyperlink" Target="https://people.ucas.edu.cn/~xuwenkuan" TargetMode="Externa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75.xml"/><Relationship Id="rId4" Type="http://schemas.openxmlformats.org/officeDocument/2006/relationships/hyperlink" Target="mailto:hwn@aoe.ac.cn" TargetMode="External"/><Relationship Id="rId3" Type="http://schemas.openxmlformats.org/officeDocument/2006/relationships/hyperlink" Target="mailto:zhangdh@aircas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77.xml"/><Relationship Id="rId4" Type="http://schemas.openxmlformats.org/officeDocument/2006/relationships/hyperlink" Target="https://people.ucas.ac.cn/~0071002" TargetMode="External"/><Relationship Id="rId3" Type="http://schemas.openxmlformats.org/officeDocument/2006/relationships/hyperlink" Target="mailto:liuqiang1001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64.xml"/><Relationship Id="rId4" Type="http://schemas.openxmlformats.org/officeDocument/2006/relationships/tags" Target="../tags/tag79.xml"/><Relationship Id="rId3" Type="http://schemas.openxmlformats.org/officeDocument/2006/relationships/hyperlink" Target="mailto:nieying@aircas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64.xml"/><Relationship Id="rId3" Type="http://schemas.openxmlformats.org/officeDocument/2006/relationships/tags" Target="../tags/tag80.xml"/><Relationship Id="rId2" Type="http://schemas.openxmlformats.org/officeDocument/2006/relationships/hyperlink" Target="https://people.ucas.ac.cn/~0053134" TargetMode="Externa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82.xml"/><Relationship Id="rId4" Type="http://schemas.openxmlformats.org/officeDocument/2006/relationships/hyperlink" Target="http://www.people.ucas.edu.cn/~zyl-aircas" TargetMode="External"/><Relationship Id="rId3" Type="http://schemas.openxmlformats.org/officeDocument/2006/relationships/hyperlink" Target="mailto:zhangyanlei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8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75.xml"/><Relationship Id="rId5" Type="http://schemas.openxmlformats.org/officeDocument/2006/relationships/tags" Target="../tags/tag84.xml"/><Relationship Id="rId4" Type="http://schemas.openxmlformats.org/officeDocument/2006/relationships/hyperlink" Target="http://www.people.ucas.edu.cn/~zyl-aircas" TargetMode="External"/><Relationship Id="rId3" Type="http://schemas.openxmlformats.org/officeDocument/2006/relationships/hyperlink" Target="mailto:zhangyanlei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75.xml"/><Relationship Id="rId5" Type="http://schemas.openxmlformats.org/officeDocument/2006/relationships/tags" Target="../tags/tag86.xml"/><Relationship Id="rId4" Type="http://schemas.openxmlformats.org/officeDocument/2006/relationships/hyperlink" Target="http://www.people.ucas.edu.cn/~zyl-aircas" TargetMode="External"/><Relationship Id="rId3" Type="http://schemas.openxmlformats.org/officeDocument/2006/relationships/hyperlink" Target="mailto:zhangyanlei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85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75.xml"/><Relationship Id="rId4" Type="http://schemas.openxmlformats.org/officeDocument/2006/relationships/tags" Target="../tags/tag88.xml"/><Relationship Id="rId3" Type="http://schemas.openxmlformats.org/officeDocument/2006/relationships/hyperlink" Target="mailto:hwn@aoe.ac.cn" TargetMode="External"/><Relationship Id="rId2" Type="http://schemas.openxmlformats.org/officeDocument/2006/relationships/image" Target="../media/image7.png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 txBox="1"/>
          <p:nvPr/>
        </p:nvSpPr>
        <p:spPr bwMode="auto">
          <a:xfrm>
            <a:off x="1214755" y="1485265"/>
            <a:ext cx="9904730" cy="131889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algn="ctr" defTabSz="9144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十部招生导师介绍</a:t>
            </a:r>
            <a:endParaRPr kumimoji="0" lang="zh-CN" altLang="en-US" sz="5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3" name="标题 1"/>
          <p:cNvSpPr txBox="1"/>
          <p:nvPr/>
        </p:nvSpPr>
        <p:spPr bwMode="auto">
          <a:xfrm>
            <a:off x="2280920" y="576707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202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标题 1"/>
          <p:cNvSpPr txBox="1"/>
          <p:nvPr>
            <p:custDataLst>
              <p:tags r:id="rId2"/>
            </p:custDataLst>
          </p:nvPr>
        </p:nvSpPr>
        <p:spPr bwMode="auto">
          <a:xfrm>
            <a:off x="2027555" y="4995545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68650" y="3091815"/>
            <a:ext cx="7215505" cy="58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2D2D8A"/>
                </a:solidFill>
              </a:rPr>
              <a:t>浮空器研究发展中心（</a:t>
            </a:r>
            <a:r>
              <a:rPr lang="zh-CN" altLang="en-US" sz="2400" b="1" dirty="0">
                <a:solidFill>
                  <a:srgbClr val="2D2D8A"/>
                </a:solidFill>
                <a:sym typeface="+mn-ea"/>
              </a:rPr>
              <a:t>十部</a:t>
            </a:r>
            <a:r>
              <a:rPr lang="en-US" altLang="zh-CN" sz="2400" b="1" dirty="0">
                <a:solidFill>
                  <a:srgbClr val="2D2D8A"/>
                </a:solidFill>
                <a:sym typeface="+mn-ea"/>
              </a:rPr>
              <a:t>&amp;36</a:t>
            </a:r>
            <a:r>
              <a:rPr lang="zh-CN" altLang="en-US" sz="2400" b="1" dirty="0">
                <a:solidFill>
                  <a:srgbClr val="2D2D8A"/>
                </a:solidFill>
                <a:sym typeface="+mn-ea"/>
              </a:rPr>
              <a:t>室</a:t>
            </a:r>
            <a:r>
              <a:rPr lang="zh-CN" altLang="en-US" sz="2400" b="1" dirty="0">
                <a:solidFill>
                  <a:srgbClr val="2D2D8A"/>
                </a:solidFill>
              </a:rPr>
              <a:t>）</a:t>
            </a:r>
            <a:r>
              <a:rPr lang="en-US" altLang="zh-CN" sz="2400" b="1" dirty="0">
                <a:solidFill>
                  <a:srgbClr val="2D2D8A"/>
                </a:solidFill>
              </a:rPr>
              <a:t>-</a:t>
            </a:r>
            <a:r>
              <a:rPr lang="zh-CN" altLang="en-US" sz="2400" b="1" dirty="0">
                <a:solidFill>
                  <a:srgbClr val="2D2D8A"/>
                </a:solidFill>
              </a:rPr>
              <a:t>北京</a:t>
            </a:r>
            <a:endParaRPr lang="zh-CN" altLang="en-US" sz="2400" b="1" dirty="0">
              <a:solidFill>
                <a:srgbClr val="2D2D8A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7000"/>
          </a:blip>
          <a:srcRect/>
          <a:stretch>
            <a:fillRect l="16000" t="16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博</a:t>
            </a:r>
            <a:r>
              <a:rPr lang="zh-CN" altLang="en-US" sz="3600" b="1">
                <a:ln>
                  <a:noFill/>
                </a:ln>
                <a:solidFill>
                  <a:schemeClr val="bg1"/>
                </a:solidFill>
              </a:rPr>
              <a:t>士生</a:t>
            </a:r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导师：</a:t>
            </a:r>
            <a:r>
              <a:rPr lang="zh-CN" altLang="en-US" sz="3600" b="1" dirty="0">
                <a:solidFill>
                  <a:schemeClr val="bg1"/>
                </a:solidFill>
              </a:rPr>
              <a:t>杨燕初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6" y="2036762"/>
            <a:ext cx="11461862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：主任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研究员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yangyanchu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4"/>
              </a:rPr>
              <a:t>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44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、飞行器多学科优化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、工程力学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、飞行器结构设计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CAD/CAE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、国家重点工程：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浮空器研制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临空计量外场试验验证与应用示范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、先导专项：重载浮空器研制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5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6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博士</a:t>
            </a:r>
            <a:r>
              <a:rPr lang="zh-CN" altLang="en-US" sz="3600" b="1" dirty="0">
                <a:solidFill>
                  <a:schemeClr val="bg1"/>
                </a:solidFill>
              </a:rPr>
              <a:t>生</a:t>
            </a:r>
            <a:r>
              <a:rPr lang="en-US" altLang="zh-CN" sz="3600" b="1" dirty="0">
                <a:solidFill>
                  <a:schemeClr val="bg1"/>
                </a:solidFill>
              </a:rPr>
              <a:t>/</a:t>
            </a:r>
            <a:r>
              <a:rPr lang="zh-CN" altLang="en-US" sz="3600" b="1" dirty="0">
                <a:solidFill>
                  <a:schemeClr val="bg1"/>
                </a:solidFill>
              </a:rPr>
              <a:t>硕士生</a:t>
            </a:r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导师：徐国宁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5192134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6" y="2036762"/>
            <a:ext cx="11130168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：副主任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研究员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xugn@aircas.ac.cn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46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：电子信息工程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电力电子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、临近空间飞行器能源管理技术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、空天柔性电子技术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、近场和远场无线能量传输技术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、国家项目：临近空间分布式高效能源管理电源研究    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、国家项目：空天柔性发电储能电子技术              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、中科院重点部署项目：临近空间综合能源系统        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、自然基金：极端环境下无线输能传输特性和充电稳定研究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博</a:t>
            </a:r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士生导师：周江华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：研究员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zhoujh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电子信息工程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、浮空飞行器动力学与控制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、浮空飞行器飞行仿真与任务规划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、浮空器测控技术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、国家重大工程：平流层飞艇平台研制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飞控分系统负责人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、国家自然科学基金重大仪器项目：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平流层浮空器超压监测与调控仪研制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博</a:t>
            </a:r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士生导师：张泰华（</a:t>
            </a:r>
            <a:r>
              <a:rPr lang="en-US" altLang="zh-CN" sz="3600" b="1" dirty="0">
                <a:ln>
                  <a:noFill/>
                </a:ln>
                <a:solidFill>
                  <a:schemeClr val="bg1"/>
                </a:solidFill>
              </a:rPr>
              <a:t>36</a:t>
            </a:r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室）</a:t>
            </a:r>
            <a:endParaRPr lang="zh-CN" altLang="en-US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正高级工程师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zhangth@aoe.ac.cn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44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、浮空器总体设计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、浮空器结构力学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、浮空器发放动力学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、中国科学院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类先导：丝路环境专项极目计划系留气球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en-US" altLang="zh-CN" sz="20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、科技部专项：第二次青藏高原综合考察研究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子专题负责人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临近空间浮空器状态感知和环境探测传感器及应用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3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4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博士生导师：苗景刚</a:t>
            </a:r>
            <a:endParaRPr lang="zh-CN" altLang="en-US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：正高级工程师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miaojg@aircas.ac.cn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电子信息工程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、飞行器动力学、控制与仿真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、飞行器智能控制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、飞行指挥、控制与数字化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、国家高分专项：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平流层飞艇技术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副总设计师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、科技部重点研发项目：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临近空间飞行试验验证与应用示范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、中科院先导专项：超压浮空器持久驻空飞行轨迹主动控制技术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硕士生导师：何泽青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5558" y="1906905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：正高级工程师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zqhe@aoe.ac.cn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45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、浮空器总体设计与仿真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、飞行器结构设计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、飞行器动力学研究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、国家科技重大专项：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极目二号浮空艇平台研制    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、中科院先导专项：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浮空器安全回收技术与气球平台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、中科院先导专项：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极目计划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系留气球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中科院先导专项：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第二次青藏科考水汽观测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Ⅰ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型系留气球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4168346" y="1168183"/>
            <a:ext cx="7695993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hlinkClick r:id="rId4"/>
              </a:rPr>
              <a:t>https://people.ucas.ac.cn/~0064870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硕士生导师：张向强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：研究员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zhangxq@aircas.ac.cn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、平流层飞艇总体设计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、平流层飞艇空气动力学分析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、浮空器流固耦合分析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、国家重大工程：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平流层飞艇研制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副总师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、国家重大工程：超压浮空器研制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总师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中科院先导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：平流层动力浮空器研制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硕士生导师：黄宛宁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5080000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1988636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hwn@aoe.ac.cn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46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：电子信息工程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自动化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通信工程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、空间信息网络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、多浮空器组网通信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、浮空器测控通信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临近空间浮空器状态感知和环境探测传感器及应用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、国家自然科学基金重点项目：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海洋立体空间信道中的激光通信控制关键技术研究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、企业委托项目：基于系留气球的高空信号发射试验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、国家自然科学基金重大项目：空间信息网络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高速通信关键技术集成演示验证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硕士生导师：王保成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6" y="2036762"/>
            <a:ext cx="11349354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：副研究员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u="sng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wangbc@aircas</a:t>
            </a:r>
            <a:r>
              <a:rPr lang="en-US" altLang="zh-CN" sz="2400" b="1" u="sng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.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计算机应用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电子信息工程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、电子学设计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、嵌入式系统设计和研究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、浮空器飞控系统设计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临近空间区域驻留可控飞行技术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</a:t>
            </a:r>
            <a:r>
              <a:rPr lang="zh-CN" altLang="en-US" sz="3600" b="1" dirty="0">
                <a:solidFill>
                  <a:schemeClr val="bg1"/>
                </a:solidFill>
              </a:rPr>
              <a:t>徐文宽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xuwk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44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电子信息工程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、航空电子技术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、飞行器遥测遥控技术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、浮空器测试技术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、先导科技专项：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临近空间浮空器多地协同试验技术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、先导科技专项：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平流层飞艇囊体应变在线监测技术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、重大科技专项：平流层飞艇总体设计测控分系统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4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</a:t>
            </a:r>
            <a:r>
              <a:rPr lang="zh-CN" altLang="en-US" sz="3600" b="1">
                <a:ln>
                  <a:noFill/>
                </a:ln>
                <a:solidFill>
                  <a:schemeClr val="bg1"/>
                </a:solidFill>
              </a:rPr>
              <a:t>导师：</a:t>
            </a:r>
            <a:r>
              <a:rPr lang="zh-CN" altLang="en-US" sz="3600" b="1">
                <a:solidFill>
                  <a:schemeClr val="bg1"/>
                </a:solidFill>
              </a:rPr>
              <a:t>张冬辉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1"/>
            <a:ext cx="12151861" cy="42129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zhangdh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4"/>
              </a:rPr>
              <a:t>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40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机械工程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机械电子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、特种浮空器研究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、浮空器发放技术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、浮空器自动化设备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多型浮空器球体匹配测试与临近空间飞行试验组织实施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、国家部委项目：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放飞场配套设施研制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、院颠覆性项目：临近空间串联浮空器昼夜自平衡飞行系统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硕士生导师：刘强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5122209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1"/>
            <a:ext cx="11349354" cy="46437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：副研究员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liuqiang1001@aoe.ac.cn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人机与环境工程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工程热物理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、浮空飞行器热动力学特性设计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、浮空飞行器总体设计与应用</a:t>
            </a:r>
            <a:endParaRPr lang="zh-CN" altLang="en-US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平流层空间辐射基准传递演示验证系统高空气球平台研制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、国家自然科学基金重点项目：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热力耦合影响下的浮空器综合优化研究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、国家自然科学基金青年项目：平流层飞艇升空过程结冰特性研究，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、中国科学院战略先导专项：重载浮空器研制与试验技术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、中国科学院人才项目：中国科学院青年创新促进会  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项目负责人</a:t>
            </a:r>
            <a:endParaRPr lang="zh-CN" altLang="en-US" sz="20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>
            <a:hlinkClick r:id="rId4"/>
          </p:cNvPr>
          <p:cNvSpPr/>
          <p:nvPr/>
        </p:nvSpPr>
        <p:spPr>
          <a:xfrm>
            <a:off x="8439150" y="1168183"/>
            <a:ext cx="3425189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hlinkClick r:id="rId4"/>
              </a:rPr>
              <a:t>刘强</a:t>
            </a:r>
            <a:r>
              <a:rPr lang="en-US" altLang="zh-CN" sz="1600" b="1" dirty="0">
                <a:hlinkClick r:id="rId4"/>
              </a:rPr>
              <a:t>-</a:t>
            </a:r>
            <a:r>
              <a:rPr lang="zh-CN" altLang="en-US" sz="1600" b="1" dirty="0">
                <a:hlinkClick r:id="rId4"/>
              </a:rPr>
              <a:t>中国科学院大学</a:t>
            </a:r>
            <a:r>
              <a:rPr lang="en-US" altLang="zh-CN" sz="1600" b="1" dirty="0">
                <a:hlinkClick r:id="rId4"/>
              </a:rPr>
              <a:t>-UCAS</a:t>
            </a:r>
            <a:endParaRPr lang="zh-CN" altLang="en-US" sz="16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硕士生导师：聂营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1"/>
            <a:ext cx="12151861" cy="46917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 err="1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nieying@aircas.ac.cn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、平流层飞艇电动推进技术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、浮空器刚柔耦合结构动力学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、国家重大专项：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平流层飞艇研制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推进系统负责人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、国家重大专项：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基于浮空平台的雷达接收系统演示验证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、国家重点研发计划：基于临近空间浮空器的森林火灾监测平台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、中国科学院前瞻战略科技先导专项：动力浮</a:t>
            </a:r>
            <a:r>
              <a:rPr lang="zh-CN" altLang="en-US" sz="2000" b="1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空器研制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与试验技术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硕士生导师：李琛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 w="127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/>
          <p:nvPr/>
        </p:nvSpPr>
        <p:spPr>
          <a:xfrm>
            <a:off x="953402" y="2030596"/>
            <a:ext cx="12151861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：lichen@aircas.ac.cn 年龄：</a:t>
            </a:r>
            <a:r>
              <a:rPr lang="en-US" altLang="zh-CN" sz="2400" b="1" dirty="0">
                <a:solidFill>
                  <a:srgbClr val="00479D"/>
                </a:solidFill>
                <a:sym typeface="+mn-ea"/>
              </a:rPr>
              <a:t>46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：光学工程</a:t>
            </a:r>
            <a:r>
              <a:rPr lang="en-US" altLang="zh-CN" sz="2400" b="1" dirty="0">
                <a:solidFill>
                  <a:srgbClr val="00479D"/>
                </a:solidFill>
                <a:sym typeface="+mn-ea"/>
              </a:rPr>
              <a:t>/精密仪器及机械</a:t>
            </a:r>
            <a:endParaRPr lang="en-US" altLang="zh-CN" sz="2400" b="1" dirty="0">
              <a:solidFill>
                <a:srgbClr val="00479D"/>
              </a:solidFill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、测试集成标准化</a:t>
            </a:r>
            <a:endParaRPr lang="en-US" altLang="zh-CN" sz="2400" b="1" dirty="0">
              <a:solidFill>
                <a:srgbClr val="00479D"/>
              </a:solidFill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                      </a:t>
            </a:r>
            <a:r>
              <a:rPr lang="en-US" altLang="zh-CN" sz="2400" b="1" dirty="0">
                <a:solidFill>
                  <a:srgbClr val="00479D"/>
                </a:solidFill>
                <a:sym typeface="+mn-ea"/>
              </a:rPr>
              <a:t>2、光纤传感技术</a:t>
            </a:r>
            <a:endParaRPr lang="en-US" altLang="zh-CN" sz="2400" b="1" dirty="0">
              <a:solidFill>
                <a:srgbClr val="00479D"/>
              </a:solidFill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ea typeface="黑体" panose="02010609060101010101" pitchFamily="49" charset="-122"/>
              </a:rPr>
              <a:t>临近空间浮空器状态感知和环境探测传感器及应用 </a:t>
            </a:r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8791574" y="1168183"/>
            <a:ext cx="3072765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hlinkClick r:id="rId2"/>
              </a:rPr>
              <a:t>详细信息链接</a:t>
            </a:r>
            <a:endParaRPr lang="zh-CN" altLang="en-US" sz="2800" b="1" dirty="0"/>
          </a:p>
        </p:txBody>
      </p:sp>
    </p:spTree>
    <p:custDataLst>
      <p:tags r:id="rId3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</a:t>
            </a:r>
            <a:r>
              <a:rPr lang="zh-CN" altLang="en-US" sz="3600" b="1" dirty="0">
                <a:solidFill>
                  <a:schemeClr val="bg1"/>
                </a:solidFill>
              </a:rPr>
              <a:t>张衍垒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1401847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zhangyanlei@aoe.ac.cn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电气工程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工程热物理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、临近空间飞行器能源系统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、计算机应用技术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、临近空间飞行器环境工程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、国家任务：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临空飞艇总体技术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能源分系统主任设计师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类先导专项：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临近空间飞行器外场试验保障技术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、国家自然科学基金：长航时平流层飞艇光伏能源系统能量平衡机理与模型研究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3640667" y="1168183"/>
            <a:ext cx="8223673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hlinkClick r:id="rId4"/>
              </a:rPr>
              <a:t>www.people.ucas.edu.cn/~zyl-aircas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</a:t>
            </a:r>
            <a:r>
              <a:rPr lang="zh-CN" altLang="en-US" sz="3600" b="1" dirty="0" smtClean="0">
                <a:ln>
                  <a:noFill/>
                </a:ln>
                <a:solidFill>
                  <a:schemeClr val="bg1"/>
                </a:solidFill>
                <a:sym typeface="+mn-ea"/>
              </a:rPr>
              <a:t>祝榕辰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1401847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zhurc@aircas.ac.cn</a:t>
            </a:r>
            <a:r>
              <a:rPr lang="en-US" altLang="zh-CN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41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机械工程</a:t>
            </a:r>
            <a:r>
              <a:rPr lang="en-US" altLang="zh-CN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工程力学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、浮空器平台设计与仿真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、结构设计与力学分析</a:t>
            </a:r>
            <a:endParaRPr lang="en-US" altLang="zh-CN" sz="2400" b="1" dirty="0" smtClean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 smtClean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平流层空间辐射基准传递演示验证系统高空气球平台研制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、中国科学院先导专项</a:t>
            </a:r>
            <a:r>
              <a:rPr lang="zh-CN" altLang="en-US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：超压浮空器研制与试验</a:t>
            </a:r>
            <a:r>
              <a:rPr lang="zh-CN" altLang="en-US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中国科学院人才项目</a:t>
            </a:r>
            <a:r>
              <a:rPr lang="zh-CN" altLang="en-US" sz="2000" b="1" dirty="0" smtClean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：技术支撑人才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3693372" y="1168183"/>
            <a:ext cx="8223673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ym typeface="+mn-ea"/>
                <a:hlinkClick r:id="rId4"/>
              </a:rPr>
              <a:t>www.people.ucas.edu.cn/~</a:t>
            </a:r>
            <a:r>
              <a:rPr lang="en-US" altLang="zh-CN" sz="2800" b="1" dirty="0" smtClean="0">
                <a:sym typeface="+mn-ea"/>
                <a:hlinkClick r:id="rId4"/>
              </a:rPr>
              <a:t>zhurc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</a:t>
            </a:r>
            <a:r>
              <a:rPr lang="zh-CN" altLang="en-US" sz="3600" b="1" dirty="0">
                <a:solidFill>
                  <a:schemeClr val="bg1"/>
                </a:solidFill>
                <a:sym typeface="+mn-ea"/>
              </a:rPr>
              <a:t>杜晓伟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1401847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：高工      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duxw@aircas.ac.cn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电气工程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、浮空飞行器能源系统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、计算机应用技术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、电池管理技术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类先导专项：基于系留气球平台的示范区遥感数据获取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类先导专项：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临近空间大功率电能快速存储技术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、中科院重点部署科研专项项目：能源系统架构设计及能源管理器研制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课题负责人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3640667" y="1071028"/>
            <a:ext cx="8223673" cy="703580"/>
          </a:xfrm>
          <a:prstGeom prst="hexagon">
            <a:avLst/>
          </a:prstGeom>
          <a:gradFill>
            <a:gsLst>
              <a:gs pos="98000">
                <a:schemeClr val="bg1"/>
              </a:gs>
              <a:gs pos="10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  <a:hlinkClick r:id="rId4"/>
              </a:rPr>
              <a:t>www.people.ucas.edu.cn/~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duxiaowei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128" y="3175"/>
            <a:ext cx="12192000" cy="1077913"/>
          </a:xfrm>
          <a:prstGeom prst="rect">
            <a:avLst/>
          </a:prstGeom>
          <a:gradFill rotWithShape="1">
            <a:gsLst>
              <a:gs pos="0">
                <a:srgbClr val="00A0E9"/>
              </a:gs>
              <a:gs pos="61000">
                <a:srgbClr val="00479D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0475" y="219710"/>
            <a:ext cx="59488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>
                  <a:noFill/>
                </a:ln>
                <a:solidFill>
                  <a:schemeClr val="bg1"/>
                </a:solidFill>
              </a:rPr>
              <a:t>硕士生导师：</a:t>
            </a:r>
            <a:r>
              <a:rPr lang="zh-CN" altLang="en-US" sz="3600" b="1">
                <a:ln>
                  <a:noFill/>
                </a:ln>
                <a:solidFill>
                  <a:schemeClr val="bg1"/>
                </a:solidFill>
                <a:sym typeface="+mn-ea"/>
              </a:rPr>
              <a:t>乔涛</a:t>
            </a:r>
            <a:endParaRPr lang="zh-CN" sz="3600" b="1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35" t="2802" r="3604" b="3292"/>
          <a:stretch>
            <a:fillRect/>
          </a:stretch>
        </p:blipFill>
        <p:spPr>
          <a:xfrm>
            <a:off x="24765" y="31115"/>
            <a:ext cx="1039495" cy="1036320"/>
          </a:xfrm>
          <a:prstGeom prst="ellipse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4985" y="1558290"/>
            <a:ext cx="11349355" cy="4909887"/>
          </a:xfrm>
          <a:prstGeom prst="rect">
            <a:avLst/>
          </a:prstGeom>
          <a:noFill/>
          <a:ln>
            <a:gradFill>
              <a:gsLst>
                <a:gs pos="50000">
                  <a:srgbClr val="97C8E1"/>
                </a:gs>
                <a:gs pos="0">
                  <a:srgbClr val="BADAEB"/>
                </a:gs>
                <a:gs pos="100000">
                  <a:srgbClr val="74B5D6"/>
                </a:gs>
              </a:gsLst>
              <a:lin ang="54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六边形 7"/>
          <p:cNvSpPr/>
          <p:nvPr/>
        </p:nvSpPr>
        <p:spPr>
          <a:xfrm>
            <a:off x="514985" y="1210945"/>
            <a:ext cx="1896110" cy="703580"/>
          </a:xfrm>
          <a:prstGeom prst="hexagon">
            <a:avLst/>
          </a:prstGeom>
          <a:gradFill>
            <a:gsLst>
              <a:gs pos="50000">
                <a:srgbClr val="00A0E9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rgbClr val="00479D"/>
              </a:gs>
            </a:gsLst>
            <a:lin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679450" y="1297940"/>
            <a:ext cx="9843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</a:t>
            </a:r>
            <a:r>
              <a:rPr lang="zh-CN" sz="2800" b="1" dirty="0">
                <a:solidFill>
                  <a:schemeClr val="bg1"/>
                </a:solidFill>
              </a:rPr>
              <a:t>情况</a:t>
            </a:r>
            <a:endParaRPr lang="zh-CN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985" y="2036762"/>
            <a:ext cx="11401847" cy="40232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职务</a:t>
            </a:r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职称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：高级工程师   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联系方式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u="sng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qiaotao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  <a:hlinkClick r:id="rId3"/>
              </a:rPr>
              <a:t>@aircas.ac.cn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岁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招生专业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：飞行器设计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机械设计及理论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研究方向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、浮空器稳定性研究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、浮空器发放技术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ts val="3600"/>
              </a:lnSpc>
            </a:pP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</a:t>
            </a:r>
            <a:r>
              <a:rPr lang="en-US" altLang="zh-CN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、浮空器自动化设备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承担主要项目情况</a:t>
            </a:r>
            <a:r>
              <a:rPr lang="zh-CN" altLang="en-US" sz="24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endParaRPr lang="en-US" altLang="zh-CN" sz="2400" b="1" dirty="0">
              <a:solidFill>
                <a:srgbClr val="00479D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、国家重点研发计划：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空地协同区域导航增强系统浮空器搭载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子课题负责人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、国家科技重大专项：极目二号浮空艇平台研制</a:t>
            </a: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锚泊分系统负责人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479D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、院颠覆性项目：临近空间浮空器氢气替代关键技术研究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项目负责人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5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8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9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0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2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3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4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5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6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7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18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9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0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2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3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4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25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6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7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28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9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0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3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34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5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6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37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8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9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0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2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3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4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5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7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8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9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50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5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SPECIAL_SOURCE" val="bdnull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  <p:tag name="KSO_WM_SPECIAL_SOURCE" val="bdnull"/>
</p:tagLst>
</file>

<file path=ppt/tags/tag89.xml><?xml version="1.0" encoding="utf-8"?>
<p:tagLst xmlns:p="http://schemas.openxmlformats.org/presentationml/2006/main">
  <p:tag name="KSO_DOCER_TEMPLATE_OPEN_ONCE_MARK" val="1"/>
  <p:tag name="COMMONDATA" val="eyJoZGlkIjoiMTEwNGU5YzliOWMyNTNlMjk5NGYxYWEyNGQ3YjhkODQifQ=="/>
  <p:tag name="KSO_WPP_MARK_KEY" val="7ce333d5-7e45-4600-a99f-8b08a0e1ebea"/>
</p:tagLst>
</file>

<file path=ppt/theme/theme1.xml><?xml version="1.0" encoding="utf-8"?>
<a:theme xmlns:a="http://schemas.openxmlformats.org/drawingml/2006/main" name="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3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4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6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7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0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1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2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3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4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5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6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4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4693</Words>
  <Application>WPS 演示</Application>
  <PresentationFormat>宽屏</PresentationFormat>
  <Paragraphs>287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19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黑体</vt:lpstr>
      <vt:lpstr>华文中宋</vt:lpstr>
      <vt:lpstr>Wingdings</vt:lpstr>
      <vt:lpstr>Calibri</vt:lpstr>
      <vt:lpstr>Times New Roman</vt:lpstr>
      <vt:lpstr>Arial Unicode MS</vt:lpstr>
      <vt:lpstr>Office 主题</vt:lpstr>
      <vt:lpstr>1_Office 主题</vt:lpstr>
      <vt:lpstr>10_Office 主题</vt:lpstr>
      <vt:lpstr>13_Office 主题</vt:lpstr>
      <vt:lpstr>24_Office 主题</vt:lpstr>
      <vt:lpstr>26_Office 主题</vt:lpstr>
      <vt:lpstr>27_Office 主题</vt:lpstr>
      <vt:lpstr>30_Office 主题</vt:lpstr>
      <vt:lpstr>31_Office 主题</vt:lpstr>
      <vt:lpstr>32_Office 主题</vt:lpstr>
      <vt:lpstr>33_Office 主题</vt:lpstr>
      <vt:lpstr>2_Office 主题</vt:lpstr>
      <vt:lpstr>34_Office 主题</vt:lpstr>
      <vt:lpstr>3_Office 主题</vt:lpstr>
      <vt:lpstr>5_Office 主题</vt:lpstr>
      <vt:lpstr>默认设计模板</vt:lpstr>
      <vt:lpstr>6_Office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lenovo1</dc:creator>
  <cp:lastModifiedBy>Melissa</cp:lastModifiedBy>
  <cp:revision>394</cp:revision>
  <dcterms:created xsi:type="dcterms:W3CDTF">2018-03-01T02:03:00Z</dcterms:created>
  <dcterms:modified xsi:type="dcterms:W3CDTF">2026-06-10T07:32:46Z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KSORubyTemplateID">
    <vt:lpwstr>13</vt:lpwstr>
  </property>
  <property fmtid="{D5CDD505-2E9C-101B-9397-08002B2CF9AE}" pid="4" name="ICV">
    <vt:lpwstr>32D5A961952147F7BCD9B964C2195EF9_13</vt:lpwstr>
  </property>
</Properties>
</file>